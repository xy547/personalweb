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EEF3FD"/>
              </a:gs>
              <a:gs pos="42000">
                <a:srgbClr val="F7F9FD"/>
              </a:gs>
              <a:gs pos="80000">
                <a:srgbClr val="F4FAF9"/>
              </a:gs>
              <a:gs pos="100000">
                <a:srgbClr val="E7F6F3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173355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期末项目 · 代码拆解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1962150"/>
            <a:ext cx="11010900" cy="1238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</a:pPr>
            <a:r>
              <a:rPr sz="3900" b="1">
                <a:solidFill>
                  <a:srgbClr val="0F172A"/>
                </a:solidFill>
                <a:latin typeface="微软雅黑"/>
                <a:ea typeface="微软雅黑"/>
              </a:rPr>
              <a:t>十段代码，</a:t>
            </a:r>
          </a:p>
          <a:p>
            <a:pPr algn="l">
              <a:lnSpc>
                <a:spcPct val="116000"/>
              </a:lnSpc>
            </a:pPr>
            <a:r>
              <a:rPr sz="3900" b="1">
                <a:solidFill>
                  <a:srgbClr val="0F172A"/>
                </a:solidFill>
                <a:latin typeface="微软雅黑"/>
                <a:ea typeface="微软雅黑"/>
              </a:rPr>
              <a:t>十次「不把正确性交给模型」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3486150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0550" y="3733800"/>
            <a:ext cx="8572500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400"/>
              </a:lnSpc>
            </a:pPr>
            <a:r>
              <a:rPr sz="1500" b="0">
                <a:solidFill>
                  <a:srgbClr val="33415C"/>
                </a:solidFill>
                <a:latin typeface="微软雅黑"/>
                <a:ea typeface="微软雅黑"/>
              </a:rPr>
              <a:t>外刊精读教练（ReadCoach）· 每段都标了真实文件与行号，都回答三个问题：</a:t>
            </a:r>
          </a:p>
          <a:p>
            <a:pPr>
              <a:lnSpc>
                <a:spcPts val="24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为什么这么写</a:t>
            </a:r>
            <a:r>
              <a:rPr sz="1500" b="0">
                <a:solidFill>
                  <a:srgbClr val="33415C"/>
                </a:solidFill>
                <a:latin typeface="微软雅黑"/>
                <a:ea typeface="微软雅黑"/>
              </a:rPr>
              <a:t>、</a:t>
            </a:r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逻辑怎么走</a:t>
            </a:r>
            <a:r>
              <a:rPr sz="1500" b="0">
                <a:solidFill>
                  <a:srgbClr val="33415C"/>
                </a:solidFill>
                <a:latin typeface="微软雅黑"/>
                <a:ea typeface="微软雅黑"/>
              </a:rPr>
              <a:t>、</a:t>
            </a:r>
            <a:r>
              <a:rPr sz="1500" b="1">
                <a:solidFill>
                  <a:srgbClr val="0F172A"/>
                </a:solidFill>
                <a:latin typeface="微软雅黑"/>
                <a:ea typeface="微软雅黑"/>
              </a:rPr>
              <a:t>用到哪些知识</a:t>
            </a:r>
            <a:r>
              <a:rPr sz="1500" b="0">
                <a:solidFill>
                  <a:srgbClr val="33415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550" y="4686300"/>
            <a:ext cx="785336" cy="247650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1D4ED8"/>
                </a:solidFill>
                <a:latin typeface="微软雅黑"/>
                <a:ea typeface="微软雅黑"/>
              </a:rPr>
              <a:t>配置层 ×1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2086" y="4686300"/>
            <a:ext cx="785336" cy="247650"/>
          </a:xfrm>
          <a:prstGeom prst="roundRect">
            <a:avLst>
              <a:gd name="adj" fmla="val 50000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0B7A70"/>
                </a:solidFill>
                <a:latin typeface="微软雅黑"/>
                <a:ea typeface="微软雅黑"/>
              </a:rPr>
              <a:t>编排层 ×2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13622" y="4686300"/>
            <a:ext cx="785336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工具层 ×6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159" y="4686300"/>
            <a:ext cx="785336" cy="24765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15803D"/>
                </a:solidFill>
                <a:latin typeface="微软雅黑"/>
                <a:ea typeface="微软雅黑"/>
              </a:rPr>
              <a:t>界面层 ×1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516255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10" b="0">
                <a:solidFill>
                  <a:srgbClr val="5B6B84"/>
                </a:solidFill>
                <a:latin typeface="微软雅黑"/>
                <a:ea typeface="微软雅黑"/>
              </a:rPr>
              <a:t>下方箭头或滚轮翻页 · 按 F 全屏 · 共 13 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十段代码分布在四层，一条调用链串起来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28700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0550" y="1295400"/>
            <a:ext cx="895350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用户一句话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1343025"/>
            <a:ext cx="1714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9AA8B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9750" y="1295400"/>
            <a:ext cx="1008698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app.py 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648" y="1343025"/>
            <a:ext cx="1714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9AA8B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2298" y="1295400"/>
            <a:ext cx="1622108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build_system_prompt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0605" y="1343025"/>
            <a:ext cx="1714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9AA8B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8255" y="1295400"/>
            <a:ext cx="1302068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StateGraph 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6523" y="1343025"/>
            <a:ext cx="1714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9AA8B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4173" y="1295400"/>
            <a:ext cx="762000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七个工具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373" y="1343025"/>
            <a:ext cx="1714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</a:pPr>
            <a:r>
              <a:rPr sz="1200" b="1">
                <a:solidFill>
                  <a:srgbClr val="9AA8BF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00023" y="1295400"/>
            <a:ext cx="1155382" cy="323850"/>
          </a:xfrm>
          <a:prstGeom prst="roundRect">
            <a:avLst>
              <a:gd name="adj" fmla="val 2647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outputs/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0550" y="1809750"/>
            <a:ext cx="3568700" cy="3733800"/>
          </a:xfrm>
          <a:prstGeom prst="roundRect">
            <a:avLst>
              <a:gd name="adj" fmla="val 320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1525" y="1962150"/>
            <a:ext cx="514350" cy="209550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配置层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2257425"/>
            <a:ext cx="32067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写盘权限边界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255270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①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safe_output_path()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config.py:40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009900"/>
            <a:ext cx="320675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5B6B84"/>
                </a:solidFill>
                <a:latin typeface="微软雅黑"/>
                <a:ea typeface="微软雅黑"/>
              </a:rPr>
              <a:t>Agent 只能写 outputs/，越界直接报错。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1650" y="1809750"/>
            <a:ext cx="3568700" cy="3733800"/>
          </a:xfrm>
          <a:prstGeom prst="roundRect">
            <a:avLst>
              <a:gd name="adj" fmla="val 320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2625" y="1962150"/>
            <a:ext cx="514350" cy="209550"/>
          </a:xfrm>
          <a:prstGeom prst="roundRect">
            <a:avLst>
              <a:gd name="adj" fmla="val 22727"/>
            </a:avLst>
          </a:prstGeom>
          <a:solidFill>
            <a:srgbClr val="0F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编排层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2625" y="2257425"/>
            <a:ext cx="32067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循环与提示词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2625" y="255270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②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StateGraph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graph.py:43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625" y="295275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③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build_system_prompt()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prompts.py:126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2625" y="3409950"/>
            <a:ext cx="320675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5B6B84"/>
                </a:solidFill>
                <a:latin typeface="微软雅黑"/>
                <a:ea typeface="微软雅黑"/>
              </a:rPr>
              <a:t>agent ⇄ tools 循环；技能按需注入。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2750" y="1809750"/>
            <a:ext cx="3568700" cy="3733800"/>
          </a:xfrm>
          <a:prstGeom prst="roundRect">
            <a:avLst>
              <a:gd name="adj" fmla="val 320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13725" y="1962150"/>
            <a:ext cx="514350" cy="209550"/>
          </a:xfrm>
          <a:prstGeom prst="roundRect">
            <a:avLst>
              <a:gd name="adj" fmla="val 22727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工具层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3725" y="2257425"/>
            <a:ext cx="320675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接口、数据、校验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3725" y="255270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④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@tool + docstring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dictionary.py:22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3725" y="295275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⑤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load_lexicon()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lexicon.py:17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3725" y="335280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⑥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_verify()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wordlist.py:68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3725" y="375285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⑦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_drop_source_field()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wordlist.py:35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3725" y="415290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⑧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_word_pattern()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worksheet.py:22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3725" y="4552950"/>
            <a:ext cx="3206750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⑨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record_mistakes()</a:t>
            </a:r>
          </a:p>
          <a:p>
            <a:pPr>
              <a:lnSpc>
                <a:spcPts val="1631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memory.py:135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3725" y="5010150"/>
            <a:ext cx="320675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5B6B84"/>
                </a:solidFill>
                <a:latin typeface="微软雅黑"/>
                <a:ea typeface="微软雅黑"/>
              </a:rPr>
              <a:t>七个工具共用一份词库、一套校验。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0550" y="5753100"/>
            <a:ext cx="514350" cy="209550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界面层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3500" y="5734050"/>
            <a:ext cx="10267950" cy="266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75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⑩ </a:t>
            </a:r>
            <a:r>
              <a:rPr sz="1040" b="0">
                <a:solidFill>
                  <a:srgbClr val="1E3A8A"/>
                </a:solidFill>
                <a:latin typeface="Consolas"/>
                <a:ea typeface="微软雅黑"/>
              </a:rPr>
              <a:t>graph.stream()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 事件循环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　　app.py:105 —— 把每一步摊给用户看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01 · config.py:40–72 · 配置层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文件名是模型给的，所以它不能被信任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3755128"/>
          </a:xfrm>
          <a:prstGeom prst="roundRect">
            <a:avLst>
              <a:gd name="adj" fmla="val 27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34884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safe_output_path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(filename: str, default_ext: str 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".txt"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 -&gt; Path: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raw = (filename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).strip().replace(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"\\"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"/"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模型常写 outputs/xxx.csv，先剥掉前缀再校验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raw.lower().startswith(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"outputs/"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raw = raw[len(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"outputs/"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):]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"/"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raw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raw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"."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".."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raise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ValueError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f"拒绝写入 outputs 之外的路径：{filename}"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name 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.join(c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c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raw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c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not 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_ILLEGAL).strip()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os.path.splitext(name)[1]: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name += default_ext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target = (OUTPUT_DIR / name).resolve()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target.parent != OUTPUT_DIR.resolve():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raise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ValueError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f"拒绝写入 outputs 之外的路径：{filename}"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728756"/>
          </a:xfrm>
          <a:prstGeom prst="roundRect">
            <a:avLst>
              <a:gd name="adj" fmla="val 1176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为什么这么写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47158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这个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filename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是模型生成的，属于不可信输入。它可能给你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../.env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1881281"/>
            <a:ext cx="4448175" cy="923066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1967006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为什么是报错，不是改名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157506"/>
            <a:ext cx="4219575" cy="665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初版用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basename()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把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../evil.txt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静默截成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evil.txt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：文件安全了，但模型以为自己写对了，汇报路径就是错的。报错它才能改参数。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2890071"/>
            <a:ext cx="4448175" cy="923066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2975796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逻辑三步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166296"/>
            <a:ext cx="4219575" cy="665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剥前缀 → 拒绝任何目录层级 →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resolve()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后复核父目录（防符号链接和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..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绕过）。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3898862"/>
            <a:ext cx="4448175" cy="923066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3984587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175087"/>
            <a:ext cx="4219575" cy="665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pathlib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的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/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拼接、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resolve()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规范化路径、路径穿越、fail fast、不可信输入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：安全的做法不止一种，但「静默成功」对 Agent 最糟——它拿不到反馈，就会一直错下去。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02 · agent/graph.py:43–55 · 编排层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四行代码，就是一个 agent ⇄ tools 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3549926"/>
          </a:xfrm>
          <a:prstGeom prst="roundRect">
            <a:avLst>
              <a:gd name="adj" fmla="val 295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32832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class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AgentState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(TypedDict):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messages: Annotated[list, add_messages]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 =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StateGraph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(AgentState)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builder.add_node(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"agent"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agent_node)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builder.add_node(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ToolNode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(ALL_TOOLS))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builder.add_edge(START,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"agent"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builder.add_conditional_edges(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"agent"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tools_condition,             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有 tool_calls 吗？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{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END: END},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builder.add_edge(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"agent"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执行完回到 agent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builder.compile()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为什么不用 while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自己写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while True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要自己管退出条件，模型反复调工具会把进程跑死。框架自带递归上限和状态管理。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1975713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061438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251938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agent 产出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tool_calls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→ 条件边判断有没有工具要调 → 有就走 tools 执行 → 回到 agent 看结果 → 没有就 END。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2884626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2970351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add_messages</a:t>
            </a: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 是关键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160851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它是 reducer：新消息追加到历史，不是覆盖。没有它，每轮只剩最后一条消息，模型会「失忆」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3793539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3879264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069764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TypedDict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类型标注、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Annotated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+ reducer、有向图与条件边、ReAct 范式、编译期校验。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：这张图本身就长成汇报用的架构图——代码结构和讲解结构是同一个东西，不用另外画。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03 · agent/prompts.py:89–113 · 编排层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技能不该常驻，命中触发词才加载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4536849"/>
          </a:xfrm>
          <a:prstGeom prst="roundRect">
            <a:avLst>
              <a:gd name="adj" fmla="val 230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427014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SKILL_TRIGGERS = (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"精读"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"生词"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"词表"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"练习"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         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"外刊"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"文章"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"worksheet"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"读一下"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FCD34D"/>
                </a:solidFill>
                <a:latin typeface="Consolas"/>
                <a:ea typeface="微软雅黑"/>
              </a:rPr>
              <a:t>select_skill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(query: str) -&gt; str |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query: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lowered = query.lower()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any(k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lowered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k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SKILL_TRIGGERS):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              </a:t>
            </a:r>
            <a:r>
              <a:rPr sz="860" b="0">
                <a:solidFill>
                  <a:srgbClr val="8FA3C4"/>
                </a:solidFill>
                <a:latin typeface="Consolas"/>
                <a:ea typeface="微软雅黑"/>
              </a:rPr>
              <a:t># 没命中就完全不加载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skill_file = SKILL_DIR /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"intensive-reading"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/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"SKILL.md"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skill_file.exists():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_strip_frontmatter(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skill_file.read_text(encoding=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"utf-8"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).strip()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860" b="0">
                <a:solidFill>
                  <a:srgbClr val="FCD34D"/>
                </a:solidFill>
                <a:latin typeface="Consolas"/>
                <a:ea typeface="微软雅黑"/>
              </a:rPr>
              <a:t>build_system_prompt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(query: str =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) -&gt; str: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exam = load_profile().get(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"target_exam"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"CET-6"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prompt = SYSTEM_PROMPT.format(exam=exam, profile=_profile_block())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skill = select_skill(query)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skill: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    prompt += </a:t>
            </a:r>
            <a:r>
              <a:rPr sz="860" b="0">
                <a:solidFill>
                  <a:srgbClr val="A7F3D0"/>
                </a:solidFill>
                <a:latin typeface="Consolas"/>
                <a:ea typeface="微软雅黑"/>
              </a:rPr>
              <a:t>"\n\n---\n\n## 已加载技能：外刊精读\n\n"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+ skill</a:t>
            </a:r>
          </a:p>
          <a:p>
            <a:pPr>
              <a:lnSpc>
                <a:spcPts val="1419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86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860" b="0">
                <a:solidFill>
                  <a:srgbClr val="E2E8F5"/>
                </a:solidFill>
                <a:latin typeface="Consolas"/>
                <a:ea typeface="微软雅黑"/>
              </a:rPr>
              <a:t>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1069918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81274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常驻人设要短、稳定（约 1.9k 字符）；技能流程要长、可替换。混在一起会撑爆上下文，改流程还得动主提示词。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222443"/>
            <a:ext cx="4448175" cy="1069918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308168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498668"/>
            <a:ext cx="4219575" cy="81274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模板占位填档案 → 命中触发词才读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SKILL.md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→ 剥掉 frontmatter → 拼到末尾。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378087"/>
            <a:ext cx="4448175" cy="1069918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463812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实测数字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654312"/>
            <a:ext cx="4219575" cy="81274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相关请求注入 1717 字符；问「今天天气怎么样」完全不注入。</a:t>
            </a:r>
            <a:r>
              <a:rPr sz="1019" b="1">
                <a:solidFill>
                  <a:srgbClr val="2B3A52"/>
                </a:solidFill>
                <a:latin typeface="微软雅黑"/>
                <a:ea typeface="微软雅黑"/>
              </a:rPr>
              <a:t>没命中的部分一个字符都不占。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533730"/>
            <a:ext cx="4448175" cy="1069918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61945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809955"/>
            <a:ext cx="4219575" cy="81274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str.format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模板、按需加载、Markdown frontmatter 解析、上下文窗口有成本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：加一个技能 = 加一个目录，主提示词一行不改。这就是 Skill 和系统提示词的本质区别。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04 · tools/dictionary.py:22–30 · 工具层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docstring 不是注释，是写给模型的说明书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3549926"/>
          </a:xfrm>
          <a:prstGeom prst="roundRect">
            <a:avLst>
              <a:gd name="adj" fmla="val 295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328322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from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langchain_core.tools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import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tool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@tool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lookup_word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(word: str) -&gt; str: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"""在本地词库中查一个英文单词，返回音标、词性、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中文释义、例句和考纲等级。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参数 word 只传单个英文单词，不要带句子或标点。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如果返回 NOT_FOUND，说明该词不在本地词库中，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你必须明确告诉用户「这个词不在本地词库内，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释义来自模型推断，请自行核对」，不要假装查到了。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"""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key = (word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).strip().lower().strip(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".,!?;:\"'()[]"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key: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"ERROR: word 参数为空。"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装饰器做了什么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@tool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把普通函数包装成「模型可调用对象」：函数名变工具名，类型注解变参数 schema，docstring 变工具描述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1975713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061438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为什么 docstring 要写这么啰嗦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251938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模型就是靠这段文字决定「什么时候调、参数传什么、拿到 NOT_FOUND 该怎么说话」，所以接口文档即提示词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2884626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2970351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参数清洗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160851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strip(".,!?;:\"'()[]")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去掉模型顺手带上的标点——它常把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"emission,"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整段传进来。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3793539"/>
            <a:ext cx="4448175" cy="823188"/>
          </a:xfrm>
          <a:prstGeom prst="roundRect">
            <a:avLst>
              <a:gd name="adj" fmla="val 104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3879264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069764"/>
            <a:ext cx="4219575" cy="56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装饰器、类型注解 → JSON Schema、Function Calling 协议、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str.strip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的字符集参数。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：工具描述含糊，模型就乱传参数或干脆不调。写工具说明，本质上是在做提示词工程。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05 · tools/lexicon.py:13–24 · 工具层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两个工具读同一份词库，判断标准只能有一个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3259455"/>
          </a:xfrm>
          <a:prstGeom prst="roundRect">
            <a:avLst>
              <a:gd name="adj" fmla="val 321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299275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from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functools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import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lru_cache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LEXICON_PATH = (Path(__file__).resolve().parent.parent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/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"data"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/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"lexicon.json"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@lru_cache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(maxsize=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load_lexicon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() -&gt; dict: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with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open(LEXICON_PATH,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encoding=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"utf-8"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as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f: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json.load(f)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lookup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(word: str) -&gt; dict |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key = (word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).strip().lower().strip(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".,!?;:\"'()[]"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load_lexicon().get(key)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key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else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750570"/>
          </a:xfrm>
          <a:prstGeom prst="roundRect">
            <a:avLst>
              <a:gd name="adj" fmla="val 11421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为什么抽这一层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49339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查词工具和词表工具读同一份 JSON。如果各写一遍判断逻辑，就会出现</a:t>
            </a:r>
            <a:r>
              <a:rPr sz="1019" b="1">
                <a:solidFill>
                  <a:srgbClr val="2B3A52"/>
                </a:solidFill>
                <a:latin typeface="微软雅黑"/>
                <a:ea typeface="微软雅黑"/>
              </a:rPr>
              <a:t>「查词说没收录、词表却给了 CET-6」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——模型顺手就把幻觉补圆了。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1903095"/>
            <a:ext cx="4448175" cy="750570"/>
          </a:xfrm>
          <a:prstGeom prst="roundRect">
            <a:avLst>
              <a:gd name="adj" fmla="val 11421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1988820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逻辑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179320"/>
            <a:ext cx="4219575" cy="49339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路径常量 + 缓存单例；两个工具都调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lookup()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，「什么算已收录」只有一处定义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2739390"/>
            <a:ext cx="4448175" cy="750570"/>
          </a:xfrm>
          <a:prstGeom prst="roundRect">
            <a:avLst>
              <a:gd name="adj" fmla="val 11421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282511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lru_cache</a:t>
            </a: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 的作用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015615"/>
            <a:ext cx="4219575" cy="49339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JSON 只读一次，后续命中内存缓存。主路径要查 8 次词，省 7 次文件 IO。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3575685"/>
            <a:ext cx="4448175" cy="750570"/>
          </a:xfrm>
          <a:prstGeom prst="roundRect">
            <a:avLst>
              <a:gd name="adj" fmla="val 11421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3661410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3851910"/>
            <a:ext cx="4219575" cy="49339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模块化、单一数据源 SSOT、记忆化缓存、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__file__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定位相对路径（不依赖启动目录）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：数据一致性靠的不是约定，是</a:t>
            </a: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只留一个入口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。两处各写一遍，早晚不一致。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06 · tools/wordlist.py:68–83 · 工具层 · 全场最重要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模型编的考纲等级，用词库当场覆盖掉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3960330"/>
          </a:xfrm>
          <a:prstGeom prst="roundRect">
            <a:avLst>
              <a:gd name="adj" fmla="val 26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369363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_verify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(rows: list[dict]):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"""拿词库复核每个词条的等级，返回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    (行, 被纠正的词, 未收录的词)。"""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corrected, unverified = [], []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row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rows: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known = lookup(row[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known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is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查不到：不许猜，强制标未收录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= UNVERIFIED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"未收录"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"source"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"模型推断"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unverified.append(row[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else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查得到：用词库等级覆盖模型填的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and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!= known[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corrected.append(row[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= known[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"level"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row[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"source"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"本地词库"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rows, corrected, unverified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925789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起因是实测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66861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structural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enforceable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查词返回 NOT_FOUND，模型仍然给它们填了 CET-6 等级，写进 CSV。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078314"/>
            <a:ext cx="4448175" cy="925789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164039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为什么提示词拦不住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354539"/>
            <a:ext cx="4219575" cy="66861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我先在提示词里加了一句「不许编造等级」，重跑之后它还是编，所以只能把校验写进代码。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089827"/>
            <a:ext cx="4448175" cy="925789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175552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两个返回值都有用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366052"/>
            <a:ext cx="4219575" cy="66861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corrected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/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unverified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会回传给模型，它据此说出「含 2 个未收录词，建议核对权威词典」。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101341"/>
            <a:ext cx="4448175" cy="925789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187066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377566"/>
            <a:ext cx="4219575" cy="66861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防御性编程、事实与生成分离、数据溯源（来源字段 → Word 标签）、返回值即约束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结论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</a:t>
            </a: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模型的自我约束不是约束。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校验放在代码里，不靠它自觉——这就是「工具」存在的意义。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07 · tools/wordlist.py:25–63 · 工具层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对格式错的输入太宽容，等于默许错误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4575935"/>
          </a:xfrm>
          <a:prstGeom prst="roundRect">
            <a:avLst>
              <a:gd name="adj" fmla="val 22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43092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_SEP = re.compile(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r"\s*[|｜\t]\s*"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模型会把「来源」也塞进 entries，变成六列，位置全错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_SOURCE_HINT = re.compile(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r"(\.json$|\.db$|\.csv$|^本地词库$|^模型推断$|^未收录$)"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re.I)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_drop_source_field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(parts: list[str]) -&gt; list[str]: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len(parts) &lt;=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5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parts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i, p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enumerate(parts):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_SOURCE_HINT.search(p.strip()):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parts[:i] + parts[i +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parts[: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5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_parse_entries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(entries: str) -&gt; list[dict]: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...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parts = [p.strip()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_SEP.split(line)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p.strip()]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parts = _drop_source_field(parts)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先对齐列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len(parts) &lt;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2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continue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...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"example"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parts[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4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len(parts) &gt;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4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else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1128267"/>
          </a:xfrm>
          <a:prstGeom prst="roundRect">
            <a:avLst>
              <a:gd name="adj" fmla="val 759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这个 bug 是我自己引入的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8710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我给工具返回值带过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source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（来源）字段之后，模型下次就把 source 也塞进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entries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：六列，例句被挤到第六位。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280792"/>
            <a:ext cx="4448175" cy="1128267"/>
          </a:xfrm>
          <a:prstGeom prst="roundRect">
            <a:avLst>
              <a:gd name="adj" fmla="val 759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366517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后果很隐蔽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557017"/>
            <a:ext cx="4219575" cy="8710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被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parts[:5]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静默丢弃后，CSV 的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example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列全变成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data/lexicon.json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。</a:t>
            </a:r>
            <a:r>
              <a:rPr sz="1019" b="1">
                <a:solidFill>
                  <a:srgbClr val="2B3A52"/>
                </a:solidFill>
                <a:latin typeface="微软雅黑"/>
                <a:ea typeface="微软雅黑"/>
              </a:rPr>
              <a:t>不报错，但数据全错。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494785"/>
            <a:ext cx="4448175" cy="1128267"/>
          </a:xfrm>
          <a:prstGeom prst="roundRect">
            <a:avLst>
              <a:gd name="adj" fmla="val 759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580510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踩坑记录：</a:t>
            </a: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match</a:t>
            </a: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 vs </a:t>
            </a: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771010"/>
            <a:ext cx="4219575" cy="87109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初版用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re.match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匹配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\.json$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，永远失败——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match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只从开头比，必须改用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search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，已加回归测试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708777"/>
            <a:ext cx="4448175" cy="933957"/>
          </a:xfrm>
          <a:prstGeom prst="roundRect">
            <a:avLst>
              <a:gd name="adj" fmla="val 9178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794502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985002"/>
            <a:ext cx="4219575" cy="67678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正则锚点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$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与分组、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re.escape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、字段位置协议、静默截断的危害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：工具的返回值会改变模型的下一次输入——加一列 </a:t>
            </a:r>
            <a:r>
              <a:rPr sz="980" b="0">
                <a:solidFill>
                  <a:srgbClr val="1E3A8A"/>
                </a:solidFill>
                <a:latin typeface="Consolas"/>
                <a:ea typeface="微软雅黑"/>
              </a:rPr>
              <a:t>columns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，就可能多出六列 entries。这是闭环里必须防的地方。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08 · tools/worksheet.py:22–44 · 工具层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原文里的 mitigating，也要能被挖空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4637821"/>
          </a:xfrm>
          <a:prstGeom prst="roundRect">
            <a:avLst>
              <a:gd name="adj" fmla="val 225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437112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_word_pattern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(word: str) -&gt; re.Pattern: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w = word.strip().lower()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forms = {w, w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"s"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"es"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"ed"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"d"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"ing"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w.endswith(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"e"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# mitigate -&gt; mitigating / mitigated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forms |= {w[:-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]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"ing"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w[:-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]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"ed"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len(w) &gt; 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2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and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w.endswith(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"y"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# quantify -&gt; quantifies / quantified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forms |= {w[:-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]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"ies"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w[:-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] +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"ied"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alts = 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"|"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.join(sorted(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{re.escape(f)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f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forms},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key=len, reverse=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True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))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re.compile(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rf"\b(?:{alts})\b"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re.IGNORECASE)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def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_mask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(text: str, words: list[str]) -&gt; tuple[str, int]: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hits = </a:t>
            </a:r>
            <a:r>
              <a:rPr sz="910" b="0">
                <a:solidFill>
                  <a:srgbClr val="FCD34D"/>
                </a:solidFill>
                <a:latin typeface="Consolas"/>
                <a:ea typeface="微软雅黑"/>
              </a:rPr>
              <a:t>0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w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sorted({x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x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words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x},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              key=len, reverse=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True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):   </a:t>
            </a:r>
            <a:r>
              <a:rPr sz="910" b="0">
                <a:solidFill>
                  <a:srgbClr val="8FA3C4"/>
                </a:solidFill>
                <a:latin typeface="Consolas"/>
                <a:ea typeface="微软雅黑"/>
              </a:rPr>
              <a:t># 长词先替换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text, n = _word_pattern(w).subn(</a:t>
            </a:r>
            <a:r>
              <a:rPr sz="910" b="0">
                <a:solidFill>
                  <a:srgbClr val="A7F3D0"/>
                </a:solidFill>
                <a:latin typeface="Consolas"/>
                <a:ea typeface="微软雅黑"/>
              </a:rPr>
              <a:t>"______"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, text)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    hits += n</a:t>
            </a:r>
          </a:p>
          <a:p>
            <a:pPr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1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10" b="0">
                <a:solidFill>
                  <a:srgbClr val="E2E8F5"/>
                </a:solidFill>
                <a:latin typeface="Consolas"/>
                <a:ea typeface="微软雅黑"/>
              </a:rPr>
              <a:t> text, hits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1095161"/>
          </a:xfrm>
          <a:prstGeom prst="roundRect">
            <a:avLst>
              <a:gd name="adj" fmla="val 782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为什么不能只加后缀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837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mitigate + ing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是错的，要去 e；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quantify + ed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也错，要变 ied。漏掉这两条，原文里的变形就挖不到。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247686"/>
            <a:ext cx="4448175" cy="1095161"/>
          </a:xfrm>
          <a:prstGeom prst="roundRect">
            <a:avLst>
              <a:gd name="adj" fmla="val 782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333411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为什么按词长降序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523911"/>
            <a:ext cx="4219575" cy="837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短词先换会吃掉长词：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emit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会把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emission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的前缀换掉，剩下残句，所以长词优先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428573"/>
            <a:ext cx="4448175" cy="1095161"/>
          </a:xfrm>
          <a:prstGeom prst="roundRect">
            <a:avLst>
              <a:gd name="adj" fmla="val 782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514298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\b</a:t>
            </a: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 和 </a:t>
            </a: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subn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704798"/>
            <a:ext cx="4219575" cy="837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\b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卡词边界，避免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emit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命中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emitter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中间；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subn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顺手返回替换次数——就是「挖了几处」。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609459"/>
            <a:ext cx="4448175" cy="1095161"/>
          </a:xfrm>
          <a:prstGeom prst="roundRect">
            <a:avLst>
              <a:gd name="adj" fmla="val 7827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695184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885684"/>
            <a:ext cx="4219575" cy="837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正则 alternation、词边界、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re.escape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、集合去重与排序、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subn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的双返回值。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：8 个词挖出 8 处，但有时 8 个词挖出 11 处——一个词可能在文中出现多次，那个数字就是 </a:t>
            </a:r>
            <a:r>
              <a:rPr sz="980" b="0">
                <a:solidFill>
                  <a:srgbClr val="1E3A8A"/>
                </a:solidFill>
                <a:latin typeface="Consolas"/>
                <a:ea typeface="微软雅黑"/>
              </a:rPr>
              <a:t>hits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 累加出来的。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09 · tools/memory.py:135–225 · 工具层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记忆要落成文件，复习日期要由代码算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4575935"/>
          </a:xfrm>
          <a:prstGeom prst="roundRect">
            <a:avLst>
              <a:gd name="adj" fmla="val 22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43092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fail_words: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_mark_fail(book[w])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间隔归 1 天、系数 −0.2、明天重来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w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pass_words: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_mark_pass(book[w])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系数 +0.05、1 天 → 3 天 → 上次 × 系数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schedule = {m[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]: {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"due"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"due"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"interval_days"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"interval"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"ease"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"ease"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"reps"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"reps"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}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profile[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"mistakes"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fail_words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       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pass_words}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return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json.dumps({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"schedule"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schedule,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日期由代码算，模型只能抄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"due_today"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due_today,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今天该复习哪几个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提示词里的档案是「本轮开始前」的快照，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模型拿旧快照报次数会慢一格（实测报 4、实际 5）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"counts"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{m[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"word"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]: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(m.get(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"count"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profile[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"mistakes"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]},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"integration"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"仅写入本地 JSON 档案；没有接入任何 App…"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"reply_rule"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"只能引用 due，不许自己说「七天后」…"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}, ensure_ascii=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False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982535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什么是长期记忆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725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不是「模型记住聊天」，而是落成一份可读、可改、可版本管理的 JSON。下次会话拼进提示词，它就知道你上次栽在哪。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135060"/>
            <a:ext cx="4448175" cy="1176845"/>
          </a:xfrm>
          <a:prstGeom prst="roundRect">
            <a:avLst>
              <a:gd name="adj" fmla="val 728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22078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为什么要排「下次哪天复习」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411285"/>
            <a:ext cx="4219575" cy="9196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只记「错了 3 次」没用。同类软件真正的护城河是「这个词该在哪天重新出现」。所以每个词多四个字段：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interval / ease / reps / due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，递推在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_mark_pass()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397630"/>
            <a:ext cx="4448175" cy="1176845"/>
          </a:xfrm>
          <a:prstGeom prst="roundRect">
            <a:avLst>
              <a:gd name="adj" fmla="val 728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48335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为什么日期和次数都要回传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673855"/>
            <a:ext cx="4219575" cy="9196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提示词里的档案是本轮开始前的快照，模型拿它推算会慢一格；日期更是它最爱的自由发挥区，实测会顺口说「七天后」。</a:t>
            </a:r>
            <a:r>
              <a:rPr sz="1019" b="1">
                <a:solidFill>
                  <a:srgbClr val="2B3A52"/>
                </a:solidFill>
                <a:latin typeface="微软雅黑"/>
                <a:ea typeface="微软雅黑"/>
              </a:rPr>
              <a:t>把算好的真值交给它，它只剩抄这一件事可做。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660200"/>
            <a:ext cx="4448175" cy="982535"/>
          </a:xfrm>
          <a:prstGeom prst="roundRect">
            <a:avLst>
              <a:gd name="adj" fmla="val 8724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7459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936425"/>
            <a:ext cx="4219575" cy="725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JSON 持久化、日期运算（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timedelta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）、间隔重复（SM-2 的简化版）、幂等与计数、排序键（负数实现倒序）、快照与实时值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：返回值不只是数据——它既</a:t>
            </a: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约束模型怎么说话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，也把「什么时候该复习」从模型的推测变成代码算出来的事实。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代码 10 · app.py:105–133 · 界面层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用生成器，让工具调用一步一步长出来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66800"/>
            <a:ext cx="6410325" cy="4575935"/>
          </a:xfrm>
          <a:prstGeom prst="roundRect">
            <a:avLst>
              <a:gd name="adj" fmla="val 22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1200150"/>
            <a:ext cx="6143625" cy="430923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update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graph.stream(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{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"messages"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lc_messages},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config={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"recursion_limit"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 RECURSION_LIMIT},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stream_mode=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"updates"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         </a:t>
            </a:r>
            <a:r>
              <a:rPr sz="940" b="0">
                <a:solidFill>
                  <a:srgbClr val="8FA3C4"/>
                </a:solidFill>
                <a:latin typeface="Consolas"/>
                <a:ea typeface="微软雅黑"/>
              </a:rPr>
              <a:t># 每次只吐增量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node, payload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update.items():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msgs = (payload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{}).get(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"messages"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[]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node ==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"agent"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and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msgs: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msg = msgs[-</a:t>
            </a:r>
            <a:r>
              <a:rPr sz="940" b="0">
                <a:solidFill>
                  <a:srgbClr val="FCD34D"/>
                </a:solidFill>
                <a:latin typeface="Consolas"/>
                <a:ea typeface="微软雅黑"/>
              </a:rPr>
              <a:t>1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calls = getattr(msg,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"tool_calls"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None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[]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call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calls: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args = json.dumps(call.get(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"args"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{}),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                  ensure_ascii=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False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yield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"call"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call.get(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"name"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), args)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not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calls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and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msg.content: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final_text = msg.content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elif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node ==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"tools"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for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in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msgs: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              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yield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"result"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m.name, clip(m.content))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yield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(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"final"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, final_text </a:t>
            </a:r>
            <a:r>
              <a:rPr sz="940" b="0">
                <a:solidFill>
                  <a:srgbClr val="7DD3FC"/>
                </a:solidFill>
                <a:latin typeface="Consolas"/>
                <a:ea typeface="微软雅黑"/>
              </a:rPr>
              <a:t>or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 </a:t>
            </a:r>
            <a:r>
              <a:rPr sz="940" b="0">
                <a:solidFill>
                  <a:srgbClr val="A7F3D0"/>
                </a:solidFill>
                <a:latin typeface="Consolas"/>
                <a:ea typeface="微软雅黑"/>
              </a:rPr>
              <a:t>"（这一轮没有返回文字…）"</a:t>
            </a:r>
            <a:r>
              <a:rPr sz="940" b="0">
                <a:solidFill>
                  <a:srgbClr val="E2E8F5"/>
                </a:solidFill>
                <a:latin typeface="Consolas"/>
                <a:ea typeface="微软雅黑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3275" y="1066800"/>
            <a:ext cx="4448175" cy="1031112"/>
          </a:xfrm>
          <a:prstGeom prst="roundRect">
            <a:avLst>
              <a:gd name="adj" fmla="val 83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7575" y="1152525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为什么要这样写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7575" y="1343025"/>
            <a:ext cx="4219575" cy="77393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商业 App 是黑盒推荐。这里要把每一步摊开，让「工具真的被调用」看得见，而不是模型凭空说话。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3275" y="2183637"/>
            <a:ext cx="4448175" cy="1031112"/>
          </a:xfrm>
          <a:prstGeom prst="roundRect">
            <a:avLst>
              <a:gd name="adj" fmla="val 83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7575" y="2269362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0B7A70"/>
                </a:solidFill>
                <a:latin typeface="微软雅黑"/>
                <a:ea typeface="微软雅黑"/>
              </a:rPr>
              <a:t>生成器的好处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7575" y="2459862"/>
            <a:ext cx="4219575" cy="77393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函数一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yield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，调用方就能立刻渲染，不用等全部跑完。12 次工具调用 = 12 次界面刷新。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3275" y="3300475"/>
            <a:ext cx="4448175" cy="1225422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7575" y="3386200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790" b="1">
                <a:solidFill>
                  <a:srgbClr val="1E3A8A"/>
                </a:solidFill>
                <a:latin typeface="Consolas"/>
                <a:ea typeface="微软雅黑"/>
              </a:rPr>
              <a:t>recursion_limit</a:t>
            </a:r>
            <a:r>
              <a:rPr sz="860" b="1">
                <a:solidFill>
                  <a:srgbClr val="D97706"/>
                </a:solidFill>
                <a:latin typeface="微软雅黑"/>
                <a:ea typeface="微软雅黑"/>
              </a:rPr>
              <a:t> 的坑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7575" y="3576700"/>
            <a:ext cx="4219575" cy="96824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一次工具调用占 2 步（agent 一步、tools 一步）。主路径 12 次调用 = 24 步以上（实测 16～25 步），原来设 15，跑到第 7 次就抛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GraphRecursionError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3275" y="4611622"/>
            <a:ext cx="4448175" cy="1031112"/>
          </a:xfrm>
          <a:prstGeom prst="roundRect">
            <a:avLst>
              <a:gd name="adj" fmla="val 8313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7575" y="4697347"/>
            <a:ext cx="4219575" cy="1619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121"/>
              </a:lnSpc>
            </a:pPr>
            <a:r>
              <a:rPr sz="860" b="1">
                <a:solidFill>
                  <a:srgbClr val="2563EB"/>
                </a:solidFill>
                <a:latin typeface="微软雅黑"/>
                <a:ea typeface="微软雅黑"/>
              </a:rPr>
              <a:t>用到的知识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4887847"/>
            <a:ext cx="4219575" cy="77393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30"/>
              </a:lnSpc>
            </a:pP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生成器与 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yield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、迭代协议、</a:t>
            </a:r>
            <a:r>
              <a:rPr sz="940" b="0">
                <a:solidFill>
                  <a:srgbClr val="1E3A8A"/>
                </a:solidFill>
                <a:latin typeface="Consolas"/>
                <a:ea typeface="微软雅黑"/>
              </a:rPr>
              <a:t>stream_mode</a:t>
            </a:r>
            <a:r>
              <a:rPr sz="1019" b="0">
                <a:solidFill>
                  <a:srgbClr val="2B3A52"/>
                </a:solidFill>
                <a:latin typeface="微软雅黑"/>
                <a:ea typeface="微软雅黑"/>
              </a:rPr>
              <a:t> 增量 vs 全量、事件驱动 UI。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550" y="5857875"/>
            <a:ext cx="11010900" cy="447675"/>
          </a:xfrm>
          <a:prstGeom prst="roundRect">
            <a:avLst>
              <a:gd name="adj" fmla="val 1914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" y="5943600"/>
            <a:ext cx="10744200" cy="2762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7"/>
              </a:lnSpc>
            </a:pP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一句话</a:t>
            </a:r>
            <a:r>
              <a:rPr sz="1060" b="0">
                <a:solidFill>
                  <a:srgbClr val="25324A"/>
                </a:solidFill>
                <a:latin typeface="微软雅黑"/>
                <a:ea typeface="微软雅黑"/>
              </a:rPr>
              <a:t>：这个 bug 只在界面上出现，命令行测不出来——因为命令行测试用的是 limit=60。</a:t>
            </a:r>
            <a:r>
              <a:rPr sz="1060" b="1">
                <a:solidFill>
                  <a:srgbClr val="1D4ED8"/>
                </a:solidFill>
                <a:latin typeface="微软雅黑"/>
                <a:ea typeface="微软雅黑"/>
              </a:rPr>
              <a:t>换了入口就要重测。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0550" y="342900"/>
            <a:ext cx="11010900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</a:pPr>
            <a:r>
              <a:rPr sz="980" b="1">
                <a:solidFill>
                  <a:srgbClr val="2563EB"/>
                </a:solidFill>
                <a:latin typeface="微软雅黑"/>
                <a:ea typeface="微软雅黑"/>
              </a:rPr>
              <a:t>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550" y="552450"/>
            <a:ext cx="110109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2020" b="1">
                <a:solidFill>
                  <a:srgbClr val="0F172A"/>
                </a:solidFill>
                <a:latin typeface="微软雅黑"/>
                <a:ea typeface="微软雅黑"/>
              </a:rPr>
              <a:t>十段代码，共用一条判断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550" y="1028700"/>
            <a:ext cx="5524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0550" y="1333500"/>
            <a:ext cx="54292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F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25" y="1485900"/>
            <a:ext cx="50673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按知识类型归类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847850"/>
            <a:ext cx="8001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语言基础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1828800"/>
            <a:ext cx="42672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装饰器、生成器、类型注解、functools、pathlib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850" y="2266950"/>
            <a:ext cx="5200650" cy="9525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525" y="2381250"/>
            <a:ext cx="8001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数据处理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2362200"/>
            <a:ext cx="42672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JSON 持久化、CSV 编码（utf-8-sig）、正则与词边界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850" y="2800350"/>
            <a:ext cx="5200650" cy="9525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1525" y="2914650"/>
            <a:ext cx="8001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工程习惯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1625" y="2895600"/>
            <a:ext cx="42672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不可信输入、权限最小化、fail fast、单一数据源、缓存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" y="3333750"/>
            <a:ext cx="5200650" cy="9525"/>
          </a:xfrm>
          <a:prstGeom prst="rect">
            <a:avLst/>
          </a:prstGeom>
          <a:solidFill>
            <a:srgbClr val="DF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525" y="3448050"/>
            <a:ext cx="8001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0F172A"/>
                </a:solidFill>
                <a:latin typeface="微软雅黑"/>
                <a:ea typeface="微软雅黑"/>
              </a:rPr>
              <a:t>Agent 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1625" y="3429000"/>
            <a:ext cx="4267200" cy="381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</a:pP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状态图、Function Calling、上下文分层、按需加载、记忆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333500"/>
            <a:ext cx="5429250" cy="2857500"/>
          </a:xfrm>
          <a:prstGeom prst="roundRect">
            <a:avLst>
              <a:gd name="adj" fmla="val 4000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3175" y="1485900"/>
            <a:ext cx="50673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</a:rPr>
              <a:t>如果重做，我会改三处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600" y="1828800"/>
            <a:ext cx="5181600" cy="647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04"/>
              </a:lnSpc>
            </a:pPr>
            <a:r>
              <a:rPr sz="1040" b="1">
                <a:solidFill>
                  <a:srgbClr val="0F172A"/>
                </a:solidFill>
                <a:latin typeface="微软雅黑"/>
                <a:ea typeface="微软雅黑"/>
              </a:rPr>
              <a:t>① 词库换真实词典 API</a:t>
            </a:r>
            <a:r>
              <a:rPr sz="1040" b="0">
                <a:solidFill>
                  <a:srgbClr val="25324A"/>
                </a:solidFill>
                <a:latin typeface="微软雅黑"/>
                <a:ea typeface="微软雅黑"/>
              </a:rPr>
              <a:t>　6161 条考试词表够撑住大部分，但派生词（retrieval / coherence）仍查不到，只能退回「模型推断 + 标注」。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600" y="2552700"/>
            <a:ext cx="5181600" cy="647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04"/>
              </a:lnSpc>
            </a:pPr>
            <a:r>
              <a:rPr sz="1040" b="1">
                <a:solidFill>
                  <a:srgbClr val="0F172A"/>
                </a:solidFill>
                <a:latin typeface="微软雅黑"/>
                <a:ea typeface="微软雅黑"/>
              </a:rPr>
              <a:t>② 工具参数用 JSON 而非竖线</a:t>
            </a:r>
            <a:r>
              <a:rPr sz="1040" b="0">
                <a:solidFill>
                  <a:srgbClr val="25324A"/>
                </a:solidFill>
                <a:latin typeface="微软雅黑"/>
                <a:ea typeface="微软雅黑"/>
              </a:rPr>
              <a:t>　竖线省了模型输出，却引出了「六列挤位」那个 bug。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600" y="3276600"/>
            <a:ext cx="5181600" cy="6477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04"/>
              </a:lnSpc>
            </a:pPr>
            <a:r>
              <a:rPr sz="1040" b="1">
                <a:solidFill>
                  <a:srgbClr val="0F172A"/>
                </a:solidFill>
                <a:latin typeface="微软雅黑"/>
                <a:ea typeface="微软雅黑"/>
              </a:rPr>
              <a:t>③ 把七个工具挂成 MCP server</a:t>
            </a:r>
            <a:r>
              <a:rPr sz="1040" b="0">
                <a:solidFill>
                  <a:srgbClr val="25324A"/>
                </a:solidFill>
                <a:latin typeface="微软雅黑"/>
                <a:ea typeface="微软雅黑"/>
              </a:rPr>
              <a:t>　参数表和返回格式都不用改，只是换个暴露方式。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0550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1D4ED8"/>
                </a:solidFill>
                <a:latin typeface="微软雅黑"/>
                <a:ea typeface="微软雅黑"/>
              </a:rPr>
              <a:t>① 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41108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1D4ED8"/>
                </a:solidFill>
                <a:latin typeface="微软雅黑"/>
                <a:ea typeface="微软雅黑"/>
              </a:rPr>
              <a:t>② 循环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91665" y="4438650"/>
            <a:ext cx="717232" cy="247650"/>
          </a:xfrm>
          <a:prstGeom prst="roundRect">
            <a:avLst>
              <a:gd name="adj" fmla="val 50000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0B7A70"/>
                </a:solidFill>
                <a:latin typeface="微软雅黑"/>
                <a:ea typeface="微软雅黑"/>
              </a:rPr>
              <a:t>③ 上下文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66048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E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0B7A70"/>
                </a:solidFill>
                <a:latin typeface="微软雅黑"/>
                <a:ea typeface="微软雅黑"/>
              </a:rPr>
              <a:t>④ 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6605" y="4438650"/>
            <a:ext cx="717232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⑤ 一致性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90988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⑥ 校验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41545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⑦ 容错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2102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⑧ 算法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42660" y="4438650"/>
            <a:ext cx="593408" cy="247650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B45309"/>
                </a:solidFill>
                <a:latin typeface="微软雅黑"/>
                <a:ea typeface="微软雅黑"/>
              </a:rPr>
              <a:t>⑨ 记忆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93217" y="4438650"/>
            <a:ext cx="717232" cy="247650"/>
          </a:xfrm>
          <a:prstGeom prst="roundRect">
            <a:avLst>
              <a:gd name="adj" fmla="val 5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80" b="1">
                <a:solidFill>
                  <a:srgbClr val="15803D"/>
                </a:solidFill>
                <a:latin typeface="微软雅黑"/>
                <a:ea typeface="微软雅黑"/>
              </a:rPr>
              <a:t>⑩ 可见性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0550" y="4838700"/>
            <a:ext cx="11010900" cy="742950"/>
          </a:xfrm>
          <a:prstGeom prst="roundRect">
            <a:avLst>
              <a:gd name="adj" fmla="val 11538"/>
            </a:avLst>
          </a:prstGeom>
          <a:solidFill>
            <a:srgbClr val="E8EFFD"/>
          </a:solidFill>
          <a:ln w="15240">
            <a:solidFill>
              <a:srgbClr val="C9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900" y="4924425"/>
            <a:ext cx="10744200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87"/>
              </a:lnSpc>
            </a:pPr>
            <a:r>
              <a:rPr sz="1120" b="1">
                <a:solidFill>
                  <a:srgbClr val="1D4ED8"/>
                </a:solidFill>
                <a:latin typeface="微软雅黑"/>
                <a:ea typeface="微软雅黑"/>
              </a:rPr>
              <a:t>收尾那句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：这十段里没有一段是「让模型更聪明」。它们都在做同一件事—— </a:t>
            </a:r>
            <a:r>
              <a:rPr sz="1120" b="1">
                <a:solidFill>
                  <a:srgbClr val="1D4ED8"/>
                </a:solidFill>
                <a:latin typeface="微软雅黑"/>
                <a:ea typeface="微软雅黑"/>
              </a:rPr>
              <a:t>把不该由模型决定的事，从模型手里拿走</a:t>
            </a:r>
            <a:r>
              <a:rPr sz="1120" b="0">
                <a:solidFill>
                  <a:srgbClr val="25324A"/>
                </a:solidFill>
                <a:latin typeface="微软雅黑"/>
                <a:ea typeface="微软雅黑"/>
              </a:rPr>
              <a:t>：路径、等级、列名、次数、循环边界。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0" y="6553200"/>
            <a:ext cx="2076450" cy="1714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5000"/>
              </a:lnSpc>
            </a:pPr>
            <a:r>
              <a:rPr sz="940" b="0">
                <a:solidFill>
                  <a:srgbClr val="9AA8BF"/>
                </a:solidFill>
                <a:latin typeface="微软雅黑"/>
                <a:ea typeface="微软雅黑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