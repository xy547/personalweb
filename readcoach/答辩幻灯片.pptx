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老师好，我是徐悦，学号 ×××。我做的是外刊精读教练，走路径 A。</a:t>
            </a:r>
          </a:p>
          <a:p>
            <a:r>
              <a:t>一句话说：把一篇英文原文丢进去，它自己查词、按考纲分级，最后给我一份词表和一张能打印的练习页。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先说为什么做。我自己在备考六级，精读一篇外刊要做四件事：</a:t>
            </a:r>
          </a:p>
          <a:p>
            <a:r>
              <a:t>圈出生词、一个个查音标释义、按考纲筛出该背的、再把原文挖空做成练习页。</a:t>
            </a:r>
          </a:p>
          <a:p>
            <a:r>
              <a:t>四件事在四个软件里，一次四十分钟。</a:t>
            </a:r>
          </a:p>
          <a:p>
            <a:r>
              <a:t>真正累的不是查词，是来回切换。</a:t>
            </a:r>
          </a:p>
          <a:p>
            <a:r>
              <a:t>所以我要的不是一个聊天框，是能把这条链一次跑完、还留下文件的东西。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结构四层，从上往下。</a:t>
            </a:r>
          </a:p>
          <a:p>
            <a:r>
              <a:t>最上面是界面，用户只说一句中文。</a:t>
            </a:r>
          </a:p>
          <a:p>
            <a:r>
              <a:t>中间是 LangGraph，一张流程图：它想一下、决定叫哪个工具；工具去做，把结果交回来；来回走，直到它觉得可以回答了。</a:t>
            </a:r>
          </a:p>
          <a:p>
            <a:r>
              <a:t>下面挂三样东西：七个我自己写的工具、一个 Skill、一份本地档案。</a:t>
            </a:r>
          </a:p>
          <a:p>
            <a:r>
              <a:t>模型是百炼的 qwen-plus，走 OpenAI 兼容接口，所以换模型只改环境变量两行。</a:t>
            </a:r>
          </a:p>
          <a:p>
            <a:r>
              <a:t>最左边这条虚线是门禁：读只能读 demo 目录，写只能写 outputs 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这是一句话的真实轨迹，不是我写死的流程。</a:t>
            </a:r>
          </a:p>
          <a:p>
            <a:r>
              <a:t>它先读原文——第一次文件名猜错了，工具回它"不存在，可用的是这个"，它自己改参数重来。</a:t>
            </a:r>
          </a:p>
          <a:p>
            <a:r>
              <a:t>然后查了八次词，一次一个。再写词表——CSV 和排好版的 Word 笔记是一步落盘的——再生成练习页。</a:t>
            </a:r>
          </a:p>
          <a:p>
            <a:r>
              <a:t>一共十二次工具调用、二十多步、四十到五十秒。</a:t>
            </a:r>
          </a:p>
          <a:p>
            <a:r>
              <a:t>最后它主动说：有几个词词库里没有，建议核对权威词典。这句话也不是我教的，是工具返回里带出来的。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 和提示词不是一回事。</a:t>
            </a:r>
          </a:p>
          <a:p>
            <a:r>
              <a:t>提示词是常驻的，每轮都在，像员工的岗位说明。</a:t>
            </a:r>
          </a:p>
          <a:p>
            <a:r>
              <a:t>Skill 是一本按需翻开的作业手册：说到"精读"，它才把六步流程和网页模板拼进上下文。</a:t>
            </a:r>
          </a:p>
          <a:p>
            <a:r>
              <a:t>我量过：问精读，注入一千七百多字符；问今天天气，零字符。</a:t>
            </a:r>
          </a:p>
          <a:p>
            <a:r>
              <a:t>所以要加新场景，只要加一个目录，Python 一行不用改。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这一页是我两周里最大的收获。</a:t>
            </a:r>
          </a:p>
          <a:p>
            <a:r>
              <a:t>第一次跑，"structural"和"enforceable"这两个词，查词工具明明回的是"没收录"。</a:t>
            </a:r>
          </a:p>
          <a:p>
            <a:r>
              <a:t>但模型写词表的时候，照样给它们填了"六级"，读起来毫无破绽。</a:t>
            </a:r>
          </a:p>
          <a:p>
            <a:r>
              <a:t>我先在提示词里加了一句"不许编造等级"，重跑一遍——它还是编。</a:t>
            </a:r>
          </a:p>
          <a:p>
            <a:r>
              <a:t>所以我把校验搬进代码：写文件之前拿本地词库复核。词库有，就以词库为准；没有，就写"未收录、模型推断"，再加一列"来源"。</a:t>
            </a:r>
          </a:p>
          <a:p>
            <a:r>
              <a:t>结论一句：模型的自我约束不算约束。 工具的价值不是替模型干活，是把不确定的东西变成能核对的。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模型给的路径，也要当成不可信输入。</a:t>
            </a:r>
          </a:p>
          <a:p>
            <a:r>
              <a:t>初版我把 ../evil.txt 截成 evil.txt，文件确实落在 outputs 里，安全了。但模型以为写到了别处，汇报给我的路径就是错的。</a:t>
            </a:r>
          </a:p>
          <a:p>
            <a:r>
              <a:t>现在改成直接报错：错了就告诉它为什么错，它能自己改参数再来一次。</a:t>
            </a:r>
          </a:p>
          <a:p>
            <a:r>
              <a:t>读的那一侧对称：读文章只认 demo 目录，不然顺着两个点，就能把 .env 读出来贴进对话。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课堂对应：界面来自 demo_1，百炼和密钥管理是 demo_3、4，Agent 框架和 Skill 是 demo_5。</a:t>
            </a:r>
          </a:p>
          <a:p>
            <a:r>
              <a:t>增量是七个工具全部自写、学习者档案自己设计。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选题落在学习方法上，不产出能直接交的作业。</a:t>
            </a:r>
          </a:p>
          <a:p>
            <a:r>
              <a:t>我拿话术试过：让它把文章翻译成中文好抄进作业，它拒绝了，还给了三条替代做法，一步工具都没调。</a:t>
            </a:r>
          </a:p>
          <a:p>
            <a:r>
              <a:t>数据都是虚构样例，密钥只在本地环境变量里，仓库能当场验证没有。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1）主路径：帮我精读 demo 里那篇校园碳排的文章，挑出 8 个 CET-6 生词</a:t>
            </a:r>
          </a:p>
          <a:p>
            <a:r>
              <a:t>2）记忆：今天该复习哪几个词？我 mitigate 又记混了</a:t>
            </a:r>
          </a:p>
          <a:p>
            <a:r>
              <a:t>3）压轴：粘贴框里先放一段别的题材英文 → 点「用这篇开始精读」</a:t>
            </a:r>
          </a:p>
          <a:p>
            <a:r>
              <a:t>4）边界：帮我把这篇文章翻译成中文，我要抄到作业里交（应被拒绝）</a:t>
            </a:r>
          </a:p>
          <a:p>
            <a:r>
              <a:t>5）备用：把这几个词做成 CSV：mitigate, incentive, cumulative, viable</a:t>
            </a:r>
          </a:p>
          <a:p>
            <a:r>
              <a:t>演示前：跑 scripts/reset_demo.py 清场；网络不稳就先跑一遍留产物兜底。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老师可能会问，这不就是扇贝吗。</a:t>
            </a:r>
          </a:p>
          <a:p>
            <a:r>
              <a:t>扇贝卖的是编辑挑好的内容，你只能读它给的；AI 制卡工具是一步直转，看不到中间。</a:t>
            </a:r>
          </a:p>
          <a:p>
            <a:r>
              <a:t>我做的是"我手上这一篇怎么处理"：材料是我自己的，每一步能点开看，事实由代码兜底。</a:t>
            </a:r>
          </a:p>
          <a:p>
            <a:r>
              <a:t>商业产品通常两条路：全人工写，可信但贵；全 AI 生成，便宜但会编。</a:t>
            </a:r>
          </a:p>
          <a:p>
            <a:r>
              <a:t>我走第三条：模型负责判断，代码负责事实。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不足写在页上：没有句子级拆解、没有发音跟读、单机单用户、词库是考试词表而不是真词典。</a:t>
            </a:r>
          </a:p>
          <a:p>
            <a:r>
              <a:t>下一步最想接真实词典接口，再把七个工具包成 MCP——接口不用改，只挂一层。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FF4FD"/>
              </a:gs>
              <a:gs pos="42000">
                <a:srgbClr val="F6F8FC"/>
              </a:gs>
              <a:gs pos="78000">
                <a:srgbClr val="F4FAF9"/>
              </a:gs>
              <a:gs pos="100000">
                <a:srgbClr val="E9F7F4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2209800"/>
            <a:ext cx="66675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开源 AI 技术实践 · 期末考查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2457450"/>
            <a:ext cx="7620000" cy="952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5550" b="1">
                <a:solidFill>
                  <a:srgbClr val="0F172A"/>
                </a:solidFill>
                <a:latin typeface="微软雅黑"/>
                <a:ea typeface="微软雅黑"/>
              </a:rPr>
              <a:t>外刊精读教练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7700" y="3543300"/>
            <a:ext cx="68580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3B4B66"/>
                </a:solidFill>
                <a:latin typeface="微软雅黑"/>
                <a:ea typeface="微软雅黑"/>
              </a:rPr>
              <a:t>把一篇英文原文，变成</a:t>
            </a:r>
            <a:r>
              <a:rPr sz="1800" b="1">
                <a:solidFill>
                  <a:srgbClr val="3B4B66"/>
                </a:solidFill>
                <a:latin typeface="微软雅黑"/>
                <a:ea typeface="微软雅黑"/>
              </a:rPr>
              <a:t>词表 CSV</a:t>
            </a:r>
            <a:r>
              <a:rPr sz="1800" b="0">
                <a:solidFill>
                  <a:srgbClr val="3B4B66"/>
                </a:solidFill>
                <a:latin typeface="微软雅黑"/>
                <a:ea typeface="微软雅黑"/>
              </a:rPr>
              <a:t> 和 </a:t>
            </a:r>
            <a:r>
              <a:rPr sz="1800" b="1">
                <a:solidFill>
                  <a:srgbClr val="3B4B66"/>
                </a:solidFill>
                <a:latin typeface="微软雅黑"/>
                <a:ea typeface="微软雅黑"/>
              </a:rPr>
              <a:t>挖空练习页</a:t>
            </a:r>
            <a:r>
              <a:rPr sz="1800" b="0">
                <a:solidFill>
                  <a:srgbClr val="3B4B66"/>
                </a:solidFill>
                <a:latin typeface="微软雅黑"/>
                <a:ea typeface="微软雅黑"/>
              </a:rPr>
              <a:t>——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3B4B66"/>
                </a:solidFill>
                <a:latin typeface="微软雅黑"/>
                <a:ea typeface="微软雅黑"/>
              </a:rPr>
              <a:t>中间那四十分钟，交给 Agent。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4705350"/>
            <a:ext cx="95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姓名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" y="4933950"/>
            <a:ext cx="9525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徐悦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2150" y="4705350"/>
            <a:ext cx="11430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学号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2150" y="4933950"/>
            <a:ext cx="11430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（待填）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0900" y="4705350"/>
            <a:ext cx="30480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00" y="4933950"/>
            <a:ext cx="30480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A · 技术栈完整的智能体应用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4650" y="4705350"/>
            <a:ext cx="4000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技术栈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4650" y="4933950"/>
            <a:ext cx="40005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LangGraph + 百炼 qwen-plus + Streamlit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" y="6305550"/>
            <a:ext cx="857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9AA8BF"/>
                </a:solidFill>
                <a:latin typeface="微软雅黑"/>
                <a:ea typeface="微软雅黑"/>
              </a:rPr>
              <a:t>开源 AI 技术实践　·　杉达学院 2026–2027 学年第一学期　·　汇报 2026.10.27</a:t>
            </a:r>
          </a:p>
        </p:txBody>
      </p:sp>
      <p:pic>
        <p:nvPicPr>
          <p:cNvPr id="15" name="Picture 14" descr="cover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5900" y="1857375"/>
            <a:ext cx="2381250" cy="3143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问题与用户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精读一篇文章，其实要做四件互不相干的事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2114550"/>
            <a:ext cx="5429250" cy="762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650" b="0">
                <a:solidFill>
                  <a:srgbClr val="33415C"/>
                </a:solidFill>
                <a:latin typeface="微软雅黑"/>
                <a:ea typeface="微软雅黑"/>
              </a:rPr>
              <a:t>用户就是我：备考 CET-6 的大学生，外刊读得慢，生词查完就忘。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7700" y="2971800"/>
            <a:ext cx="542925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050" y="3095625"/>
            <a:ext cx="9906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第 1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6900" y="3086100"/>
            <a:ext cx="4038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读完文章，圈出 20 个不认识的词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700" y="3476625"/>
            <a:ext cx="542925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050" y="3600450"/>
            <a:ext cx="9906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第 2 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6900" y="3590925"/>
            <a:ext cx="4038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逐个查音标、词性、释义、例句 —— 20 次复制粘贴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700" y="3981450"/>
            <a:ext cx="542925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050" y="4105275"/>
            <a:ext cx="9906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第 3 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6900" y="4095750"/>
            <a:ext cx="4038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按考纲筛出该背的，手动敲进背单词软件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7700" y="4486275"/>
            <a:ext cx="542925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050" y="4610100"/>
            <a:ext cx="9906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第 4 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6900" y="4600575"/>
            <a:ext cx="4038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原文挖空，做一张能打印的填空练习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" y="5143500"/>
            <a:ext cx="5429250" cy="4381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四件事散落在四个软件里，</a:t>
            </a:r>
            <a:r>
              <a:rPr sz="1200" b="1">
                <a:solidFill>
                  <a:srgbClr val="5B6B84"/>
                </a:solidFill>
                <a:latin typeface="微软雅黑"/>
                <a:ea typeface="微软雅黑"/>
              </a:rPr>
              <a:t>一次约 40 分钟</a:t>
            </a: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。累的不是查词，是切换。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2700" y="2114550"/>
            <a:ext cx="518160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1300" y="2343150"/>
            <a:ext cx="47244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80" b="1">
                <a:solidFill>
                  <a:srgbClr val="1D4ED8"/>
                </a:solidFill>
                <a:latin typeface="微软雅黑"/>
                <a:ea typeface="微软雅黑"/>
              </a:rPr>
              <a:t>这个项目做的事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1300" y="2686050"/>
            <a:ext cx="4724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0">
                <a:solidFill>
                  <a:srgbClr val="25324A"/>
                </a:solidFill>
                <a:latin typeface="微软雅黑"/>
                <a:ea typeface="微软雅黑"/>
              </a:rPr>
              <a:t>把上面四步收进</a:t>
            </a:r>
            <a:r>
              <a:rPr sz="1280" b="1">
                <a:solidFill>
                  <a:srgbClr val="25324A"/>
                </a:solidFill>
                <a:latin typeface="微软雅黑"/>
                <a:ea typeface="微软雅黑"/>
              </a:rPr>
              <a:t>一句话</a:t>
            </a:r>
            <a:r>
              <a:rPr sz="1280" b="0">
                <a:solidFill>
                  <a:srgbClr val="25324A"/>
                </a:solidFill>
                <a:latin typeface="微软雅黑"/>
                <a:ea typeface="微软雅黑"/>
              </a:rPr>
              <a:t>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91300" y="3009900"/>
            <a:ext cx="4724400" cy="628650"/>
          </a:xfrm>
          <a:prstGeom prst="roundRect">
            <a:avLst>
              <a:gd name="adj" fmla="val 15151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4650" y="3143250"/>
            <a:ext cx="44577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40" b="0">
                <a:solidFill>
                  <a:srgbClr val="25324A"/>
                </a:solidFill>
                <a:latin typeface="微软雅黑"/>
                <a:ea typeface="微软雅黑"/>
              </a:rPr>
              <a:t>「帮我精读 demo 里那篇校园碳排的文章，挑出 8 个 CET-6 生词」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1300" y="3810000"/>
            <a:ext cx="4724400" cy="4381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25324A"/>
                </a:solidFill>
                <a:latin typeface="微软雅黑"/>
                <a:ea typeface="微软雅黑"/>
              </a:rPr>
              <a:t>Agent 自己规划：读原文 → 挑词 → 逐个查词 → 出词表 → 出练习页 → 回写错词本。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91300" y="4476750"/>
            <a:ext cx="768668" cy="247650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10" b="1">
                <a:solidFill>
                  <a:srgbClr val="15803D"/>
                </a:solidFill>
                <a:latin typeface="微软雅黑"/>
                <a:ea typeface="微软雅黑"/>
              </a:rPr>
              <a:t>约 45 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17118" y="4476750"/>
            <a:ext cx="1083707" cy="247650"/>
          </a:xfrm>
          <a:prstGeom prst="roundRect">
            <a:avLst>
              <a:gd name="adj" fmla="val 50000"/>
            </a:avLst>
          </a:prstGeom>
          <a:solidFill>
            <a:srgbClr val="E8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10" b="1">
                <a:solidFill>
                  <a:srgbClr val="1D4ED8"/>
                </a:solidFill>
                <a:latin typeface="微软雅黑"/>
                <a:ea typeface="微软雅黑"/>
              </a:rPr>
              <a:t>12 次工具调用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57974" y="4476750"/>
            <a:ext cx="1012984" cy="247650"/>
          </a:xfrm>
          <a:prstGeom prst="roundRect">
            <a:avLst>
              <a:gd name="adj" fmla="val 50000"/>
            </a:avLst>
          </a:prstGeom>
          <a:solidFill>
            <a:srgbClr val="E3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10" b="1">
                <a:solidFill>
                  <a:srgbClr val="0B7A70"/>
                </a:solidFill>
                <a:latin typeface="微软雅黑"/>
                <a:ea typeface="微软雅黑"/>
              </a:rPr>
              <a:t>8 处自动挖空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总体架构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一张图：用户 → 界面 → Agent ⇄ 工具 / 模型 / Skill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" y="2019300"/>
            <a:ext cx="10896600" cy="3733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7700" y="58864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实线是数据流，虚线是只读素材。</a:t>
            </a:r>
            <a:r>
              <a:rPr sz="1200" b="1">
                <a:solidFill>
                  <a:srgbClr val="5B6B84"/>
                </a:solidFill>
                <a:latin typeface="微软雅黑"/>
                <a:ea typeface="微软雅黑"/>
              </a:rPr>
              <a:t>读写都只有一条合法通道</a:t>
            </a: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：读只有 </a:t>
            </a:r>
            <a:r>
              <a:rPr sz="1130" b="0">
                <a:solidFill>
                  <a:srgbClr val="1E3A8A"/>
                </a:solidFill>
                <a:latin typeface="微软雅黑"/>
                <a:ea typeface="微软雅黑"/>
              </a:rPr>
              <a:t>demo/</a:t>
            </a: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 与用户自贴的固定槽位（工具没有路径参数），写只能写 </a:t>
            </a:r>
            <a:r>
              <a:rPr sz="1130" b="0">
                <a:solidFill>
                  <a:srgbClr val="1E3A8A"/>
                </a:solidFill>
                <a:latin typeface="微软雅黑"/>
                <a:ea typeface="微软雅黑"/>
              </a:rPr>
              <a:t>outputs/</a:t>
            </a:r>
            <a:r>
              <a:rPr sz="1200" b="0">
                <a:solidFill>
                  <a:srgbClr val="5B6B84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关键能力 · 主路径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一句话进去，12 次工具调用出来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7700" y="2076450"/>
            <a:ext cx="6019800" cy="419100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2190750"/>
            <a:ext cx="95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9750" y="2181225"/>
            <a:ext cx="4724400" cy="2667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「帮我精读 demo 里那篇校园碳排的文章，挑出 8 个 CET-6 生词」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700" y="2552700"/>
            <a:ext cx="6019800" cy="419100"/>
          </a:xfrm>
          <a:prstGeom prst="roundRect">
            <a:avLst>
              <a:gd name="adj" fmla="val 20454"/>
            </a:avLst>
          </a:prstGeom>
          <a:solidFill>
            <a:srgbClr val="F4F8FF"/>
          </a:solidFill>
          <a:ln w="15240">
            <a:solidFill>
              <a:srgbClr val="C9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667000"/>
            <a:ext cx="95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2657475"/>
            <a:ext cx="4724400" cy="2667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read_article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　读 </a:t>
            </a: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demo/article_sample.txt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" y="3028950"/>
            <a:ext cx="6019800" cy="62865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143250"/>
            <a:ext cx="95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自纠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3133725"/>
            <a:ext cx="4724400" cy="476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第一次猜了 </a:t>
            </a: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campus_carbon.txt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，工具返回「不存在，可用文件：article_sample.txt」，它</a:t>
            </a:r>
            <a:r>
              <a:rPr sz="1090" b="1">
                <a:solidFill>
                  <a:srgbClr val="25324A"/>
                </a:solidFill>
                <a:latin typeface="微软雅黑"/>
                <a:ea typeface="微软雅黑"/>
              </a:rPr>
              <a:t>自己改参数重试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——报错比静默兜底有用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" y="3714750"/>
            <a:ext cx="6019800" cy="590550"/>
          </a:xfrm>
          <a:prstGeom prst="roundRect">
            <a:avLst>
              <a:gd name="adj" fmla="val 14516"/>
            </a:avLst>
          </a:prstGeom>
          <a:solidFill>
            <a:srgbClr val="F4F8FF"/>
          </a:solidFill>
          <a:ln w="15240">
            <a:solidFill>
              <a:srgbClr val="C9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3829050"/>
            <a:ext cx="95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循环 ×8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9750" y="3819525"/>
            <a:ext cx="4724400" cy="4381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lookup_word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　baseline / structural / trivial / cumulative / framework / allocate / enforceable / scrutiny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700" y="4362450"/>
            <a:ext cx="6019800" cy="571500"/>
          </a:xfrm>
          <a:prstGeom prst="roundRect">
            <a:avLst>
              <a:gd name="adj" fmla="val 15000"/>
            </a:avLst>
          </a:prstGeom>
          <a:solidFill>
            <a:srgbClr val="E3F6F3"/>
          </a:solidFill>
          <a:ln w="15240">
            <a:solidFill>
              <a:srgbClr val="B8E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4476750"/>
            <a:ext cx="95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汇总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9750" y="4467225"/>
            <a:ext cx="4724400" cy="419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make_wordlist_csv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　→ </a:t>
            </a: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…wordlist.csv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 </a:t>
            </a:r>
            <a:r>
              <a:rPr sz="1090" b="1">
                <a:solidFill>
                  <a:srgbClr val="25324A"/>
                </a:solidFill>
                <a:latin typeface="微软雅黑"/>
                <a:ea typeface="微软雅黑"/>
              </a:rPr>
              <a:t>+ 同名 .docx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（逐词分块的笔记，同一步落盘）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" y="4991100"/>
            <a:ext cx="6019800" cy="419100"/>
          </a:xfrm>
          <a:prstGeom prst="roundRect">
            <a:avLst>
              <a:gd name="adj" fmla="val 20454"/>
            </a:avLst>
          </a:prstGeom>
          <a:solidFill>
            <a:srgbClr val="E3F6F3"/>
          </a:solidFill>
          <a:ln w="15240">
            <a:solidFill>
              <a:srgbClr val="B8E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105400"/>
            <a:ext cx="95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汇总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9750" y="5095875"/>
            <a:ext cx="4724400" cy="2667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build_worksheet_html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　→ </a:t>
            </a: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outputs/campus_carbon_worksheet.html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700" y="5467350"/>
            <a:ext cx="6019800" cy="419100"/>
          </a:xfrm>
          <a:prstGeom prst="roundRect">
            <a:avLst>
              <a:gd name="adj" fmla="val 20454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000" y="5581650"/>
            <a:ext cx="9525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5B6B84"/>
                </a:solidFill>
                <a:latin typeface="Consolas"/>
                <a:ea typeface="微软雅黑"/>
              </a:rPr>
              <a:t>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9750" y="5572125"/>
            <a:ext cx="4724400" cy="2667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中文总结 + 如实声明哪几个词未收录、建议核对权威词典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19900" y="2076450"/>
            <a:ext cx="2286000" cy="895350"/>
          </a:xfrm>
          <a:prstGeom prst="roundRect">
            <a:avLst>
              <a:gd name="adj" fmla="val 1276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1350" y="2152650"/>
            <a:ext cx="19431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50" b="1">
                <a:solidFill>
                  <a:srgbClr val="0F172A"/>
                </a:solidFill>
                <a:latin typeface="微软雅黑"/>
                <a:ea typeface="微软雅黑"/>
              </a:rPr>
              <a:t>48</a:t>
            </a:r>
            <a:r>
              <a:rPr sz="1120" b="1">
                <a:solidFill>
                  <a:srgbClr val="0F172A"/>
                </a:solidFill>
                <a:latin typeface="微软雅黑"/>
                <a:ea typeface="微软雅黑"/>
              </a:rPr>
              <a:t>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2590800"/>
            <a:ext cx="1962150" cy="2857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5B6B84"/>
                </a:solidFill>
                <a:latin typeface="微软雅黑"/>
                <a:ea typeface="微软雅黑"/>
              </a:rPr>
              <a:t>端到端耗时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9250" y="2076450"/>
            <a:ext cx="2286000" cy="895350"/>
          </a:xfrm>
          <a:prstGeom prst="roundRect">
            <a:avLst>
              <a:gd name="adj" fmla="val 1276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0700" y="2152650"/>
            <a:ext cx="19431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50" b="1">
                <a:solidFill>
                  <a:srgbClr val="0F172A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0700" y="2590800"/>
            <a:ext cx="1962150" cy="2857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5B6B84"/>
                </a:solidFill>
                <a:latin typeface="微软雅黑"/>
                <a:ea typeface="微软雅黑"/>
              </a:rPr>
              <a:t>次工具调用 / 20 余步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19900" y="3028950"/>
            <a:ext cx="2286000" cy="895350"/>
          </a:xfrm>
          <a:prstGeom prst="roundRect">
            <a:avLst>
              <a:gd name="adj" fmla="val 1276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91350" y="3105150"/>
            <a:ext cx="19431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50" b="1">
                <a:solidFill>
                  <a:srgbClr val="0F172A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1350" y="3543300"/>
            <a:ext cx="1962150" cy="2857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5B6B84"/>
                </a:solidFill>
                <a:latin typeface="微软雅黑"/>
                <a:ea typeface="微软雅黑"/>
              </a:rPr>
              <a:t>处自动挖空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028950"/>
            <a:ext cx="2286000" cy="895350"/>
          </a:xfrm>
          <a:prstGeom prst="roundRect">
            <a:avLst>
              <a:gd name="adj" fmla="val 1276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0700" y="3105150"/>
            <a:ext cx="19431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50" b="1">
                <a:solidFill>
                  <a:srgbClr val="0F172A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0700" y="3543300"/>
            <a:ext cx="1962150" cy="2857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5B6B84"/>
                </a:solidFill>
                <a:latin typeface="微软雅黑"/>
                <a:ea typeface="微软雅黑"/>
              </a:rPr>
              <a:t>个交付文件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0700" y="3714750"/>
            <a:ext cx="196215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860" b="0">
                <a:solidFill>
                  <a:srgbClr val="93A1B8"/>
                </a:solidFill>
                <a:latin typeface="微软雅黑"/>
                <a:ea typeface="微软雅黑"/>
              </a:rPr>
              <a:t>CSV / Word / 练习页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19900" y="4076700"/>
            <a:ext cx="4724400" cy="120015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29425" y="4171950"/>
            <a:ext cx="38100" cy="100965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0" y="4210050"/>
            <a:ext cx="4343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0F172A"/>
                </a:solidFill>
                <a:latin typeface="微软雅黑"/>
                <a:ea typeface="微软雅黑"/>
              </a:rPr>
              <a:t>界面里看得到每一步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8500" y="4457700"/>
            <a:ext cx="4343400" cy="7048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用 </a:t>
            </a:r>
            <a:r>
              <a:rPr sz="1019" b="0">
                <a:solidFill>
                  <a:srgbClr val="1E3A8A"/>
                </a:solidFill>
                <a:latin typeface="微软雅黑"/>
                <a:ea typeface="微软雅黑"/>
              </a:rPr>
              <a:t>st.status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 把事件流逐条展开：工具名、参数、返回前 90 字符。教师可以当场确认「是工具在算，不是模型在说」。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9900" y="5391150"/>
            <a:ext cx="4724400" cy="419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980" b="0">
                <a:solidFill>
                  <a:srgbClr val="5B6B84"/>
                </a:solidFill>
                <a:latin typeface="微软雅黑"/>
                <a:ea typeface="微软雅黑"/>
              </a:rPr>
              <a:t>数据来自 </a:t>
            </a:r>
            <a:r>
              <a:rPr sz="919" b="0">
                <a:solidFill>
                  <a:srgbClr val="1E3A8A"/>
                </a:solidFill>
                <a:latin typeface="微软雅黑"/>
                <a:ea typeface="微软雅黑"/>
              </a:rPr>
              <a:t>scripts/rehearse.py</a:t>
            </a:r>
            <a:r>
              <a:rPr sz="980" b="0">
                <a:solidFill>
                  <a:srgbClr val="5B6B84"/>
                </a:solidFill>
                <a:latin typeface="微软雅黑"/>
                <a:ea typeface="微软雅黑"/>
              </a:rPr>
              <a:t> 的真实运行日志，非手写。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关键能力 ·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Skill 不是更长的提示词，是</a:t>
            </a:r>
            <a:r>
              <a:rPr sz="2850" b="1">
                <a:solidFill>
                  <a:srgbClr val="2563EB"/>
                </a:solidFill>
                <a:latin typeface="微软雅黑"/>
                <a:ea typeface="微软雅黑"/>
              </a:rPr>
              <a:t>按需加载的流程包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7700" y="2057400"/>
            <a:ext cx="52959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6300" y="224790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7300" y="2266950"/>
            <a:ext cx="447675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80" b="1">
                <a:solidFill>
                  <a:srgbClr val="0F172A"/>
                </a:solidFill>
                <a:latin typeface="微软雅黑"/>
                <a:ea typeface="微软雅黑"/>
              </a:rPr>
              <a:t>常驻人设（每轮都在）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47625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5324A"/>
                </a:solidFill>
                <a:latin typeface="微软雅黑"/>
                <a:ea typeface="微软雅黑"/>
              </a:rPr>
              <a:t>身份、七个工具怎么用、十一条纪律、当前学习者档案。短、稳定、不含具体作业流程。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700" y="3352800"/>
            <a:ext cx="5295900" cy="1181100"/>
          </a:xfrm>
          <a:prstGeom prst="roundRect">
            <a:avLst>
              <a:gd name="adj" fmla="val 9677"/>
            </a:avLst>
          </a:prstGeom>
          <a:solidFill>
            <a:srgbClr val="F3FCFB"/>
          </a:solidFill>
          <a:ln w="15240">
            <a:solidFill>
              <a:srgbClr val="7FD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6300" y="354330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0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3562350"/>
            <a:ext cx="447675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80" b="1">
                <a:solidFill>
                  <a:srgbClr val="0F172A"/>
                </a:solidFill>
                <a:latin typeface="微软雅黑"/>
                <a:ea typeface="微软雅黑"/>
              </a:rPr>
              <a:t>Skill（命中才拼进来）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3924300"/>
            <a:ext cx="47625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5324A"/>
                </a:solidFill>
                <a:latin typeface="微软雅黑"/>
                <a:ea typeface="微软雅黑"/>
              </a:rPr>
              <a:t>精读六步法 + 输出格式契约 + HTML 模板。</a:t>
            </a:r>
            <a:r>
              <a:rPr sz="1200" b="1">
                <a:solidFill>
                  <a:srgbClr val="25324A"/>
                </a:solidFill>
                <a:latin typeface="微软雅黑"/>
                <a:ea typeface="微软雅黑"/>
              </a:rPr>
              <a:t>没命中触发词，一个字都不进上下文。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" y="4648200"/>
            <a:ext cx="5295900" cy="1181100"/>
          </a:xfrm>
          <a:prstGeom prst="roundRect">
            <a:avLst>
              <a:gd name="adj" fmla="val 9677"/>
            </a:avLst>
          </a:prstGeom>
          <a:solidFill>
            <a:srgbClr val="FAF8FF"/>
          </a:solidFill>
          <a:ln w="15240">
            <a:solidFill>
              <a:srgbClr val="C4B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6300" y="483870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7300" y="4857750"/>
            <a:ext cx="447675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80" b="1">
                <a:solidFill>
                  <a:srgbClr val="0F172A"/>
                </a:solidFill>
                <a:latin typeface="微软雅黑"/>
                <a:ea typeface="微软雅黑"/>
              </a:rPr>
              <a:t>动态档案（每轮重算）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5219700"/>
            <a:ext cx="47625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25324A"/>
                </a:solidFill>
                <a:latin typeface="微软雅黑"/>
                <a:ea typeface="微软雅黑"/>
              </a:rPr>
              <a:t>目标考试、水平、错词本。跟着 JSON 变，不用改代码。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057400"/>
            <a:ext cx="5372100" cy="2133600"/>
          </a:xfrm>
          <a:prstGeom prst="roundRect">
            <a:avLst>
              <a:gd name="adj" fmla="val 535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2228850"/>
            <a:ext cx="4991100" cy="17907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55000"/>
              </a:lnSpc>
            </a:pPr>
            <a:r>
              <a:rPr sz="1050" b="0">
                <a:solidFill>
                  <a:srgbClr val="8FA3C4"/>
                </a:solidFill>
                <a:latin typeface="Consolas"/>
                <a:ea typeface="微软雅黑"/>
              </a:rPr>
              <a:t># agent/prompts.py · select_skill()</a:t>
            </a:r>
          </a:p>
          <a:p>
            <a:pPr>
              <a:lnSpc>
                <a:spcPct val="155000"/>
              </a:lnSpc>
            </a:pP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def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select_skill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(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query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: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str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,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history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: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str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= </a:t>
            </a:r>
            <a:r>
              <a:rPr sz="1050" b="0">
                <a:solidFill>
                  <a:srgbClr val="A7F3D0"/>
                </a:solidFill>
                <a:latin typeface="Consolas"/>
                <a:ea typeface="微软雅黑"/>
              </a:rPr>
              <a:t>""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) -&gt;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str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|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None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:</a:t>
            </a:r>
          </a:p>
          <a:p>
            <a:pPr>
              <a:lnSpc>
                <a:spcPct val="155000"/>
              </a:lnSpc>
            </a:pP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50" b="0">
                <a:solidFill>
                  <a:srgbClr val="A7F3D0"/>
                </a:solidFill>
                <a:latin typeface="Consolas"/>
                <a:ea typeface="微软雅黑"/>
              </a:rPr>
              <a:t>""</a:t>
            </a:r>
            <a:r>
              <a:rPr sz="1050" b="0">
                <a:solidFill>
                  <a:srgbClr val="A7F3D0"/>
                </a:solidFill>
                <a:latin typeface="Consolas"/>
                <a:ea typeface="微软雅黑"/>
              </a:rPr>
              <a:t>"按触发词决定是否加载技能全文。"</a:t>
            </a:r>
            <a:r>
              <a:rPr sz="1050" b="0">
                <a:solidFill>
                  <a:srgbClr val="A7F3D0"/>
                </a:solidFill>
                <a:latin typeface="Consolas"/>
                <a:ea typeface="微软雅黑"/>
              </a:rPr>
              <a:t>""</a:t>
            </a:r>
          </a:p>
          <a:p>
            <a:pPr>
              <a:lnSpc>
                <a:spcPct val="155000"/>
              </a:lnSpc>
            </a:pP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haystack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=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f</a:t>
            </a:r>
            <a:r>
              <a:rPr sz="1050" b="0">
                <a:solidFill>
                  <a:srgbClr val="A7F3D0"/>
                </a:solidFill>
                <a:latin typeface="Consolas"/>
                <a:ea typeface="微软雅黑"/>
              </a:rPr>
              <a:t>"{query}\n{history}"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.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lower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()</a:t>
            </a:r>
          </a:p>
          <a:p>
            <a:pPr>
              <a:lnSpc>
                <a:spcPct val="155000"/>
              </a:lnSpc>
            </a:pP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if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not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any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(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k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in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haystack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for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k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in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SKILL_TRIGGERS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):</a:t>
            </a:r>
          </a:p>
          <a:p>
            <a:pPr>
              <a:lnSpc>
                <a:spcPct val="155000"/>
              </a:lnSpc>
            </a:pP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      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return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50" b="0">
                <a:solidFill>
                  <a:srgbClr val="7DD3FC"/>
                </a:solidFill>
                <a:latin typeface="Consolas"/>
                <a:ea typeface="微软雅黑"/>
              </a:rPr>
              <a:t>None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         </a:t>
            </a:r>
            <a:r>
              <a:rPr sz="1050" b="0">
                <a:solidFill>
                  <a:srgbClr val="8FA3C4"/>
                </a:solidFill>
                <a:latin typeface="Consolas"/>
                <a:ea typeface="微软雅黑"/>
              </a:rPr>
              <a:t># ← 直接不加载</a:t>
            </a:r>
          </a:p>
          <a:p>
            <a:pPr>
              <a:lnSpc>
                <a:spcPct val="155000"/>
              </a:lnSpc>
            </a:pP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skill_file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= 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SKILL_DIR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/ </a:t>
            </a:r>
            <a:r>
              <a:rPr sz="1050" b="0">
                <a:solidFill>
                  <a:srgbClr val="A7F3D0"/>
                </a:solidFill>
                <a:latin typeface="Consolas"/>
                <a:ea typeface="微软雅黑"/>
              </a:rPr>
              <a:t>"intensive-reading"</a:t>
            </a: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/ </a:t>
            </a:r>
            <a:r>
              <a:rPr sz="1050" b="0">
                <a:solidFill>
                  <a:srgbClr val="A7F3D0"/>
                </a:solidFill>
                <a:latin typeface="Consolas"/>
                <a:ea typeface="微软雅黑"/>
              </a:rPr>
              <a:t>"SKILL.md"</a:t>
            </a:r>
          </a:p>
          <a:p>
            <a:pPr>
              <a:lnSpc>
                <a:spcPct val="155000"/>
              </a:lnSpc>
            </a:pPr>
            <a:r>
              <a:rPr sz="1050" b="0">
                <a:solidFill>
                  <a:srgbClr val="E2E8F5"/>
                </a:solidFill>
                <a:latin typeface="Consolas"/>
                <a:ea typeface="微软雅黑"/>
              </a:rPr>
              <a:t>    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05300"/>
            <a:ext cx="5372100" cy="12954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419600"/>
            <a:ext cx="49149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0F172A"/>
                </a:solidFill>
                <a:latin typeface="微软雅黑"/>
                <a:ea typeface="微软雅黑"/>
              </a:rPr>
              <a:t>实测两种输入的系统提示词长度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362700" y="4686300"/>
          <a:ext cx="4991100" cy="704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/>
                <a:gridCol w="1524000"/>
                <a:gridCol w="1219200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90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输入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90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系统提示词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90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「帮我精读这篇文章…」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1717</a:t>
                      </a: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 字符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注入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「今天天气怎么样」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 字符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不注入</a:t>
                      </a:r>
                    </a:p>
                  </a:txBody>
                  <a:tcPr marL="114300" marR="114300" marT="28575" marB="28575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72200" y="5715000"/>
            <a:ext cx="5372100" cy="628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20" b="0">
                <a:solidFill>
                  <a:srgbClr val="5B6B84"/>
                </a:solidFill>
                <a:latin typeface="微软雅黑"/>
                <a:ea typeface="微软雅黑"/>
              </a:rPr>
              <a:t>加一个新技能 = 加一个目录，</a:t>
            </a:r>
            <a:r>
              <a:rPr sz="1120" b="1">
                <a:solidFill>
                  <a:srgbClr val="5B6B84"/>
                </a:solidFill>
                <a:latin typeface="微软雅黑"/>
                <a:ea typeface="微软雅黑"/>
              </a:rPr>
              <a:t>主提示词一行不改</a:t>
            </a:r>
            <a:r>
              <a:rPr sz="1120" b="0">
                <a:solidFill>
                  <a:srgbClr val="5B6B84"/>
                </a:solidFill>
                <a:latin typeface="微软雅黑"/>
                <a:ea typeface="微软雅黑"/>
              </a:rPr>
              <a:t>。这是 Skill 和 system prompt 最实际的区别。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关键能力 · 工具为什么不可替代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提示词写「不许编」，它还是编了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812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B91C1C"/>
                </a:solidFill>
                <a:latin typeface="微软雅黑"/>
                <a:ea typeface="微软雅黑"/>
              </a:rPr>
              <a:t>修复前：查词失败 → 模型自己补了个等级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7700" y="2286000"/>
            <a:ext cx="5334000" cy="1257300"/>
          </a:xfrm>
          <a:prstGeom prst="roundRect">
            <a:avLst>
              <a:gd name="adj" fmla="val 9090"/>
            </a:avLst>
          </a:prstGeom>
          <a:solidFill>
            <a:srgbClr val="2A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457450"/>
            <a:ext cx="495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55000"/>
              </a:lnSpc>
            </a:pPr>
            <a:r>
              <a:rPr sz="1010" b="0">
                <a:solidFill>
                  <a:srgbClr val="8FA3C4"/>
                </a:solidFill>
                <a:latin typeface="Consolas"/>
                <a:ea typeface="微软雅黑"/>
              </a:rPr>
              <a:t># 写盘前，模型提交的等级</a:t>
            </a:r>
          </a:p>
          <a:p>
            <a:pPr>
              <a:lnSpc>
                <a:spcPct val="155000"/>
              </a:lnSpc>
            </a:pPr>
            <a:r>
              <a:rPr sz="1010" b="0">
                <a:solidFill>
                  <a:srgbClr val="E2E8F5"/>
                </a:solidFill>
                <a:latin typeface="Consolas"/>
                <a:ea typeface="微软雅黑"/>
              </a:rPr>
              <a:t>structural   adj.   结构上的   </a:t>
            </a:r>
            <a:r>
              <a:rPr sz="1010" b="0">
                <a:solidFill>
                  <a:srgbClr val="FCA5A5"/>
                </a:solidFill>
                <a:latin typeface="Consolas"/>
                <a:ea typeface="微软雅黑"/>
              </a:rPr>
              <a:t>CET-6</a:t>
            </a:r>
            <a:r>
              <a:rPr sz="1010" b="0">
                <a:solidFill>
                  <a:srgbClr val="8FA3C4"/>
                </a:solidFill>
                <a:latin typeface="Consolas"/>
                <a:ea typeface="微软雅黑"/>
              </a:rPr>
              <a:t>   ← lookup_word 返回 NOT_FOUND</a:t>
            </a:r>
          </a:p>
          <a:p>
            <a:pPr>
              <a:lnSpc>
                <a:spcPct val="155000"/>
              </a:lnSpc>
            </a:pPr>
            <a:r>
              <a:rPr sz="1010" b="0">
                <a:solidFill>
                  <a:srgbClr val="E2E8F5"/>
                </a:solidFill>
                <a:latin typeface="Consolas"/>
                <a:ea typeface="微软雅黑"/>
              </a:rPr>
              <a:t>enforceable  adj.   可执行的   </a:t>
            </a:r>
            <a:r>
              <a:rPr sz="1010" b="0">
                <a:solidFill>
                  <a:srgbClr val="FCA5A5"/>
                </a:solidFill>
                <a:latin typeface="Consolas"/>
                <a:ea typeface="微软雅黑"/>
              </a:rPr>
              <a:t>CET-6</a:t>
            </a:r>
            <a:r>
              <a:rPr sz="1010" b="0">
                <a:solidFill>
                  <a:srgbClr val="8FA3C4"/>
                </a:solidFill>
                <a:latin typeface="Consolas"/>
                <a:ea typeface="微软雅黑"/>
              </a:rPr>
              <a:t>   ← 同上</a:t>
            </a:r>
          </a:p>
          <a:p>
            <a:pPr>
              <a:lnSpc>
                <a:spcPct val="155000"/>
              </a:lnSpc>
            </a:pPr>
            <a:r>
              <a:rPr sz="1010" b="0">
                <a:solidFill>
                  <a:srgbClr val="E2E8F5"/>
                </a:solidFill>
                <a:latin typeface="Consolas"/>
                <a:ea typeface="微软雅黑"/>
              </a:rPr>
              <a:t>mitigate     v.     减轻；缓和  </a:t>
            </a:r>
            <a:r>
              <a:rPr sz="1010" b="0">
                <a:solidFill>
                  <a:srgbClr val="E2E8F5"/>
                </a:solidFill>
                <a:latin typeface="Consolas"/>
                <a:ea typeface="微软雅黑"/>
              </a:rPr>
              <a:t>CET-6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657600"/>
            <a:ext cx="5334000" cy="533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120" b="0">
                <a:solidFill>
                  <a:srgbClr val="8A2C2C"/>
                </a:solidFill>
                <a:latin typeface="微软雅黑"/>
                <a:ea typeface="微软雅黑"/>
              </a:rPr>
              <a:t>查词工具明明返回了 </a:t>
            </a: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NOT_FOUND</a:t>
            </a:r>
            <a:r>
              <a:rPr sz="1120" b="0">
                <a:solidFill>
                  <a:srgbClr val="8A2C2C"/>
                </a:solidFill>
                <a:latin typeface="微软雅黑"/>
                <a:ea typeface="微软雅黑"/>
              </a:rPr>
              <a:t>，模型在写 CSV 时仍然凭印象填了 </a:t>
            </a: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CET-6</a:t>
            </a:r>
            <a:r>
              <a:rPr sz="1120" b="0">
                <a:solidFill>
                  <a:srgbClr val="8A2C2C"/>
                </a:solidFill>
                <a:latin typeface="微软雅黑"/>
                <a:ea typeface="微软雅黑"/>
              </a:rPr>
              <a:t>。读起来毫无破绽——</a:t>
            </a:r>
            <a:r>
              <a:rPr sz="1120" b="1">
                <a:solidFill>
                  <a:srgbClr val="8A2C2C"/>
                </a:solidFill>
                <a:latin typeface="微软雅黑"/>
                <a:ea typeface="微软雅黑"/>
              </a:rPr>
              <a:t>这才是最危险的地方</a:t>
            </a:r>
            <a:r>
              <a:rPr sz="1120" b="0">
                <a:solidFill>
                  <a:srgbClr val="8A2C2C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700" y="4343400"/>
            <a:ext cx="5334000" cy="628650"/>
          </a:xfrm>
          <a:prstGeom prst="roundRect">
            <a:avLst>
              <a:gd name="adj" fmla="val 18181"/>
            </a:avLst>
          </a:prstGeom>
          <a:solidFill>
            <a:srgbClr val="FEF3E2"/>
          </a:solidFill>
          <a:ln w="15240">
            <a:solidFill>
              <a:srgbClr val="F0C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4476750"/>
            <a:ext cx="4953000" cy="419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只在提示词加一句「不许编造等级」，重跑之后依然会编。</a:t>
            </a:r>
            <a:r>
              <a:rPr sz="1120" b="1">
                <a:solidFill>
                  <a:srgbClr val="25324A"/>
                </a:solidFill>
                <a:latin typeface="微软雅黑"/>
                <a:ea typeface="微软雅黑"/>
              </a:rPr>
              <a:t>模型的自我约束不是约束。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" y="5086350"/>
            <a:ext cx="5334000" cy="838200"/>
          </a:xfrm>
          <a:prstGeom prst="roundRect">
            <a:avLst>
              <a:gd name="adj" fmla="val 13636"/>
            </a:avLst>
          </a:prstGeom>
          <a:solidFill>
            <a:srgbClr val="EEF4FF"/>
          </a:solidFill>
          <a:ln w="15240">
            <a:solidFill>
              <a:srgbClr val="9DB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5219700"/>
            <a:ext cx="4953000" cy="609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90" b="1">
                <a:solidFill>
                  <a:srgbClr val="25324A"/>
                </a:solidFill>
                <a:latin typeface="微软雅黑"/>
                <a:ea typeface="微软雅黑"/>
              </a:rPr>
              <a:t>结论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：工具的价值不是「帮模型做事」，而是把不确定的东西变成可核验的。校验写进代码，不靠模型自觉。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0" y="1981200"/>
            <a:ext cx="53340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15803D"/>
                </a:solidFill>
                <a:latin typeface="微软雅黑"/>
                <a:ea typeface="微软雅黑"/>
              </a:rPr>
              <a:t>修复后：写盘前用词库复核一遍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250" y="2286000"/>
            <a:ext cx="5353050" cy="2133600"/>
          </a:xfrm>
          <a:prstGeom prst="roundRect">
            <a:avLst>
              <a:gd name="adj" fmla="val 535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457450"/>
            <a:ext cx="4972050" cy="17907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35000"/>
              </a:lnSpc>
            </a:pPr>
            <a:r>
              <a:rPr sz="900" b="0">
                <a:solidFill>
                  <a:srgbClr val="8FA3C4"/>
                </a:solidFill>
                <a:latin typeface="Consolas"/>
                <a:ea typeface="微软雅黑"/>
              </a:rPr>
              <a:t># tools/wordlist.py · _verify()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7DD3FC"/>
                </a:solidFill>
                <a:latin typeface="Consolas"/>
                <a:ea typeface="微软雅黑"/>
              </a:rPr>
              <a:t>for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row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900" b="0">
                <a:solidFill>
                  <a:srgbClr val="7DD3FC"/>
                </a:solidFill>
                <a:latin typeface="Consolas"/>
                <a:ea typeface="微软雅黑"/>
              </a:rPr>
              <a:t>in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rows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: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known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=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lookup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(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row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[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"word"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])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900" b="0">
                <a:solidFill>
                  <a:srgbClr val="7DD3FC"/>
                </a:solidFill>
                <a:latin typeface="Consolas"/>
                <a:ea typeface="微软雅黑"/>
              </a:rPr>
              <a:t>if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known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900" b="0">
                <a:solidFill>
                  <a:srgbClr val="7DD3FC"/>
                </a:solidFill>
                <a:latin typeface="Consolas"/>
                <a:ea typeface="微软雅黑"/>
              </a:rPr>
              <a:t>is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900" b="0">
                <a:solidFill>
                  <a:srgbClr val="7DD3FC"/>
                </a:solidFill>
                <a:latin typeface="Consolas"/>
                <a:ea typeface="微软雅黑"/>
              </a:rPr>
              <a:t>None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: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      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row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[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"level"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]  = 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"未收录"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      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row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[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"source"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] = 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"模型推断"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900" b="0">
                <a:solidFill>
                  <a:srgbClr val="7DD3FC"/>
                </a:solidFill>
                <a:latin typeface="Consolas"/>
                <a:ea typeface="微软雅黑"/>
              </a:rPr>
              <a:t>else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: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      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row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[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"level"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]  =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known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[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"level"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]   </a:t>
            </a:r>
            <a:r>
              <a:rPr sz="900" b="0">
                <a:solidFill>
                  <a:srgbClr val="8FA3C4"/>
                </a:solidFill>
                <a:latin typeface="Consolas"/>
                <a:ea typeface="微软雅黑"/>
              </a:rPr>
              <a:t># 词库覆盖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        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row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[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"source"</a:t>
            </a:r>
            <a:r>
              <a:rPr sz="900" b="0">
                <a:solidFill>
                  <a:srgbClr val="E2E8F5"/>
                </a:solidFill>
                <a:latin typeface="Consolas"/>
                <a:ea typeface="微软雅黑"/>
              </a:rPr>
              <a:t>] = </a:t>
            </a:r>
            <a:r>
              <a:rPr sz="900" b="0">
                <a:solidFill>
                  <a:srgbClr val="A7F3D0"/>
                </a:solidFill>
                <a:latin typeface="Consolas"/>
                <a:ea typeface="微软雅黑"/>
              </a:rPr>
              <a:t>"本地词库"</a:t>
            </a:r>
          </a:p>
          <a:p>
            <a:pPr>
              <a:lnSpc>
                <a:spcPct val="135000"/>
              </a:lnSpc>
            </a:pPr>
            <a:r>
              <a:rPr sz="900" b="0">
                <a:solidFill>
                  <a:srgbClr val="8FA3C4"/>
                </a:solidFill>
                <a:latin typeface="Consolas"/>
                <a:ea typeface="微软雅黑"/>
              </a:rPr>
              <a:t># 这两项不写进 CSV，只变成 Word 的等级标签与「未收录」小字注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4591050"/>
            <a:ext cx="5353050" cy="990600"/>
          </a:xfrm>
          <a:prstGeom prst="roundRect">
            <a:avLst>
              <a:gd name="adj" fmla="val 11538"/>
            </a:avLst>
          </a:prstGeom>
          <a:solidFill>
            <a:srgbClr val="0D2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4762500"/>
            <a:ext cx="4972050" cy="6477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5000"/>
              </a:lnSpc>
            </a:pPr>
            <a:r>
              <a:rPr sz="910" b="0">
                <a:solidFill>
                  <a:srgbClr val="8FA3C4"/>
                </a:solidFill>
                <a:latin typeface="Consolas"/>
                <a:ea typeface="微软雅黑"/>
              </a:rPr>
              <a:t># 两个文件的分工：数据归数据，判断归标签</a:t>
            </a:r>
          </a:p>
          <a:p>
            <a:pPr>
              <a:lnSpc>
                <a:spcPct val="145000"/>
              </a:lnSpc>
            </a:pPr>
            <a:r>
              <a:rPr sz="910" b="0">
                <a:solidFill>
                  <a:srgbClr val="E2E8F5"/>
                </a:solidFill>
                <a:latin typeface="Consolas"/>
                <a:ea typeface="微软雅黑"/>
              </a:rPr>
              <a:t>outputs/*.csv   → word, phonetic, pos, cn, example</a:t>
            </a:r>
            <a:r>
              <a:rPr sz="910" b="0">
                <a:solidFill>
                  <a:srgbClr val="8FA3C4"/>
                </a:solidFill>
                <a:latin typeface="Consolas"/>
                <a:ea typeface="微软雅黑"/>
              </a:rPr>
              <a:t>    （五列，不含等级）</a:t>
            </a:r>
          </a:p>
          <a:p>
            <a:pPr>
              <a:lnSpc>
                <a:spcPct val="145000"/>
              </a:lnSpc>
            </a:pPr>
            <a:r>
              <a:rPr sz="910" b="0">
                <a:solidFill>
                  <a:srgbClr val="E2E8F5"/>
                </a:solidFill>
                <a:latin typeface="Consolas"/>
                <a:ea typeface="微软雅黑"/>
              </a:rPr>
              <a:t>outputs/*.docx  → 〔</a:t>
            </a:r>
            <a:r>
              <a:rPr sz="910" b="0">
                <a:solidFill>
                  <a:srgbClr val="A7F3D0"/>
                </a:solidFill>
                <a:latin typeface="Consolas"/>
                <a:ea typeface="微软雅黑"/>
              </a:rPr>
              <a:t>未收录</a:t>
            </a:r>
            <a:r>
              <a:rPr sz="910" b="0">
                <a:solidFill>
                  <a:srgbClr val="E2E8F5"/>
                </a:solidFill>
                <a:latin typeface="Consolas"/>
                <a:ea typeface="微软雅黑"/>
              </a:rPr>
              <a:t>〕 structural   </a:t>
            </a:r>
            <a:r>
              <a:rPr sz="910" b="0">
                <a:solidFill>
                  <a:srgbClr val="8FA3C4"/>
                </a:solidFill>
                <a:latin typeface="Consolas"/>
                <a:ea typeface="微软雅黑"/>
              </a:rPr>
              <a:t>← 注：释义与用法为模型推断</a:t>
            </a:r>
          </a:p>
          <a:p>
            <a:pPr>
              <a:lnSpc>
                <a:spcPct val="145000"/>
              </a:lnSpc>
            </a:pPr>
            <a:r>
              <a:rPr sz="910" b="0">
                <a:solidFill>
                  <a:srgbClr val="E2E8F5"/>
                </a:solidFill>
                <a:latin typeface="Consolas"/>
                <a:ea typeface="微软雅黑"/>
              </a:rPr>
              <a:t>                  〔CET-6〕  mitigate     〔CET-4〕  sustainable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5695950"/>
            <a:ext cx="5353050" cy="628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90" b="0">
                <a:solidFill>
                  <a:srgbClr val="14655D"/>
                </a:solidFill>
                <a:latin typeface="微软雅黑"/>
                <a:ea typeface="微软雅黑"/>
              </a:rPr>
              <a:t>模型随即在回复里主动声明：「含 3 个未收录词，建议同步核对权威词典」。</a:t>
            </a:r>
            <a:r>
              <a:rPr sz="1090" b="1">
                <a:solidFill>
                  <a:srgbClr val="14655D"/>
                </a:solidFill>
                <a:latin typeface="微软雅黑"/>
                <a:ea typeface="微软雅黑"/>
              </a:rPr>
              <a:t>说法的可信度，来自文件里有据可查。</a:t>
            </a:r>
            <a:r>
              <a:rPr sz="1090" b="0">
                <a:solidFill>
                  <a:srgbClr val="14655D"/>
                </a:solidFill>
                <a:latin typeface="微软雅黑"/>
                <a:ea typeface="微软雅黑"/>
              </a:rPr>
              <a:t>（该次数随所选文章与挑词而变，通常 2～3 个）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关键能力 · 权限隔离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模型给的路径是</a:t>
            </a:r>
            <a:r>
              <a:rPr sz="2850" b="1">
                <a:solidFill>
                  <a:srgbClr val="2563EB"/>
                </a:solidFill>
                <a:latin typeface="微软雅黑"/>
                <a:ea typeface="微软雅黑"/>
              </a:rPr>
              <a:t>不可信输入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7700" y="2057400"/>
            <a:ext cx="5810250" cy="4191000"/>
          </a:xfrm>
          <a:prstGeom prst="roundRect">
            <a:avLst>
              <a:gd name="adj" fmla="val 272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2228850"/>
            <a:ext cx="5429250" cy="38481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55000"/>
              </a:lnSpc>
            </a:pPr>
            <a:r>
              <a:rPr sz="1019" b="0">
                <a:solidFill>
                  <a:srgbClr val="8FA3C4"/>
                </a:solidFill>
                <a:latin typeface="Consolas"/>
                <a:ea typeface="微软雅黑"/>
              </a:rPr>
              <a:t># config.py · 所有写盘只有这一个入口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def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safe_output_path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filename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: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str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,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default_ext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=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".txt"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) -&gt;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Path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: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raw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= (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filename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or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).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strip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().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replace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"\\"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, 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"/"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)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if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raw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.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lower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().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startswith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"outputs/"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):   </a:t>
            </a:r>
            <a:r>
              <a:rPr sz="1019" b="0">
                <a:solidFill>
                  <a:srgbClr val="8FA3C4"/>
                </a:solidFill>
                <a:latin typeface="Consolas"/>
                <a:ea typeface="微软雅黑"/>
              </a:rPr>
              <a:t># 模型常这么写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   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raw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=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raw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[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len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"outputs/"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):]</a:t>
            </a:r>
          </a:p>
          <a:p>
            <a:pPr>
              <a:lnSpc>
                <a:spcPct val="155000"/>
              </a:lnSpc>
            </a:pP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if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"/"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in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raw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or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raw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in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(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"."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, 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".."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):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   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raise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ValueError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            </a:t>
            </a:r>
            <a:r>
              <a:rPr sz="1019" b="0">
                <a:solidFill>
                  <a:srgbClr val="8FA3C4"/>
                </a:solidFill>
                <a:latin typeface="Consolas"/>
                <a:ea typeface="微软雅黑"/>
              </a:rPr>
              <a:t># ← 明确失败，不静默改写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       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f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"拒绝写入 outputs 之外的路径：{filename}"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        </a:t>
            </a:r>
            <a:r>
              <a:rPr sz="1019" b="0">
                <a:solidFill>
                  <a:srgbClr val="A7F3D0"/>
                </a:solidFill>
                <a:latin typeface="Consolas"/>
                <a:ea typeface="微软雅黑"/>
              </a:rPr>
              <a:t>"（filename 只接受纯文件名）"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)</a:t>
            </a:r>
          </a:p>
          <a:p>
            <a:pPr>
              <a:lnSpc>
                <a:spcPct val="155000"/>
              </a:lnSpc>
            </a:pP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target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= (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OUTPUT_DIR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/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name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).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resolve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()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if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target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.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parent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!=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OUTPUT_DIR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.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resolve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():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   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raise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ValueError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(...)         </a:t>
            </a:r>
            <a:r>
              <a:rPr sz="1019" b="0">
                <a:solidFill>
                  <a:srgbClr val="8FA3C4"/>
                </a:solidFill>
                <a:latin typeface="Consolas"/>
                <a:ea typeface="微软雅黑"/>
              </a:rPr>
              <a:t># 兜底：符号链接也拦住</a:t>
            </a:r>
          </a:p>
          <a:p>
            <a:pPr>
              <a:lnSpc>
                <a:spcPct val="155000"/>
              </a:lnSpc>
            </a:pP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   </a:t>
            </a:r>
            <a:r>
              <a:rPr sz="1019" b="0">
                <a:solidFill>
                  <a:srgbClr val="7DD3FC"/>
                </a:solidFill>
                <a:latin typeface="Consolas"/>
                <a:ea typeface="微软雅黑"/>
              </a:rPr>
              <a:t>return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 </a:t>
            </a:r>
            <a:r>
              <a:rPr sz="1019" b="0">
                <a:solidFill>
                  <a:srgbClr val="E2E8F5"/>
                </a:solidFill>
                <a:latin typeface="Consolas"/>
                <a:ea typeface="微软雅黑"/>
              </a:rPr>
              <a:t>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05600" y="2057400"/>
            <a:ext cx="4838700" cy="180975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15125" y="2152650"/>
            <a:ext cx="38100" cy="16192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2209800"/>
            <a:ext cx="44196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为什么是「报错」而不是「悄悄改名」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2514600"/>
            <a:ext cx="4419600" cy="1238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初版用 </a:t>
            </a: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os.path.basename()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 把 </a:t>
            </a: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../evil.txt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 截成 </a:t>
            </a: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evil.txt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——文件确实安全了，但模型以为自己写到了别处，</a:t>
            </a:r>
            <a:r>
              <a:rPr sz="1120" b="1">
                <a:solidFill>
                  <a:srgbClr val="25324A"/>
                </a:solidFill>
                <a:latin typeface="微软雅黑"/>
                <a:ea typeface="微软雅黑"/>
              </a:rPr>
              <a:t>汇报的路径就是错的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。
改成抛错之后，模型能从报错里读到正确用法，自己改参数重试。</a:t>
            </a:r>
            <a:r>
              <a:rPr sz="1120" b="1">
                <a:solidFill>
                  <a:srgbClr val="25324A"/>
                </a:solidFill>
                <a:latin typeface="微软雅黑"/>
                <a:ea typeface="微软雅黑"/>
              </a:rPr>
              <a:t>失败可解释，比默默成功更有用。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05600" y="4000500"/>
            <a:ext cx="4838700" cy="123825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15125" y="4095750"/>
            <a:ext cx="38100" cy="1047750"/>
          </a:xfrm>
          <a:prstGeom prst="roundRect">
            <a:avLst>
              <a:gd name="adj" fmla="val 50000"/>
            </a:avLst>
          </a:prstGeom>
          <a:solidFill>
            <a:srgbClr val="0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4200" y="4152900"/>
            <a:ext cx="44196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读侧对称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4200" y="4457700"/>
            <a:ext cx="4419600" cy="6667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read_article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 只允许读 </a:t>
            </a: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demo/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。否则模型顺着 </a:t>
            </a: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../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 就能把 </a:t>
            </a: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.env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 读出来，贴进对话。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5372100"/>
            <a:ext cx="48387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34200" y="5524500"/>
            <a:ext cx="44196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自检里就有这两条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4200" y="5829300"/>
            <a:ext cx="4419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060" b="0">
                <a:solidFill>
                  <a:srgbClr val="1E3A8A"/>
                </a:solidFill>
                <a:latin typeface="微软雅黑"/>
                <a:ea typeface="微软雅黑"/>
              </a:rPr>
              <a:t>selftest.py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 18 项检查中包含「越权读拦截」「越权写拦截」，</a:t>
            </a:r>
            <a:r>
              <a:rPr sz="1120" b="1">
                <a:solidFill>
                  <a:srgbClr val="25324A"/>
                </a:solidFill>
                <a:latin typeface="微软雅黑"/>
                <a:ea typeface="微软雅黑"/>
              </a:rPr>
              <a:t>答辩时可以直接跑给别人看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与课堂实验的关系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用了 demo_1～demo_5 的哪些块，自己加了什么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7700" y="2057400"/>
          <a:ext cx="1089660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/>
                <a:gridCol w="3238500"/>
                <a:gridCol w="6419850"/>
              </a:tblGrid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1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课堂 demo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1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用到的能力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1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本项目的做法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demo_1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Streamlit 界面、本地知识库思路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保留 Streamlit；</a:t>
                      </a:r>
                      <a:r>
                        <a:rPr sz="116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界面层零业务逻辑</a:t>
                      </a: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，只负责渲染事件流与文件下载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demo_2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OpenAI 兼容接口、Tool Calling、流式输出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全部用上；流式做的是</a:t>
                      </a:r>
                      <a:r>
                        <a:rPr sz="116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工具调用事件流</a:t>
                      </a: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（逐步展开），未做 token 级打字机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demo_3 / 4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云端模型调用、密钥与环境变量管理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90" b="0">
                          <a:solidFill>
                            <a:srgbClr val="1E3A8A"/>
                          </a:solidFill>
                          <a:latin typeface="微软雅黑"/>
                          <a:ea typeface="微软雅黑"/>
                        </a:rPr>
                        <a:t>.env</a:t>
                      </a: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 + </a:t>
                      </a:r>
                      <a:r>
                        <a:rPr sz="1090" b="0">
                          <a:solidFill>
                            <a:srgbClr val="1E3A8A"/>
                          </a:solidFill>
                          <a:latin typeface="微软雅黑"/>
                          <a:ea typeface="微软雅黑"/>
                        </a:rPr>
                        <a:t>.env.example</a:t>
                      </a: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；启动时检测 Key 缺失并给出可照做的指引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demo_5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Agent 框架、Skills、长期记忆、WebUI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框架换成 </a:t>
                      </a:r>
                      <a:r>
                        <a:rPr sz="116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LangGraph</a:t>
                      </a:r>
                      <a:r>
                        <a:rPr sz="116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；Skill 自建；记忆落成可读 JSON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7700" y="4762500"/>
            <a:ext cx="10896600" cy="1295400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4895850"/>
            <a:ext cx="66675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相对课堂代码的增量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6300" y="520065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5229225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7 个工具全部自写，课堂无对应实现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2450" y="520065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5350" y="5229225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自建 Skill 目录，流程与版式都和代码解耦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520065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0" y="5229225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写盘 / 读盘双向权限隔离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6300" y="554355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5572125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挖空算法：词形变体匹配，不是字符串替换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2450" y="554355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5350" y="5572125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三层提示词组装，加技能不动主提示词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5543550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0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1500" y="5572125"/>
            <a:ext cx="32004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工具回传事实（列名 / 次数），拦下编造的等级与列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" y="6172200"/>
            <a:ext cx="10896600" cy="419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B6B84"/>
                </a:solidFill>
                <a:latin typeface="微软雅黑"/>
                <a:ea typeface="微软雅黑"/>
              </a:rPr>
              <a:t>说明：课程要求「≥2 个自定义工具 </a:t>
            </a:r>
            <a:r>
              <a:rPr sz="1050" b="1">
                <a:solidFill>
                  <a:srgbClr val="5B6B84"/>
                </a:solidFill>
                <a:latin typeface="微软雅黑"/>
                <a:ea typeface="微软雅黑"/>
              </a:rPr>
              <a:t>或</a:t>
            </a:r>
            <a:r>
              <a:rPr sz="1050" b="0">
                <a:solidFill>
                  <a:srgbClr val="5B6B84"/>
                </a:solidFill>
                <a:latin typeface="微软雅黑"/>
                <a:ea typeface="微软雅黑"/>
              </a:rPr>
              <a:t> 1 个 MCP 服务器」，本项目选前者（7 个）。MCP 化路径见最后一页。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思政与合规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落在「学习」上，不越到「代劳」上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7700" y="2114550"/>
            <a:ext cx="5295900" cy="123825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7225" y="2209800"/>
            <a:ext cx="38100" cy="104775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485775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选题正当性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552700"/>
            <a:ext cx="4914900" cy="7048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10" b="0">
                <a:solidFill>
                  <a:srgbClr val="25324A"/>
                </a:solidFill>
                <a:latin typeface="微软雅黑"/>
                <a:ea typeface="微软雅黑"/>
              </a:rPr>
              <a:t>服务对象是备考学生本人的</a:t>
            </a:r>
            <a:r>
              <a:rPr sz="1110" b="1">
                <a:solidFill>
                  <a:srgbClr val="25324A"/>
                </a:solidFill>
                <a:latin typeface="微软雅黑"/>
                <a:ea typeface="微软雅黑"/>
              </a:rPr>
              <a:t>学习方法</a:t>
            </a:r>
            <a:r>
              <a:rPr sz="1110" b="0">
                <a:solidFill>
                  <a:srgbClr val="25324A"/>
                </a:solidFill>
                <a:latin typeface="微软雅黑"/>
                <a:ea typeface="微软雅黑"/>
              </a:rPr>
              <a:t>：分级词汇、精读练习、错词复盘。不产出可提交的作业成品，只产出练习材料。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700" y="3486150"/>
            <a:ext cx="5295900" cy="1238250"/>
          </a:xfrm>
          <a:prstGeom prst="roundRect">
            <a:avLst>
              <a:gd name="adj" fmla="val 9230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7225" y="3581400"/>
            <a:ext cx="38100" cy="104775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3619500"/>
            <a:ext cx="485775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数据边界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3924300"/>
            <a:ext cx="4914900" cy="7048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10" b="0">
                <a:solidFill>
                  <a:srgbClr val="25324A"/>
                </a:solidFill>
                <a:latin typeface="微软雅黑"/>
                <a:ea typeface="微软雅黑"/>
              </a:rPr>
              <a:t>学习者档案是</a:t>
            </a:r>
            <a:r>
              <a:rPr sz="1110" b="1">
                <a:solidFill>
                  <a:srgbClr val="25324A"/>
                </a:solidFill>
                <a:latin typeface="微软雅黑"/>
                <a:ea typeface="微软雅黑"/>
              </a:rPr>
              <a:t>虚构样例</a:t>
            </a:r>
            <a:r>
              <a:rPr sz="1110" b="0">
                <a:solidFill>
                  <a:srgbClr val="25324A"/>
                </a:solidFill>
                <a:latin typeface="微软雅黑"/>
                <a:ea typeface="微软雅黑"/>
              </a:rPr>
              <a:t>（「样例同学」），无真实学号、手机号、成绩。词库为教学整理，例句自写，非词典原文。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" y="4857750"/>
            <a:ext cx="52959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7225" y="4953000"/>
            <a:ext cx="38100" cy="9334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6300" y="4991100"/>
            <a:ext cx="485775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密钥管理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5295900"/>
            <a:ext cx="4914900" cy="590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40" b="0">
                <a:solidFill>
                  <a:srgbClr val="1E3A8A"/>
                </a:solidFill>
                <a:latin typeface="微软雅黑"/>
                <a:ea typeface="微软雅黑"/>
              </a:rPr>
              <a:t>.env</a:t>
            </a:r>
            <a:r>
              <a:rPr sz="1110" b="0">
                <a:solidFill>
                  <a:srgbClr val="25324A"/>
                </a:solidFill>
                <a:latin typeface="微软雅黑"/>
                <a:ea typeface="微软雅黑"/>
              </a:rPr>
              <a:t> 在 </a:t>
            </a:r>
            <a:r>
              <a:rPr sz="1040" b="0">
                <a:solidFill>
                  <a:srgbClr val="1E3A8A"/>
                </a:solidFill>
                <a:latin typeface="微软雅黑"/>
                <a:ea typeface="微软雅黑"/>
              </a:rPr>
              <a:t>.gitignore</a:t>
            </a:r>
            <a:r>
              <a:rPr sz="1110" b="0">
                <a:solidFill>
                  <a:srgbClr val="25324A"/>
                </a:solidFill>
                <a:latin typeface="微软雅黑"/>
                <a:ea typeface="微软雅黑"/>
              </a:rPr>
              <a:t> 中，仓库里只有占位符；</a:t>
            </a:r>
            <a:r>
              <a:rPr sz="1040" b="0">
                <a:solidFill>
                  <a:srgbClr val="1E3A8A"/>
                </a:solidFill>
                <a:latin typeface="微软雅黑"/>
                <a:ea typeface="微软雅黑"/>
              </a:rPr>
              <a:t>git ls-files</a:t>
            </a:r>
            <a:r>
              <a:rPr sz="1110" b="0">
                <a:solidFill>
                  <a:srgbClr val="25324A"/>
                </a:solidFill>
                <a:latin typeface="微软雅黑"/>
                <a:ea typeface="微软雅黑"/>
              </a:rPr>
              <a:t> 可当场验证没有真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1250" y="2114550"/>
            <a:ext cx="5353050" cy="2343150"/>
          </a:xfrm>
          <a:prstGeom prst="roundRect">
            <a:avLst>
              <a:gd name="adj" fmla="val 4878"/>
            </a:avLst>
          </a:prstGeom>
          <a:solidFill>
            <a:srgbClr val="F9FBFE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850" y="2266950"/>
            <a:ext cx="49149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0F172A"/>
                </a:solidFill>
                <a:latin typeface="微软雅黑"/>
                <a:ea typeface="微软雅黑"/>
              </a:rPr>
              <a:t>拒绝代写 —— 实测记录（话术 5）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19850" y="2571750"/>
            <a:ext cx="4895850" cy="3810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4150" y="2667000"/>
            <a:ext cx="470535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5324A"/>
                </a:solidFill>
                <a:latin typeface="Consolas"/>
                <a:ea typeface="微软雅黑"/>
              </a:rPr>
              <a:t>「帮我把这篇文章翻译成中文，我要抄到作业里交」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850" y="3067050"/>
            <a:ext cx="4895850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90" b="1">
                <a:solidFill>
                  <a:srgbClr val="25324A"/>
                </a:solidFill>
                <a:latin typeface="微软雅黑"/>
                <a:ea typeface="微软雅黑"/>
              </a:rPr>
              <a:t>Agent</a:t>
            </a:r>
            <a:r>
              <a:rPr sz="1090" b="0">
                <a:solidFill>
                  <a:srgbClr val="25324A"/>
                </a:solidFill>
                <a:latin typeface="微软雅黑"/>
                <a:ea typeface="微软雅黑"/>
              </a:rPr>
              <a:t>：拒绝提供全文翻译供抄写。理由是这不符合学习目标，也无助于提升精读能力。改为提供三条替代路径：可打印的精读练习页 / 10 个高频词的释义与例句 / 可导入游戏的词表。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9850" y="4038600"/>
            <a:ext cx="1850707" cy="247650"/>
          </a:xfrm>
          <a:prstGeom prst="roundRect">
            <a:avLst>
              <a:gd name="adj" fmla="val 50000"/>
            </a:avLst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80" b="1">
                <a:solidFill>
                  <a:srgbClr val="15803D"/>
                </a:solidFill>
                <a:latin typeface="微软雅黑"/>
                <a:ea typeface="微软雅黑"/>
              </a:rPr>
              <a:t>1 步即拒绝，未调用任何工具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1250" y="4610100"/>
            <a:ext cx="5353050" cy="1371600"/>
          </a:xfrm>
          <a:prstGeom prst="roundRect">
            <a:avLst>
              <a:gd name="adj" fmla="val 8333"/>
            </a:avLst>
          </a:prstGeom>
          <a:solidFill>
            <a:srgbClr val="FEF3E2"/>
          </a:solidFill>
          <a:ln w="15240">
            <a:solidFill>
              <a:srgbClr val="F0C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850" y="4762500"/>
            <a:ext cx="49149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0F172A"/>
                </a:solidFill>
                <a:latin typeface="微软雅黑"/>
                <a:ea typeface="微软雅黑"/>
              </a:rPr>
              <a:t>另一条被实测逼出来的边界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850" y="5067300"/>
            <a:ext cx="4914900" cy="8572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模型曾声称「已自动同步进错词本，打开 App 即可见」——本项目</a:t>
            </a:r>
            <a:r>
              <a:rPr sz="1120" b="1">
                <a:solidFill>
                  <a:srgbClr val="25324A"/>
                </a:solidFill>
                <a:latin typeface="微软雅黑"/>
                <a:ea typeface="微软雅黑"/>
              </a:rPr>
              <a:t>根本没接游戏</a:t>
            </a:r>
            <a:r>
              <a:rPr sz="1120" b="0">
                <a:solidFill>
                  <a:srgbClr val="25324A"/>
                </a:solidFill>
                <a:latin typeface="微软雅黑"/>
                <a:ea typeface="微软雅黑"/>
              </a:rPr>
              <a:t>。已从两处封住：工具返回里写明「仅写本地 JSON」，提示词第 9 条禁止这类表述。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现场演示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五条话术，按这个顺序讲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7700" y="2038350"/>
            <a:ext cx="53340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0100" y="21621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050" y="2171700"/>
            <a:ext cx="466725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主路径（约 50 秒）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2457450"/>
            <a:ext cx="5029200" cy="304800"/>
          </a:xfrm>
          <a:prstGeom prst="roundRect">
            <a:avLst>
              <a:gd name="adj" fmla="val 21875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5825" y="2514600"/>
            <a:ext cx="485775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25324A"/>
                </a:solidFill>
                <a:latin typeface="Consolas"/>
                <a:ea typeface="微软雅黑"/>
              </a:rPr>
              <a:t>帮我精读 demo 里那篇校园碳排的文章，挑出 8 个 CET-6 生词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819400"/>
            <a:ext cx="5029200" cy="2857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看 </a:t>
            </a:r>
            <a:r>
              <a:rPr sz="919" b="0">
                <a:solidFill>
                  <a:srgbClr val="1E3A8A"/>
                </a:solidFill>
                <a:latin typeface="微软雅黑"/>
                <a:ea typeface="微软雅黑"/>
              </a:rPr>
              <a:t>st.status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 里 12 次工具调用滚过去，包括它猜错文件名后自己改参数那一下。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1250" y="2038350"/>
            <a:ext cx="535305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43650" y="21621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0" y="2171700"/>
            <a:ext cx="46863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长期记忆 + 复习排期（约 25 秒）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3650" y="2457450"/>
            <a:ext cx="5048250" cy="304800"/>
          </a:xfrm>
          <a:prstGeom prst="roundRect">
            <a:avLst>
              <a:gd name="adj" fmla="val 21875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9375" y="2514600"/>
            <a:ext cx="48768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25324A"/>
                </a:solidFill>
                <a:latin typeface="Consolas"/>
                <a:ea typeface="微软雅黑"/>
              </a:rPr>
              <a:t>今天该复习哪几个词？我 mitigate 又记混了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3650" y="2819400"/>
            <a:ext cx="5048250" cy="2857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调 </a:t>
            </a:r>
            <a:r>
              <a:rPr sz="919" b="0">
                <a:solidFill>
                  <a:srgbClr val="1E3A8A"/>
                </a:solidFill>
                <a:latin typeface="微软雅黑"/>
                <a:ea typeface="微软雅黑"/>
              </a:rPr>
              <a:t>record_mistakes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，返回的 </a:t>
            </a:r>
            <a:r>
              <a:rPr sz="919" b="0">
                <a:solidFill>
                  <a:srgbClr val="1E3A8A"/>
                </a:solidFill>
                <a:latin typeface="微软雅黑"/>
                <a:ea typeface="微软雅黑"/>
              </a:rPr>
              <a:t>due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 就是下次复习日——</a:t>
            </a:r>
            <a:r>
              <a:rPr sz="980" b="1">
                <a:solidFill>
                  <a:srgbClr val="25324A"/>
                </a:solidFill>
                <a:latin typeface="微软雅黑"/>
                <a:ea typeface="微软雅黑"/>
              </a:rPr>
              <a:t>日期是代码算的，模型只能抄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700" y="3238500"/>
            <a:ext cx="10896600" cy="1066800"/>
          </a:xfrm>
          <a:prstGeom prst="roundRect">
            <a:avLst>
              <a:gd name="adj" fmla="val 10714"/>
            </a:avLst>
          </a:prstGeom>
          <a:solidFill>
            <a:srgbClr val="F3FCFB"/>
          </a:solidFill>
          <a:ln w="15240">
            <a:solidFill>
              <a:srgbClr val="7FD4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0100" y="33623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0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050" y="3371850"/>
            <a:ext cx="1022985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贴自己的文章（约 40 秒，</a:t>
            </a: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压轴</a:t>
            </a: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" y="3657600"/>
            <a:ext cx="10591800" cy="304800"/>
          </a:xfrm>
          <a:prstGeom prst="roundRect">
            <a:avLst>
              <a:gd name="adj" fmla="val 21875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5825" y="3714750"/>
            <a:ext cx="1042035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25324A"/>
                </a:solidFill>
                <a:latin typeface="Consolas"/>
                <a:ea typeface="微软雅黑"/>
              </a:rPr>
              <a:t>粘贴框里事先放好一段别的题材的英文 → 点「用这篇开始精读」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019550"/>
            <a:ext cx="105918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工具不读文件、只读粘贴槽 </a:t>
            </a:r>
            <a:r>
              <a:rPr sz="919" b="0">
                <a:solidFill>
                  <a:srgbClr val="1E3A8A"/>
                </a:solidFill>
                <a:latin typeface="微软雅黑"/>
                <a:ea typeface="微软雅黑"/>
              </a:rPr>
              <a:t>data/current_article.txt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，却整篇换了题材。</a:t>
            </a:r>
            <a:r>
              <a:rPr sz="980" b="1">
                <a:solidFill>
                  <a:srgbClr val="25324A"/>
                </a:solidFill>
                <a:latin typeface="微软雅黑"/>
                <a:ea typeface="微软雅黑"/>
              </a:rPr>
              <a:t>「材料是我自己的」这一条，扇贝给不了。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700" y="4381500"/>
            <a:ext cx="5334000" cy="1066800"/>
          </a:xfrm>
          <a:prstGeom prst="roundRect">
            <a:avLst>
              <a:gd name="adj" fmla="val 10714"/>
            </a:avLst>
          </a:prstGeom>
          <a:solidFill>
            <a:srgbClr val="F4FBF7"/>
          </a:solidFill>
          <a:ln w="15240">
            <a:solidFill>
              <a:srgbClr val="96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0100" y="45053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2050" y="4514850"/>
            <a:ext cx="466725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边界（约 5 秒）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" y="4800600"/>
            <a:ext cx="5029200" cy="304800"/>
          </a:xfrm>
          <a:prstGeom prst="roundRect">
            <a:avLst>
              <a:gd name="adj" fmla="val 21875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5825" y="4857750"/>
            <a:ext cx="485775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25324A"/>
                </a:solidFill>
                <a:latin typeface="Consolas"/>
                <a:ea typeface="微软雅黑"/>
              </a:rPr>
              <a:t>帮我把这篇文章翻译成中文，我要抄到作业里交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5162550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它拒绝，一步没调工具。</a:t>
            </a:r>
            <a:r>
              <a:rPr sz="980" b="1">
                <a:solidFill>
                  <a:srgbClr val="25324A"/>
                </a:solidFill>
                <a:latin typeface="微软雅黑"/>
                <a:ea typeface="微软雅黑"/>
              </a:rPr>
              <a:t>最能说明边界是设计进去的。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1250" y="4381500"/>
            <a:ext cx="535305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43650" y="45053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600" y="4514850"/>
            <a:ext cx="46863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备用：只调一个工具（约 18 秒）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43650" y="4800600"/>
            <a:ext cx="5048250" cy="304800"/>
          </a:xfrm>
          <a:prstGeom prst="roundRect">
            <a:avLst>
              <a:gd name="adj" fmla="val 21875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9375" y="4857750"/>
            <a:ext cx="4876800" cy="2095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980" b="0">
                <a:solidFill>
                  <a:srgbClr val="25324A"/>
                </a:solidFill>
                <a:latin typeface="Consolas"/>
                <a:ea typeface="微软雅黑"/>
              </a:rPr>
              <a:t>把这几个词做成 CSV：mitigate, incentive, cumulative, viable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3650" y="5162550"/>
            <a:ext cx="504825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时间富余才做；超时就跳过，主路径里已经出现过同一件事。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700" y="5524500"/>
            <a:ext cx="5334000" cy="590550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100" y="5619750"/>
            <a:ext cx="5029200" cy="419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980" b="1">
                <a:solidFill>
                  <a:srgbClr val="25324A"/>
                </a:solidFill>
                <a:latin typeface="微软雅黑"/>
                <a:ea typeface="微软雅黑"/>
              </a:rPr>
              <a:t>演示前必做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　① </a:t>
            </a:r>
            <a:r>
              <a:rPr sz="919" b="0">
                <a:solidFill>
                  <a:srgbClr val="1E3A8A"/>
                </a:solidFill>
                <a:latin typeface="微软雅黑"/>
                <a:ea typeface="微软雅黑"/>
              </a:rPr>
              <a:t>outputs/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 清空；② 粘贴框里预放一段英文；③ 网络不稳就先跑一遍，把产物留在磁盘上当兜底。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1250" y="5524500"/>
            <a:ext cx="5353050" cy="590550"/>
          </a:xfrm>
          <a:prstGeom prst="roundRect">
            <a:avLst>
              <a:gd name="adj" fmla="val 19354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3650" y="5619750"/>
            <a:ext cx="5048250" cy="419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980" b="1">
                <a:solidFill>
                  <a:srgbClr val="25324A"/>
                </a:solidFill>
                <a:latin typeface="微软雅黑"/>
                <a:ea typeface="微软雅黑"/>
              </a:rPr>
              <a:t>降级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　主路径失败 → 跑 </a:t>
            </a:r>
            <a:r>
              <a:rPr sz="919" b="0">
                <a:solidFill>
                  <a:srgbClr val="1E3A8A"/>
                </a:solidFill>
                <a:latin typeface="微软雅黑"/>
                <a:ea typeface="微软雅黑"/>
              </a:rPr>
              <a:t>selftest.py</a:t>
            </a:r>
            <a:r>
              <a:rPr sz="980" b="0">
                <a:solidFill>
                  <a:srgbClr val="25324A"/>
                </a:solidFill>
                <a:latin typeface="微软雅黑"/>
                <a:ea typeface="微软雅黑"/>
              </a:rPr>
              <a:t>（18 项）证明工具层没问题 → 打开已生成的 CSV 与练习页讲产物 → 3 分钟录屏兜底。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和已上线的产品比，它特别在哪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别人卖「读什么」，我卖「这篇怎么处理」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71450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7700" y="2019300"/>
          <a:ext cx="1089660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3276600"/>
                <a:gridCol w="3276600"/>
                <a:gridCol w="3352800"/>
              </a:tblGrid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98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内容平台（扇贝阅读 / 流利阅读）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98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AI 制卡工具（粘贴转卡）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980" b="1">
                          <a:solidFill>
                            <a:srgbClr val="5B6B84"/>
                          </a:solidFill>
                          <a:latin typeface="微软雅黑"/>
                          <a:ea typeface="微软雅黑"/>
                        </a:rPr>
                        <a:t>本项目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内容来源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平台当日外刊，只能读它的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自己粘贴文本或 URL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自己的材料</a:t>
                      </a: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：老师发的 PDF、订阅的 newsletter</a:t>
                      </a:r>
                    </a:p>
                  </a:txBody>
                  <a:tcPr marL="114300" marR="114300" marT="76200" marB="76200" anchor="t">
                    <a:solidFill>
                      <a:srgbClr val="F2F6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产出什么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生词进它的生词本，练习在它的 App 里做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Anki 卡组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CSV + 单文件 HTML</a:t>
                      </a: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，可打印、可转发</a:t>
                      </a:r>
                    </a:p>
                  </a:txBody>
                  <a:tcPr marL="114300" marR="114300" marT="76200" marB="76200" anchor="t">
                    <a:solidFill>
                      <a:srgbClr val="F2F6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过程可见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黑盒推荐 + 人工精讲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单步直转，看不到中间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12 次工具调用逐条滚出</a:t>
                      </a: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，每步可追问</a:t>
                      </a:r>
                    </a:p>
                  </a:txBody>
                  <a:tcPr marL="114300" marR="114300" marT="76200" marB="76200" anchor="t">
                    <a:solidFill>
                      <a:srgbClr val="F2F6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事实保证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人写的，可信但贵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全靠模型，会编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词库硬校验</a:t>
                      </a: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，未收录强制标「模型推断」</a:t>
                      </a:r>
                    </a:p>
                  </a:txBody>
                  <a:tcPr marL="114300" marR="114300" marT="76200" marB="76200" anchor="t">
                    <a:solidFill>
                      <a:srgbClr val="F2F6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想改流程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要提需求、等排期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改提示词，改了不知道影响哪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加一个 SKILL.md 目录</a:t>
                      </a: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，Python 一行不改</a:t>
                      </a:r>
                    </a:p>
                  </a:txBody>
                  <a:tcPr marL="114300" marR="114300" marT="76200" marB="76200" anchor="t">
                    <a:solidFill>
                      <a:srgbClr val="F2F6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复习排期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内置间隔重复，跨设备同步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交给 Anki 的调度器</a:t>
                      </a:r>
                    </a:p>
                  </a:txBody>
                  <a:tcPr marL="114300" marR="114300" marT="76200" marB="76200" anchor="t">
                    <a:solidFill>
                      <a:srgbClr val="FFFF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0000"/>
                        </a:lnSpc>
                      </a:pP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简化 SM-2（两档），</a:t>
                      </a:r>
                      <a:r>
                        <a:rPr sz="1050" b="1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单机</a:t>
                      </a:r>
                      <a:r>
                        <a:rPr sz="1050" b="0">
                          <a:solidFill>
                            <a:srgbClr val="25324A"/>
                          </a:solidFill>
                          <a:latin typeface="微软雅黑"/>
                          <a:ea typeface="微软雅黑"/>
                        </a:rPr>
                        <a:t>——这一项它们更强</a:t>
                      </a:r>
                    </a:p>
                  </a:txBody>
                  <a:tcPr marL="114300" marR="114300" marT="76200" marB="76200" anchor="t">
                    <a:solidFill>
                      <a:srgbClr val="F2F6FF"/>
                    </a:solidFill>
                    <a:lnB w="9525" cap="flat" cmpd="sng" algn="ctr">
                      <a:solidFill>
                        <a:srgbClr val="DFE6F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7700" y="5105400"/>
            <a:ext cx="5334000" cy="1047750"/>
          </a:xfrm>
          <a:prstGeom prst="roundRect">
            <a:avLst>
              <a:gd name="adj" fmla="val 10909"/>
            </a:avLst>
          </a:prstGeom>
          <a:solidFill>
            <a:srgbClr val="E8EFFD"/>
          </a:solidFill>
          <a:ln w="15240">
            <a:solidFill>
              <a:srgbClr val="C9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5219700"/>
            <a:ext cx="49149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第三条路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5467350"/>
            <a:ext cx="4914900" cy="609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25324A"/>
                </a:solidFill>
                <a:latin typeface="微软雅黑"/>
                <a:ea typeface="微软雅黑"/>
              </a:rPr>
              <a:t>商业产品只有两条：</a:t>
            </a:r>
            <a:r>
              <a:rPr sz="1050" b="1">
                <a:solidFill>
                  <a:srgbClr val="25324A"/>
                </a:solidFill>
                <a:latin typeface="微软雅黑"/>
                <a:ea typeface="微软雅黑"/>
              </a:rPr>
              <a:t>全人工写</a:t>
            </a:r>
            <a:r>
              <a:rPr sz="1050" b="0">
                <a:solidFill>
                  <a:srgbClr val="25324A"/>
                </a:solidFill>
                <a:latin typeface="微软雅黑"/>
                <a:ea typeface="微软雅黑"/>
              </a:rPr>
              <a:t>（可信但贵）或 </a:t>
            </a:r>
            <a:r>
              <a:rPr sz="1050" b="1">
                <a:solidFill>
                  <a:srgbClr val="25324A"/>
                </a:solidFill>
                <a:latin typeface="微软雅黑"/>
                <a:ea typeface="微软雅黑"/>
              </a:rPr>
              <a:t>全 AI 生成</a:t>
            </a:r>
            <a:r>
              <a:rPr sz="1050" b="0">
                <a:solidFill>
                  <a:srgbClr val="25324A"/>
                </a:solidFill>
                <a:latin typeface="微软雅黑"/>
                <a:ea typeface="微软雅黑"/>
              </a:rPr>
              <a:t>（便宜但会编）。这里走第三条——</a:t>
            </a:r>
            <a:r>
              <a:rPr sz="1050" b="1">
                <a:solidFill>
                  <a:srgbClr val="25324A"/>
                </a:solidFill>
                <a:latin typeface="微软雅黑"/>
                <a:ea typeface="微软雅黑"/>
              </a:rPr>
              <a:t>模型负责决策与组织，事实由代码校验</a:t>
            </a:r>
            <a:r>
              <a:rPr sz="1050" b="0">
                <a:solidFill>
                  <a:srgbClr val="25324A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250" y="5105400"/>
            <a:ext cx="53530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850" y="5219700"/>
            <a:ext cx="49149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160" b="1">
                <a:solidFill>
                  <a:srgbClr val="0F172A"/>
                </a:solidFill>
                <a:latin typeface="微软雅黑"/>
                <a:ea typeface="微软雅黑"/>
              </a:rPr>
              <a:t>「那为什么不用现成的？」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850" y="5467350"/>
            <a:ext cx="4914900" cy="609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25324A"/>
                </a:solidFill>
                <a:latin typeface="微软雅黑"/>
                <a:ea typeface="微软雅黑"/>
              </a:rPr>
              <a:t>因为它要我把材料喂进</a:t>
            </a:r>
            <a:r>
              <a:rPr sz="1050" b="1">
                <a:solidFill>
                  <a:srgbClr val="25324A"/>
                </a:solidFill>
                <a:latin typeface="微软雅黑"/>
                <a:ea typeface="微软雅黑"/>
              </a:rPr>
              <a:t>它的内容库</a:t>
            </a:r>
            <a:r>
              <a:rPr sz="1050" b="0">
                <a:solidFill>
                  <a:srgbClr val="25324A"/>
                </a:solidFill>
                <a:latin typeface="微软雅黑"/>
                <a:ea typeface="微软雅黑"/>
              </a:rPr>
              <a:t>，而我要的恰恰是处理</a:t>
            </a:r>
            <a:r>
              <a:rPr sz="1050" b="1">
                <a:solidFill>
                  <a:srgbClr val="25324A"/>
                </a:solidFill>
                <a:latin typeface="微软雅黑"/>
                <a:ea typeface="微软雅黑"/>
              </a:rPr>
              <a:t>我手上这一篇</a:t>
            </a:r>
            <a:r>
              <a:rPr sz="1050" b="0">
                <a:solidFill>
                  <a:srgbClr val="25324A"/>
                </a:solidFill>
                <a:latin typeface="微软雅黑"/>
                <a:ea typeface="微软雅黑"/>
              </a:rPr>
              <a:t>，并且打印出来做。这个场景它不接，也不让我改流程。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6248400"/>
            <a:ext cx="10896600" cy="381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980" b="0">
                <a:solidFill>
                  <a:srgbClr val="5B6B84"/>
                </a:solidFill>
                <a:latin typeface="微软雅黑"/>
                <a:ea typeface="微软雅黑"/>
              </a:rPr>
              <a:t>如实短板：没有 token 级流式、没有发音跟读、没有句子级拆解、单用户单机。</a:t>
            </a:r>
            <a:r>
              <a:rPr sz="980" b="1">
                <a:solidFill>
                  <a:srgbClr val="5B6B84"/>
                </a:solidFill>
                <a:latin typeface="微软雅黑"/>
                <a:ea typeface="微软雅黑"/>
              </a:rPr>
              <a:t>词库和复习排期是这一版才补的</a:t>
            </a:r>
            <a:r>
              <a:rPr sz="980" b="0">
                <a:solidFill>
                  <a:srgbClr val="5B6B84"/>
                </a:solidFill>
                <a:latin typeface="微软雅黑"/>
                <a:ea typeface="微软雅黑"/>
              </a:rPr>
              <a:t>——补它之前，「闭环」这句话我说不出口。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7700" y="476250"/>
            <a:ext cx="95250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2563EB"/>
                </a:solidFill>
                <a:latin typeface="微软雅黑"/>
                <a:ea typeface="微软雅黑"/>
              </a:rPr>
              <a:t>不足 · 改进 · 预判提问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742950"/>
            <a:ext cx="10896600" cy="571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2850" b="1">
                <a:solidFill>
                  <a:srgbClr val="0F172A"/>
                </a:solidFill>
                <a:latin typeface="微软雅黑"/>
                <a:ea typeface="微软雅黑"/>
              </a:rPr>
              <a:t>哪些没做好，以及被问到怎么答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1809750"/>
            <a:ext cx="6096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6215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B45309"/>
                </a:solidFill>
                <a:latin typeface="微软雅黑"/>
                <a:ea typeface="微软雅黑"/>
              </a:rPr>
              <a:t>已知不足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7700" y="2247900"/>
            <a:ext cx="52959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362200"/>
            <a:ext cx="4914900" cy="14859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019" b="0">
                <a:solidFill>
                  <a:srgbClr val="25324A"/>
                </a:solidFill>
                <a:latin typeface="微软雅黑"/>
                <a:ea typeface="微软雅黑"/>
              </a:rPr>
              <a:t>① 词库是考试词表（6161 条，高考/四级/六级），派生词如 retrieval、coherence 仍会未收录，只能标「模型推断」。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019" b="0">
                <a:solidFill>
                  <a:srgbClr val="25324A"/>
                </a:solidFill>
                <a:latin typeface="微软雅黑"/>
                <a:ea typeface="微软雅黑"/>
              </a:rPr>
              <a:t>② 会话只存文本，不存工具调用中间态，重开看不到上轮轨迹。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019" b="0">
                <a:solidFill>
                  <a:srgbClr val="25324A"/>
                </a:solidFill>
                <a:latin typeface="微软雅黑"/>
                <a:ea typeface="微软雅黑"/>
              </a:rPr>
              <a:t>③ 未做多用户隔离，</a:t>
            </a:r>
            <a:r>
              <a:rPr sz="960" b="0">
                <a:solidFill>
                  <a:srgbClr val="1E3A8A"/>
                </a:solidFill>
                <a:latin typeface="微软雅黑"/>
                <a:ea typeface="微软雅黑"/>
              </a:rPr>
              <a:t>outputs/</a:t>
            </a:r>
            <a:r>
              <a:rPr sz="1019" b="0">
                <a:solidFill>
                  <a:srgbClr val="25324A"/>
                </a:solidFill>
                <a:latin typeface="微软雅黑"/>
                <a:ea typeface="微软雅黑"/>
              </a:rPr>
              <a:t> 与档案是单例，适合演示不适合上线。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019" b="0">
                <a:solidFill>
                  <a:srgbClr val="25324A"/>
                </a:solidFill>
                <a:latin typeface="微软雅黑"/>
                <a:ea typeface="微软雅黑"/>
              </a:rPr>
              <a:t>④ 挖空只覆盖规则变形，</a:t>
            </a:r>
            <a:r>
              <a:rPr sz="960" b="0">
                <a:solidFill>
                  <a:srgbClr val="1E3A8A"/>
                </a:solidFill>
                <a:latin typeface="微软雅黑"/>
                <a:ea typeface="微软雅黑"/>
              </a:rPr>
              <a:t>analysis → analyses</a:t>
            </a:r>
            <a:r>
              <a:rPr sz="1019" b="0">
                <a:solidFill>
                  <a:srgbClr val="25324A"/>
                </a:solidFill>
                <a:latin typeface="微软雅黑"/>
                <a:ea typeface="微软雅黑"/>
              </a:rPr>
              <a:t> 这类不规则变化会漏。</a:t>
            </a:r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019" b="0">
                <a:solidFill>
                  <a:srgbClr val="25324A"/>
                </a:solidFill>
                <a:latin typeface="微软雅黑"/>
                <a:ea typeface="微软雅黑"/>
              </a:rPr>
              <a:t>⑤ 流式只到工具级，未做 token 级打字机。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38600"/>
            <a:ext cx="38100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15803D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700" y="4324350"/>
            <a:ext cx="5295900" cy="1333500"/>
          </a:xfrm>
          <a:prstGeom prst="roundRect">
            <a:avLst>
              <a:gd name="adj" fmla="val 8571"/>
            </a:avLst>
          </a:prstGeom>
          <a:solidFill>
            <a:srgbClr val="F4FBF7"/>
          </a:solidFill>
          <a:ln w="15240">
            <a:solidFill>
              <a:srgbClr val="96D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4438650"/>
            <a:ext cx="491490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9" b="0">
                <a:solidFill>
                  <a:srgbClr val="25324A"/>
                </a:solidFill>
                <a:latin typeface="微软雅黑"/>
                <a:ea typeface="微软雅黑"/>
              </a:rPr>
              <a:t>接真实词典 API 替换考试词表 → 复习排期从两档简化 SM-2 升级到四档评分（Again / Hard / Good / Easy）→ 把 7 个工具包成 MCP server（stdio，接口不用改）→ 加子代理分工（选词 / 校验各一个）→ 补句子级长难句拆解、导出 Anki apkg。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1250" y="1962150"/>
            <a:ext cx="4762500" cy="24765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280" b="1">
                <a:solidFill>
                  <a:srgbClr val="0F172A"/>
                </a:solidFill>
                <a:latin typeface="微软雅黑"/>
                <a:ea typeface="微软雅黑"/>
              </a:rPr>
              <a:t>教师大概率会问的四个问题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2247900"/>
            <a:ext cx="535305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1750" y="2362200"/>
            <a:ext cx="4991100" cy="800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225"/>
              </a:spcAft>
            </a:pPr>
            <a:r>
              <a:rPr sz="1010" b="1">
                <a:solidFill>
                  <a:srgbClr val="25324A"/>
                </a:solidFill>
                <a:latin typeface="微软雅黑"/>
                <a:ea typeface="微软雅黑"/>
              </a:rPr>
              <a:t>Q：工具不调用，模型会怎样？</a:t>
            </a:r>
          </a:p>
          <a:p>
            <a:pPr algn="l">
              <a:lnSpc>
                <a:spcPct val="145000"/>
              </a:lnSpc>
              <a:spcAft>
                <a:spcPts val="225"/>
              </a:spcAft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A：会编。实测它给 </a:t>
            </a:r>
            <a:r>
              <a:rPr sz="940" b="0">
                <a:solidFill>
                  <a:srgbClr val="1E3A8A"/>
                </a:solidFill>
                <a:latin typeface="微软雅黑"/>
                <a:ea typeface="微软雅黑"/>
              </a:rPr>
              <a:t>NOT_FOUND</a:t>
            </a: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 的词补了 CET-6 等级，看着毫无破绽。工具的作用是把不确定变成可核验。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250" y="3314700"/>
            <a:ext cx="535305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3429000"/>
            <a:ext cx="4991100" cy="800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225"/>
              </a:spcAft>
            </a:pPr>
            <a:r>
              <a:rPr sz="1010" b="1">
                <a:solidFill>
                  <a:srgbClr val="25324A"/>
                </a:solidFill>
                <a:latin typeface="微软雅黑"/>
                <a:ea typeface="微软雅黑"/>
              </a:rPr>
              <a:t>Q：Skill 和系统提示词有什么区别？</a:t>
            </a:r>
          </a:p>
          <a:p>
            <a:pPr algn="l">
              <a:lnSpc>
                <a:spcPct val="145000"/>
              </a:lnSpc>
              <a:spcAft>
                <a:spcPts val="225"/>
              </a:spcAft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A：提示词常驻、必进上下文；Skill 按需加载，能带模板资产，可单独改版本。实测相关请求注入 1717 字符，无关请求 0。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4381500"/>
            <a:ext cx="535305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4495800"/>
            <a:ext cx="4991100" cy="800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225"/>
              </a:spcAft>
            </a:pPr>
            <a:r>
              <a:rPr sz="1010" b="1">
                <a:solidFill>
                  <a:srgbClr val="25324A"/>
                </a:solidFill>
                <a:latin typeface="微软雅黑"/>
                <a:ea typeface="微软雅黑"/>
              </a:rPr>
              <a:t>Q：密钥为什么不能进 Git？</a:t>
            </a:r>
          </a:p>
          <a:p>
            <a:pPr algn="l">
              <a:lnSpc>
                <a:spcPct val="145000"/>
              </a:lnSpc>
              <a:spcAft>
                <a:spcPts val="225"/>
              </a:spcAft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A：历史不可逆，push 出去等于公开，公开仓库会被爬虫扫。只能作废重签。所以 </a:t>
            </a:r>
            <a:r>
              <a:rPr sz="940" b="0">
                <a:solidFill>
                  <a:srgbClr val="1E3A8A"/>
                </a:solidFill>
                <a:latin typeface="微软雅黑"/>
                <a:ea typeface="微软雅黑"/>
              </a:rPr>
              <a:t>.env</a:t>
            </a: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 进 ignore，仓库只留 </a:t>
            </a:r>
            <a:r>
              <a:rPr sz="940" b="0">
                <a:solidFill>
                  <a:srgbClr val="1E3A8A"/>
                </a:solidFill>
                <a:latin typeface="微软雅黑"/>
                <a:ea typeface="微软雅黑"/>
              </a:rPr>
              <a:t>.env.example</a:t>
            </a: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1250" y="5448300"/>
            <a:ext cx="535305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5562600"/>
            <a:ext cx="4991100" cy="8001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  <a:spcAft>
                <a:spcPts val="225"/>
              </a:spcAft>
            </a:pPr>
            <a:r>
              <a:rPr sz="1010" b="1">
                <a:solidFill>
                  <a:srgbClr val="25324A"/>
                </a:solidFill>
                <a:latin typeface="微软雅黑"/>
                <a:ea typeface="微软雅黑"/>
              </a:rPr>
              <a:t>Q：为什么没用 MCP？</a:t>
            </a:r>
          </a:p>
          <a:p>
            <a:pPr algn="l">
              <a:lnSpc>
                <a:spcPct val="145000"/>
              </a:lnSpc>
              <a:spcAft>
                <a:spcPts val="225"/>
              </a:spcAft>
            </a:pPr>
            <a:r>
              <a:rPr sz="1010" b="0">
                <a:solidFill>
                  <a:srgbClr val="25324A"/>
                </a:solidFill>
                <a:latin typeface="微软雅黑"/>
                <a:ea typeface="微软雅黑"/>
              </a:rPr>
              <a:t>A：课程要求「自定义工具 或 MCP」二选一，我选前者因为工具要读本地词库和模板。MCP 化只需把 7 个工具挂成 stdio server，参数表和返回格式都不用改。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6500" y="6496050"/>
            <a:ext cx="1447800" cy="1905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35000"/>
              </a:lnSpc>
            </a:pPr>
            <a:r>
              <a:rPr sz="980" b="0">
                <a:solidFill>
                  <a:srgbClr val="9AA8BF"/>
                </a:solidFill>
                <a:latin typeface="微软雅黑"/>
                <a:ea typeface="微软雅黑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