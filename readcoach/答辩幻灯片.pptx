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19"/>
    <p:sldId id="269" r:id="rId20"/>
    <p:sldId id="270" r:id="rId21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老师好，我是徐悦，学号</a:t>
            </a:r>
            <a:r>
              <a:rPr dirty="0"/>
              <a:t> f25016515。</a:t>
            </a:r>
            <a:r>
              <a:rPr dirty="0" err="1"/>
              <a:t>我做的是外刊精读教练，走路径</a:t>
            </a:r>
            <a:r>
              <a:rPr dirty="0"/>
              <a:t> A。</a:t>
            </a:r>
          </a:p>
          <a:p>
            <a:r>
              <a:rPr dirty="0" err="1"/>
              <a:t>一句话说：把一篇英文原文丢进去，它自己查词、按考纲分级，最后给我一份词表和一张能打印的练习页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1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先说为什么做。我自己在备考六级，精读一篇外刊要做四件事：</a:t>
            </a:r>
          </a:p>
          <a:p>
            <a:r>
              <a:t>圈出生词、一个个查音标释义、按考纲筛出该背的、再把原文挖空做成练习页。</a:t>
            </a:r>
          </a:p>
          <a:p>
            <a:r>
              <a:t>四件事在四个软件里，一次四十分钟。</a:t>
            </a:r>
          </a:p>
          <a:p>
            <a:r>
              <a:t>真正累的不是查词，是来回切换。</a:t>
            </a:r>
          </a:p>
          <a:p>
            <a:r>
              <a:t>所以我要的不是一个聊天框，是能把这条链一次跑完、还留下文件的东西。</a:t>
            </a:r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2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结构四层，从上往下。</a:t>
            </a:r>
          </a:p>
          <a:p>
            <a:r>
              <a:t>最上面是界面，用户只说一句中文。</a:t>
            </a:r>
          </a:p>
          <a:p>
            <a:r>
              <a:t>中间是 LangGraph，一张流程图：它想一下、决定叫哪个工具；工具去做，把结果交回来；来回走，直到它觉得可以回答了。</a:t>
            </a:r>
          </a:p>
          <a:p>
            <a:r>
              <a:t>下面挂三样东西：七个我自己写的工具、一个 Skill、一份本地档案。</a:t>
            </a:r>
          </a:p>
          <a:p>
            <a:r>
              <a:t>模型是百炼的 qwen-plus，走 OpenAI 兼容接口，所以换模型只改环境变量两行。</a:t>
            </a:r>
          </a:p>
          <a:p>
            <a:r>
              <a:t>最左边这条虚线是门禁：读只能读 demo 目录，写只能写 outputs 目录。</a:t>
            </a:r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2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这是一句话的真实轨迹，不是我写死的流程。</a:t>
            </a:r>
          </a:p>
          <a:p>
            <a:r>
              <a:t>它先读原文——第一次文件名猜错了，工具回它"不存在，可用的是这个"，它自己改参数重来。</a:t>
            </a:r>
          </a:p>
          <a:p>
            <a:r>
              <a:t>然后查了八次词，一次一个。再写词表——CSV 和排好版的 Word 笔记是一步落盘的——再生成练习页。</a:t>
            </a:r>
          </a:p>
          <a:p>
            <a:r>
              <a:t>一共十二次工具调用、二十多步、四十到五十秒。</a:t>
            </a:r>
          </a:p>
          <a:p>
            <a:r>
              <a:t>最后它主动说：有几个词词库里没有，建议核对权威词典。这句话也不是我教的，是工具返回里带出来的。</a:t>
            </a:r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3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 和提示词不是一回事。</a:t>
            </a:r>
          </a:p>
          <a:p>
            <a:r>
              <a:t>提示词是常驻的，每轮都在，像员工的岗位说明。</a:t>
            </a:r>
          </a:p>
          <a:p>
            <a:r>
              <a:t>Skill 是一本按需翻开的作业手册：说到"精读"，它才把六步流程和网页模板拼进上下文。</a:t>
            </a:r>
          </a:p>
          <a:p>
            <a:r>
              <a:t>我量过：问精读，注入一千七百多字符；问今天天气，零字符。</a:t>
            </a:r>
          </a:p>
          <a:p>
            <a:r>
              <a:t>所以要加新场景，只要加一个目录，Python 一行不用改。</a:t>
            </a:r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3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这一页是我两周里最大的收获。</a:t>
            </a:r>
          </a:p>
          <a:p>
            <a:r>
              <a:t>第一次跑，"structural"和"enforceable"这两个词，查词工具明明回的是"没收录"。</a:t>
            </a:r>
          </a:p>
          <a:p>
            <a:r>
              <a:t>但模型写词表的时候，照样给它们填了"六级"，读起来毫无破绽。</a:t>
            </a:r>
          </a:p>
          <a:p>
            <a:r>
              <a:t>我先在提示词里加了一句"不许编造等级"，重跑一遍——它还是编。</a:t>
            </a:r>
          </a:p>
          <a:p>
            <a:r>
              <a:t>所以我把校验搬进代码：写文件之前拿本地词库复核。词库有，就以词库为准；没有，就写"未收录、模型推断"，再加一列"来源"。</a:t>
            </a:r>
          </a:p>
          <a:p>
            <a:r>
              <a:t>结论一句：模型的自我约束不算约束。 工具的价值不是替模型干活，是把不确定的东西变成能核对的。</a:t>
            </a:r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3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模型给的路径，也要当成不可信输入。</a:t>
            </a:r>
          </a:p>
          <a:p>
            <a:r>
              <a:t>初版我把 ../evil.txt 截成 evil.txt，文件确实落在 outputs 里，安全了。但模型以为写到了别处，汇报给我的路径就是错的。</a:t>
            </a:r>
          </a:p>
          <a:p>
            <a:r>
              <a:t>现在改成直接报错：错了就告诉它为什么错，它能自己改参数再来一次。</a:t>
            </a:r>
          </a:p>
          <a:p>
            <a:r>
              <a:t>读的那一侧对称：读文章只认 demo 目录，不然顺着两个点，就能把 .env 读出来贴进对话。</a:t>
            </a:r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4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课堂对应：界面来自 demo_1，百炼和密钥管理是 demo_3、4，Agent 框架和 Skill 是 demo_5。</a:t>
            </a:r>
          </a:p>
          <a:p>
            <a:r>
              <a:t>增量是七个工具全部自写、学习者档案自己设计。</a:t>
            </a:r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选题落在学习方法上，不产出能直接交的作业。</a:t>
            </a:r>
          </a:p>
          <a:p>
            <a:r>
              <a:t>我拿话术试过：让它把文章翻译成中文好抄进作业，它拒绝了，还给了三条替代做法，一步工具都没调。</a:t>
            </a:r>
          </a:p>
          <a:p>
            <a:r>
              <a:t>数据都是虚构样例，密钥只在本地环境变量里，仓库能当场验证没有。</a:t>
            </a:r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1）主路径：帮我精读 demo 里那篇校园碳排的文章，挑出 8 个 CET-6 生词</a:t>
            </a:r>
          </a:p>
          <a:p>
            <a:r>
              <a:t>2）记忆：今天该复习哪几个词？我 mitigate 又记混了</a:t>
            </a:r>
          </a:p>
          <a:p>
            <a:r>
              <a:t>3）压轴：粘贴框里先放一段别的题材英文 → 点「用这篇开始精读」</a:t>
            </a:r>
          </a:p>
          <a:p>
            <a:r>
              <a:t>4）边界：帮我把这篇文章翻译成中文，我要抄到作业里交（应被拒绝）</a:t>
            </a:r>
          </a:p>
          <a:p>
            <a:r>
              <a:t>5）备用：把这几个词做成 CSV：mitigate, incentive, cumulative, viable</a:t>
            </a:r>
          </a:p>
          <a:p>
            <a:r>
              <a:t>演示前：跑 scripts/reset_demo.py 清场；网络不稳就先跑一遍留产物兜底。</a:t>
            </a:r>
          </a:p>
          <a:p>
            <a:r>
              <a:t>6）彩蛋：切到日语，首页今日推送那篇，然后说「开始今天的精读」。等级自动变 JLPT N3，词表带假名注音，每条标「模型推断」。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1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老师可能会问，这不就是扇贝吗。</a:t>
            </a:r>
          </a:p>
          <a:p>
            <a:r>
              <a:t>扇贝卖的是编辑挑好的内容，你只能读它给的；AI 制卡工具是一步直转，看不到中间。</a:t>
            </a:r>
          </a:p>
          <a:p>
            <a:r>
              <a:t>我做的是"我手上这一篇怎么处理"：材料是我自己的，每一步能点开看，事实由代码兜底。</a:t>
            </a:r>
          </a:p>
          <a:p>
            <a:r>
              <a:t>商业产品通常两条路：全人工写，可信但贵；全 AI 生成，便宜但会编。</a:t>
            </a:r>
          </a:p>
          <a:p>
            <a:r>
              <a:t>我走第三条：模型负责判断，代码负责事实。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1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不足写在页上：没有句子级拆解、没有发音跟读、单机单用户、词库是考试词表而不是真词典。</a:t>
            </a:r>
          </a:p>
          <a:p>
            <a:r>
              <a:t>下一步最想接真实词典接口，再把七个工具包成 MCP——接口不用改，只挂一层。</a:t>
            </a:r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这一页是我做完主路径之后最想说的一个升级：原来只能学英语，现在左侧选日语、法语、德语、西班牙语，等级列表会跟着换——切到日语就是 JLPT N5 到 N1，不是继续写六级。</a:t>
            </a:r>
          </a:p>
          <a:p/>
          <a:p>
            <a:r>
              <a:t>但边界我要讲清楚：非英语我没有做本地词库，所以查词工具会直接说「这个语种不支持」，词表里每条都标「模型推断」。我不给它编一个假的考纲等级，宁可让它说不行。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第二个亮点是每天推送。左边这三级回落是实际跑出来的：先看当天缓存，没有就联网去新华网各语种版抓，抓不到就用离线快照兜底，所以断网也有内容。</a:t>
            </a:r>
          </a:p>
          <a:p/>
          <a:p>
            <a:r>
              <a:t>右边是今天的真实结果，五个语种各抓到一篇，右下角是连续打卡天数——按日期集合算的，漏一天就断。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最后是闭环。词表不是终点：挑完词，CSV 给你导进背单词软件，Word 笔记是排好版能直接打印的，练习页把原文挖空，做错的词自动进错词本，复习日期由代码按间隔算。</a:t>
            </a:r>
          </a:p>
          <a:p/>
          <a:p>
            <a:r>
              <a:t>左边这些是我今天真的生成的文件。所以第 2 页说的第四步——挖空练习——现在是自动的，而且做完还能回头复习。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EFF4FD"/>
              </a:gs>
              <a:gs pos="42000">
                <a:srgbClr val="F6F8FC"/>
              </a:gs>
              <a:gs pos="78000">
                <a:srgbClr val="F4FAF9"/>
              </a:gs>
              <a:gs pos="100000">
                <a:srgbClr val="E9F7F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7700" y="22098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开源 AI 技术实践 · 期末考查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7700" y="2457450"/>
            <a:ext cx="76200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5550" b="1">
                <a:solidFill>
                  <a:srgbClr val="0F172A"/>
                </a:solidFill>
                <a:latin typeface="微软雅黑"/>
                <a:ea typeface="微软雅黑"/>
              </a:rPr>
              <a:t>外刊精读教练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2041" y="3581400"/>
            <a:ext cx="6858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800" b="0" dirty="0" err="1">
                <a:solidFill>
                  <a:srgbClr val="3B4B66"/>
                </a:solidFill>
                <a:latin typeface="微软雅黑"/>
                <a:ea typeface="微软雅黑"/>
              </a:rPr>
              <a:t>把一篇英文原文，变成</a:t>
            </a:r>
            <a:r>
              <a:rPr sz="1800" b="1" dirty="0" err="1">
                <a:solidFill>
                  <a:srgbClr val="3B4B66"/>
                </a:solidFill>
                <a:latin typeface="微软雅黑"/>
                <a:ea typeface="微软雅黑"/>
              </a:rPr>
              <a:t>词表</a:t>
            </a:r>
            <a:r>
              <a:rPr sz="1800" b="1" dirty="0">
                <a:solidFill>
                  <a:srgbClr val="3B4B66"/>
                </a:solidFill>
                <a:latin typeface="微软雅黑"/>
                <a:ea typeface="微软雅黑"/>
              </a:rPr>
              <a:t> CSV</a:t>
            </a:r>
            <a:r>
              <a:rPr sz="1800" b="0" dirty="0">
                <a:solidFill>
                  <a:srgbClr val="3B4B66"/>
                </a:solidFill>
                <a:latin typeface="微软雅黑"/>
                <a:ea typeface="微软雅黑"/>
              </a:rPr>
              <a:t> 和 </a:t>
            </a:r>
            <a:r>
              <a:rPr sz="1800" b="1" dirty="0" err="1">
                <a:solidFill>
                  <a:srgbClr val="3B4B66"/>
                </a:solidFill>
                <a:latin typeface="微软雅黑"/>
                <a:ea typeface="微软雅黑"/>
              </a:rPr>
              <a:t>挖空练习页</a:t>
            </a:r>
            <a:r>
              <a:rPr sz="1800" b="0" dirty="0">
                <a:solidFill>
                  <a:srgbClr val="3B4B66"/>
                </a:solidFill>
                <a:latin typeface="微软雅黑"/>
                <a:ea typeface="微软雅黑"/>
              </a:rPr>
              <a:t>——</a:t>
            </a:r>
            <a:endParaRPr dirty="0"/>
          </a:p>
          <a:p>
            <a:pPr algn="l">
              <a:lnSpc>
                <a:spcPct val="150000"/>
              </a:lnSpc>
            </a:pPr>
            <a:r>
              <a:rPr sz="1800" b="0" dirty="0" err="1">
                <a:solidFill>
                  <a:srgbClr val="3B4B66"/>
                </a:solidFill>
                <a:latin typeface="微软雅黑"/>
                <a:ea typeface="微软雅黑"/>
              </a:rPr>
              <a:t>中间那四十分钟，交给</a:t>
            </a:r>
            <a:r>
              <a:rPr sz="1800" b="0" dirty="0">
                <a:solidFill>
                  <a:srgbClr val="3B4B66"/>
                </a:solidFill>
                <a:latin typeface="微软雅黑"/>
                <a:ea typeface="微软雅黑"/>
              </a:rPr>
              <a:t> Agent。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7700" y="4705350"/>
            <a:ext cx="952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B6B84"/>
                </a:solidFill>
                <a:latin typeface="微软雅黑"/>
                <a:ea typeface="微软雅黑"/>
              </a:rPr>
              <a:t>姓名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4944846"/>
            <a:ext cx="952500" cy="9975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 dirty="0">
                <a:solidFill>
                  <a:srgbClr val="0F172A"/>
                </a:solidFill>
                <a:latin typeface="微软雅黑"/>
                <a:ea typeface="微软雅黑"/>
              </a:rPr>
              <a:t>徐悦</a:t>
            </a:r>
            <a:endParaRPr lang="en-US" sz="1280" b="1" dirty="0">
              <a:solidFill>
                <a:srgbClr val="0F172A"/>
              </a:solidFill>
              <a:latin typeface="微软雅黑"/>
              <a:ea typeface="微软雅黑"/>
            </a:endParaRPr>
          </a:p>
          <a:p>
            <a:pPr algn="l">
              <a:lnSpc>
                <a:spcPct val="135000"/>
              </a:lnSpc>
            </a:pPr>
            <a:r>
              <a:rPr lang="zh-CN" altLang="en-US" sz="1280" b="1" dirty="0">
                <a:solidFill>
                  <a:srgbClr val="0F172A"/>
                </a:solidFill>
                <a:latin typeface="微软雅黑"/>
                <a:ea typeface="微软雅黑"/>
              </a:rPr>
              <a:t>孙睿佳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962150" y="4705350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B6B84"/>
                </a:solidFill>
                <a:latin typeface="微软雅黑"/>
                <a:ea typeface="微软雅黑"/>
              </a:rPr>
              <a:t>学号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2150" y="4933950"/>
            <a:ext cx="11430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en-US" altLang="zh-CN" sz="1280" b="1" dirty="0">
                <a:solidFill>
                  <a:srgbClr val="0F172A"/>
                </a:solidFill>
                <a:latin typeface="微软雅黑"/>
                <a:ea typeface="微软雅黑"/>
              </a:rPr>
              <a:t>f25016515</a:t>
            </a:r>
          </a:p>
          <a:p>
            <a:pPr algn="l">
              <a:lnSpc>
                <a:spcPct val="135000"/>
              </a:lnSpc>
            </a:pPr>
            <a:r>
              <a:rPr lang="en-US" altLang="zh-CN" sz="1280" b="1" dirty="0">
                <a:solidFill>
                  <a:srgbClr val="0F172A"/>
                </a:solidFill>
                <a:latin typeface="微软雅黑"/>
                <a:ea typeface="微软雅黑"/>
              </a:rPr>
              <a:t>f25016509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390900" y="4705350"/>
            <a:ext cx="3048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B6B84"/>
                </a:solidFill>
                <a:latin typeface="微软雅黑"/>
                <a:ea typeface="微软雅黑"/>
              </a:rPr>
              <a:t>路径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90900" y="4933950"/>
            <a:ext cx="30480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A · 技术栈完整的智能体应用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4650" y="4705350"/>
            <a:ext cx="4000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B6B84"/>
                </a:solidFill>
                <a:latin typeface="微软雅黑"/>
                <a:ea typeface="微软雅黑"/>
              </a:rPr>
              <a:t>技术栈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4650" y="4933950"/>
            <a:ext cx="40005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LangGraph + 百炼 qwen-plus + Streamlit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700" y="630555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AA8BF"/>
                </a:solidFill>
                <a:latin typeface="微软雅黑"/>
                <a:ea typeface="微软雅黑"/>
              </a:rPr>
              <a:t>开源 AI 技术实践　·　杉达学院 2026–2027 学年第一学期　·　汇报 2026.10.27</a:t>
            </a:r>
            <a:endParaRPr/>
          </a:p>
        </p:txBody>
      </p:sp>
      <p:pic>
        <p:nvPicPr>
          <p:cNvPr id="15" name="Picture 14" descr="cover-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900" y="1857375"/>
            <a:ext cx="2381250" cy="3143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01 / 15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问题与用户</a:t>
            </a:r>
            <a:endParaRPr/>
          </a:p>
        </p:txBody>
      </p:sp>
      <p:sp>
        <p:nvSpPr>
          <p:cNvPr id="95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精读一篇文章，其实要做四件互不相干的事</a:t>
            </a:r>
            <a:endParaRPr/>
          </a:p>
        </p:txBody>
      </p:sp>
      <p:sp>
        <p:nvSpPr>
          <p:cNvPr id="96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5"/>
          <p:cNvSpPr txBox="1"/>
          <p:nvPr/>
        </p:nvSpPr>
        <p:spPr>
          <a:xfrm>
            <a:off x="647700" y="2114550"/>
            <a:ext cx="542925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650" b="0">
                <a:solidFill>
                  <a:srgbClr val="33415C"/>
                </a:solidFill>
                <a:latin typeface="微软雅黑"/>
                <a:ea typeface="微软雅黑"/>
              </a:rPr>
              <a:t>用户就是我：备考 CET-6 的大学生，外刊读得慢，生词查完就忘。</a:t>
            </a:r>
            <a:endParaRPr/>
          </a:p>
        </p:txBody>
      </p:sp>
      <p:sp>
        <p:nvSpPr>
          <p:cNvPr id="98" name="Rounded Rectangle 6"/>
          <p:cNvSpPr/>
          <p:nvPr/>
        </p:nvSpPr>
        <p:spPr>
          <a:xfrm>
            <a:off x="647700" y="2971800"/>
            <a:ext cx="5429250" cy="43815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7"/>
          <p:cNvSpPr txBox="1"/>
          <p:nvPr/>
        </p:nvSpPr>
        <p:spPr>
          <a:xfrm>
            <a:off x="781050" y="3095625"/>
            <a:ext cx="9906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Consolas"/>
                <a:ea typeface="微软雅黑"/>
              </a:rPr>
              <a:t>第 1 步</a:t>
            </a:r>
            <a:endParaRPr/>
          </a:p>
        </p:txBody>
      </p:sp>
      <p:sp>
        <p:nvSpPr>
          <p:cNvPr id="100" name="TextBox 8"/>
          <p:cNvSpPr txBox="1"/>
          <p:nvPr/>
        </p:nvSpPr>
        <p:spPr>
          <a:xfrm>
            <a:off x="1866900" y="3086100"/>
            <a:ext cx="403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读完文章，圈出 20 个不认识的词</a:t>
            </a:r>
            <a:endParaRPr/>
          </a:p>
        </p:txBody>
      </p:sp>
      <p:sp>
        <p:nvSpPr>
          <p:cNvPr id="101" name="Rounded Rectangle 9"/>
          <p:cNvSpPr/>
          <p:nvPr/>
        </p:nvSpPr>
        <p:spPr>
          <a:xfrm>
            <a:off x="647700" y="3476625"/>
            <a:ext cx="5429250" cy="43815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TextBox 10"/>
          <p:cNvSpPr txBox="1"/>
          <p:nvPr/>
        </p:nvSpPr>
        <p:spPr>
          <a:xfrm>
            <a:off x="781050" y="3600450"/>
            <a:ext cx="9906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Consolas"/>
                <a:ea typeface="微软雅黑"/>
              </a:rPr>
              <a:t>第 2 步</a:t>
            </a:r>
            <a:endParaRPr/>
          </a:p>
        </p:txBody>
      </p:sp>
      <p:sp>
        <p:nvSpPr>
          <p:cNvPr id="103" name="TextBox 11"/>
          <p:cNvSpPr txBox="1"/>
          <p:nvPr/>
        </p:nvSpPr>
        <p:spPr>
          <a:xfrm>
            <a:off x="1866900" y="3590925"/>
            <a:ext cx="403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逐个查音标、词性、释义、例句 —— 20 次复制粘贴</a:t>
            </a:r>
            <a:endParaRPr/>
          </a:p>
        </p:txBody>
      </p:sp>
      <p:sp>
        <p:nvSpPr>
          <p:cNvPr id="104" name="Rounded Rectangle 12"/>
          <p:cNvSpPr/>
          <p:nvPr/>
        </p:nvSpPr>
        <p:spPr>
          <a:xfrm>
            <a:off x="647700" y="3981450"/>
            <a:ext cx="5429250" cy="43815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TextBox 13"/>
          <p:cNvSpPr txBox="1"/>
          <p:nvPr/>
        </p:nvSpPr>
        <p:spPr>
          <a:xfrm>
            <a:off x="781050" y="4105275"/>
            <a:ext cx="9906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Consolas"/>
                <a:ea typeface="微软雅黑"/>
              </a:rPr>
              <a:t>第 3 步</a:t>
            </a:r>
            <a:endParaRPr/>
          </a:p>
        </p:txBody>
      </p:sp>
      <p:sp>
        <p:nvSpPr>
          <p:cNvPr id="106" name="TextBox 14"/>
          <p:cNvSpPr txBox="1"/>
          <p:nvPr/>
        </p:nvSpPr>
        <p:spPr>
          <a:xfrm>
            <a:off x="1866900" y="4095750"/>
            <a:ext cx="403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按考纲筛出该背的，手动敲进背单词软件</a:t>
            </a:r>
            <a:endParaRPr/>
          </a:p>
        </p:txBody>
      </p:sp>
      <p:sp>
        <p:nvSpPr>
          <p:cNvPr id="107" name="Rounded Rectangle 15"/>
          <p:cNvSpPr/>
          <p:nvPr/>
        </p:nvSpPr>
        <p:spPr>
          <a:xfrm>
            <a:off x="647700" y="4486275"/>
            <a:ext cx="5429250" cy="43815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16"/>
          <p:cNvSpPr txBox="1"/>
          <p:nvPr/>
        </p:nvSpPr>
        <p:spPr>
          <a:xfrm>
            <a:off x="781050" y="4610100"/>
            <a:ext cx="9906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Consolas"/>
                <a:ea typeface="微软雅黑"/>
              </a:rPr>
              <a:t>第 4 步</a:t>
            </a:r>
            <a:endParaRPr/>
          </a:p>
        </p:txBody>
      </p:sp>
      <p:sp>
        <p:nvSpPr>
          <p:cNvPr id="109" name="TextBox 17"/>
          <p:cNvSpPr txBox="1"/>
          <p:nvPr/>
        </p:nvSpPr>
        <p:spPr>
          <a:xfrm>
            <a:off x="1866900" y="4600575"/>
            <a:ext cx="403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原文挖空，做一张能打印的填空练习</a:t>
            </a:r>
            <a:endParaRPr/>
          </a:p>
        </p:txBody>
      </p:sp>
      <p:sp>
        <p:nvSpPr>
          <p:cNvPr id="110" name="TextBox 18"/>
          <p:cNvSpPr txBox="1"/>
          <p:nvPr/>
        </p:nvSpPr>
        <p:spPr>
          <a:xfrm>
            <a:off x="647700" y="5143500"/>
            <a:ext cx="542925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B6B84"/>
                </a:solidFill>
                <a:latin typeface="微软雅黑"/>
                <a:ea typeface="微软雅黑"/>
              </a:rPr>
              <a:t>四件事散落在四个软件里，</a:t>
            </a:r>
            <a:r>
              <a:rPr sz="1200" b="1">
                <a:solidFill>
                  <a:srgbClr val="5B6B84"/>
                </a:solidFill>
                <a:latin typeface="微软雅黑"/>
                <a:ea typeface="微软雅黑"/>
              </a:rPr>
              <a:t>一次约 40 分钟</a:t>
            </a:r>
            <a:r>
              <a:rPr sz="1200" b="0">
                <a:solidFill>
                  <a:srgbClr val="5B6B84"/>
                </a:solidFill>
                <a:latin typeface="微软雅黑"/>
                <a:ea typeface="微软雅黑"/>
              </a:rPr>
              <a:t>。累的不是查词，是切换。</a:t>
            </a:r>
            <a:endParaRPr/>
          </a:p>
        </p:txBody>
      </p:sp>
      <p:sp>
        <p:nvSpPr>
          <p:cNvPr id="111" name="Rounded Rectangle 19"/>
          <p:cNvSpPr/>
          <p:nvPr/>
        </p:nvSpPr>
        <p:spPr>
          <a:xfrm>
            <a:off x="6362700" y="2114550"/>
            <a:ext cx="51816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TextBox 20"/>
          <p:cNvSpPr txBox="1"/>
          <p:nvPr/>
        </p:nvSpPr>
        <p:spPr>
          <a:xfrm>
            <a:off x="6591300" y="2343150"/>
            <a:ext cx="47244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580" b="1">
                <a:solidFill>
                  <a:srgbClr val="1D4ED8"/>
                </a:solidFill>
                <a:latin typeface="微软雅黑"/>
                <a:ea typeface="微软雅黑"/>
              </a:rPr>
              <a:t>这个项目做的事</a:t>
            </a:r>
            <a:endParaRPr/>
          </a:p>
        </p:txBody>
      </p:sp>
      <p:sp>
        <p:nvSpPr>
          <p:cNvPr id="113" name="TextBox 21"/>
          <p:cNvSpPr txBox="1"/>
          <p:nvPr/>
        </p:nvSpPr>
        <p:spPr>
          <a:xfrm>
            <a:off x="6591300" y="2686050"/>
            <a:ext cx="472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0">
                <a:solidFill>
                  <a:srgbClr val="25324A"/>
                </a:solidFill>
                <a:latin typeface="微软雅黑"/>
                <a:ea typeface="微软雅黑"/>
              </a:rPr>
              <a:t>把上面四步收进</a:t>
            </a:r>
            <a:r>
              <a:rPr sz="1280" b="1">
                <a:solidFill>
                  <a:srgbClr val="25324A"/>
                </a:solidFill>
                <a:latin typeface="微软雅黑"/>
                <a:ea typeface="微软雅黑"/>
              </a:rPr>
              <a:t>一句话</a:t>
            </a:r>
            <a:r>
              <a:rPr sz="1280" b="0">
                <a:solidFill>
                  <a:srgbClr val="25324A"/>
                </a:solidFill>
                <a:latin typeface="微软雅黑"/>
                <a:ea typeface="微软雅黑"/>
              </a:rPr>
              <a:t>：</a:t>
            </a:r>
            <a:endParaRPr/>
          </a:p>
        </p:txBody>
      </p:sp>
      <p:sp>
        <p:nvSpPr>
          <p:cNvPr id="114" name="Rounded Rectangle 22"/>
          <p:cNvSpPr/>
          <p:nvPr/>
        </p:nvSpPr>
        <p:spPr>
          <a:xfrm>
            <a:off x="6591300" y="3009900"/>
            <a:ext cx="4724400" cy="628650"/>
          </a:xfrm>
          <a:prstGeom prst="roundRect">
            <a:avLst>
              <a:gd name="adj" fmla="val 15151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TextBox 23"/>
          <p:cNvSpPr txBox="1"/>
          <p:nvPr/>
        </p:nvSpPr>
        <p:spPr>
          <a:xfrm>
            <a:off x="6724650" y="3143250"/>
            <a:ext cx="44577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240" b="0">
                <a:solidFill>
                  <a:srgbClr val="25324A"/>
                </a:solidFill>
                <a:latin typeface="微软雅黑"/>
                <a:ea typeface="微软雅黑"/>
              </a:rPr>
              <a:t>「帮我精读 demo 里那篇校园碳排的文章，挑出 8 个 CET-6 生词」</a:t>
            </a:r>
            <a:endParaRPr/>
          </a:p>
        </p:txBody>
      </p:sp>
      <p:sp>
        <p:nvSpPr>
          <p:cNvPr id="116" name="TextBox 24"/>
          <p:cNvSpPr txBox="1"/>
          <p:nvPr/>
        </p:nvSpPr>
        <p:spPr>
          <a:xfrm>
            <a:off x="6591300" y="3810000"/>
            <a:ext cx="47244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25324A"/>
                </a:solidFill>
                <a:latin typeface="微软雅黑"/>
                <a:ea typeface="微软雅黑"/>
              </a:rPr>
              <a:t>Agent 自己规划：读原文 → 挑词 → 逐个查词 → 出词表 → 出练习页 → 回写错词本。</a:t>
            </a:r>
            <a:endParaRPr/>
          </a:p>
        </p:txBody>
      </p:sp>
      <p:sp>
        <p:nvSpPr>
          <p:cNvPr id="117" name="Rounded Rectangle 25"/>
          <p:cNvSpPr/>
          <p:nvPr/>
        </p:nvSpPr>
        <p:spPr>
          <a:xfrm>
            <a:off x="6591300" y="4476750"/>
            <a:ext cx="768668" cy="247650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10" b="1">
                <a:solidFill>
                  <a:srgbClr val="15803D"/>
                </a:solidFill>
                <a:latin typeface="微软雅黑"/>
                <a:ea typeface="微软雅黑"/>
              </a:rPr>
              <a:t>约 45 秒</a:t>
            </a:r>
            <a:endParaRPr/>
          </a:p>
        </p:txBody>
      </p:sp>
      <p:sp>
        <p:nvSpPr>
          <p:cNvPr id="118" name="Rounded Rectangle 26"/>
          <p:cNvSpPr/>
          <p:nvPr/>
        </p:nvSpPr>
        <p:spPr>
          <a:xfrm>
            <a:off x="7417118" y="4476750"/>
            <a:ext cx="1083707" cy="247650"/>
          </a:xfrm>
          <a:prstGeom prst="roundRect">
            <a:avLst>
              <a:gd name="adj" fmla="val 50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10" b="1">
                <a:solidFill>
                  <a:srgbClr val="1D4ED8"/>
                </a:solidFill>
                <a:latin typeface="微软雅黑"/>
                <a:ea typeface="微软雅黑"/>
              </a:rPr>
              <a:t>12 次工具调用</a:t>
            </a:r>
            <a:endParaRPr/>
          </a:p>
        </p:txBody>
      </p:sp>
      <p:sp>
        <p:nvSpPr>
          <p:cNvPr id="119" name="Rounded Rectangle 27"/>
          <p:cNvSpPr/>
          <p:nvPr/>
        </p:nvSpPr>
        <p:spPr>
          <a:xfrm>
            <a:off x="8557974" y="4476750"/>
            <a:ext cx="1012984" cy="247650"/>
          </a:xfrm>
          <a:prstGeom prst="roundRect">
            <a:avLst>
              <a:gd name="adj" fmla="val 50000"/>
            </a:avLst>
          </a:prstGeom>
          <a:solidFill>
            <a:srgbClr val="E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10" b="1">
                <a:solidFill>
                  <a:srgbClr val="0B7A70"/>
                </a:solidFill>
                <a:latin typeface="微软雅黑"/>
                <a:ea typeface="微软雅黑"/>
              </a:rPr>
              <a:t>8 处自动挖空</a:t>
            </a:r>
            <a:endParaRPr/>
          </a:p>
        </p:txBody>
      </p:sp>
      <p:sp>
        <p:nvSpPr>
          <p:cNvPr id="120" name="TextBox 28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02 / 15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总体架构</a:t>
            </a:r>
            <a:endParaRPr/>
          </a:p>
        </p:txBody>
      </p:sp>
      <p:sp>
        <p:nvSpPr>
          <p:cNvPr id="124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一张图：用户 → 界面 → Agent ⇄ 工具 / 模型 / Skill</a:t>
            </a:r>
            <a:endParaRPr/>
          </a:p>
        </p:txBody>
      </p:sp>
      <p:sp>
        <p:nvSpPr>
          <p:cNvPr id="125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26" name="Picture 5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019300"/>
            <a:ext cx="10896600" cy="3733800"/>
          </a:xfrm>
          <a:prstGeom prst="rect">
            <a:avLst/>
          </a:prstGeom>
        </p:spPr>
      </p:pic>
      <p:sp>
        <p:nvSpPr>
          <p:cNvPr id="127" name="TextBox 6"/>
          <p:cNvSpPr txBox="1"/>
          <p:nvPr/>
        </p:nvSpPr>
        <p:spPr>
          <a:xfrm>
            <a:off x="647700" y="58864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B6B84"/>
                </a:solidFill>
                <a:latin typeface="微软雅黑"/>
                <a:ea typeface="微软雅黑"/>
              </a:rPr>
              <a:t>实线是数据流，虚线是只读素材。</a:t>
            </a:r>
            <a:r>
              <a:rPr sz="1200" b="1">
                <a:solidFill>
                  <a:srgbClr val="5B6B84"/>
                </a:solidFill>
                <a:latin typeface="微软雅黑"/>
                <a:ea typeface="微软雅黑"/>
              </a:rPr>
              <a:t>读写都只有一条合法通道</a:t>
            </a:r>
            <a:r>
              <a:rPr sz="1200" b="0">
                <a:solidFill>
                  <a:srgbClr val="5B6B84"/>
                </a:solidFill>
                <a:latin typeface="微软雅黑"/>
                <a:ea typeface="微软雅黑"/>
              </a:rPr>
              <a:t>：读只有 </a:t>
            </a:r>
            <a:r>
              <a:rPr sz="1130" b="0">
                <a:solidFill>
                  <a:srgbClr val="1E3A8A"/>
                </a:solidFill>
                <a:latin typeface="微软雅黑"/>
                <a:ea typeface="微软雅黑"/>
              </a:rPr>
              <a:t>demo/</a:t>
            </a:r>
            <a:r>
              <a:rPr sz="1200" b="0">
                <a:solidFill>
                  <a:srgbClr val="5B6B84"/>
                </a:solidFill>
                <a:latin typeface="微软雅黑"/>
                <a:ea typeface="微软雅黑"/>
              </a:rPr>
              <a:t> 与用户自贴的固定槽位（工具没有路径参数），写只能写 </a:t>
            </a:r>
            <a:r>
              <a:rPr sz="1130" b="0">
                <a:solidFill>
                  <a:srgbClr val="1E3A8A"/>
                </a:solidFill>
                <a:latin typeface="微软雅黑"/>
                <a:ea typeface="微软雅黑"/>
              </a:rPr>
              <a:t>outputs/</a:t>
            </a:r>
            <a:r>
              <a:rPr sz="1200" b="0">
                <a:solidFill>
                  <a:srgbClr val="5B6B84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28" name="TextBox 7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03 / 15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关键能力 · 主路径</a:t>
            </a:r>
            <a:endParaRPr/>
          </a:p>
        </p:txBody>
      </p:sp>
      <p:sp>
        <p:nvSpPr>
          <p:cNvPr id="132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一句话进去，12 次工具调用出来</a:t>
            </a:r>
            <a:endParaRPr/>
          </a:p>
        </p:txBody>
      </p:sp>
      <p:sp>
        <p:nvSpPr>
          <p:cNvPr id="133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Rounded Rectangle 5"/>
          <p:cNvSpPr/>
          <p:nvPr/>
        </p:nvSpPr>
        <p:spPr>
          <a:xfrm>
            <a:off x="647700" y="2076450"/>
            <a:ext cx="6019800" cy="419100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TextBox 6"/>
          <p:cNvSpPr txBox="1"/>
          <p:nvPr/>
        </p:nvSpPr>
        <p:spPr>
          <a:xfrm>
            <a:off x="762000" y="2190750"/>
            <a:ext cx="952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Consolas"/>
                <a:ea typeface="微软雅黑"/>
              </a:rPr>
              <a:t>user</a:t>
            </a:r>
            <a:endParaRPr/>
          </a:p>
        </p:txBody>
      </p:sp>
      <p:sp>
        <p:nvSpPr>
          <p:cNvPr id="136" name="TextBox 7"/>
          <p:cNvSpPr txBox="1"/>
          <p:nvPr/>
        </p:nvSpPr>
        <p:spPr>
          <a:xfrm>
            <a:off x="1809750" y="2181225"/>
            <a:ext cx="47244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「帮我精读 demo 里那篇校园碳排的文章，挑出 8 个 CET-6 生词」</a:t>
            </a:r>
            <a:endParaRPr/>
          </a:p>
        </p:txBody>
      </p:sp>
      <p:sp>
        <p:nvSpPr>
          <p:cNvPr id="137" name="Rounded Rectangle 8"/>
          <p:cNvSpPr/>
          <p:nvPr/>
        </p:nvSpPr>
        <p:spPr>
          <a:xfrm>
            <a:off x="647700" y="2552700"/>
            <a:ext cx="6019800" cy="419100"/>
          </a:xfrm>
          <a:prstGeom prst="roundRect">
            <a:avLst>
              <a:gd name="adj" fmla="val 20454"/>
            </a:avLst>
          </a:prstGeom>
          <a:solidFill>
            <a:srgbClr val="F4F8FF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8" name="TextBox 9"/>
          <p:cNvSpPr txBox="1"/>
          <p:nvPr/>
        </p:nvSpPr>
        <p:spPr>
          <a:xfrm>
            <a:off x="762000" y="2667000"/>
            <a:ext cx="952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Consolas"/>
                <a:ea typeface="微软雅黑"/>
              </a:rPr>
              <a:t>step 1</a:t>
            </a:r>
            <a:endParaRPr/>
          </a:p>
        </p:txBody>
      </p:sp>
      <p:sp>
        <p:nvSpPr>
          <p:cNvPr id="139" name="TextBox 10"/>
          <p:cNvSpPr txBox="1"/>
          <p:nvPr/>
        </p:nvSpPr>
        <p:spPr>
          <a:xfrm>
            <a:off x="1809750" y="2657475"/>
            <a:ext cx="47244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read_article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　读 </a:t>
            </a: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demo/article_sample.txt</a:t>
            </a:r>
            <a:endParaRPr/>
          </a:p>
        </p:txBody>
      </p:sp>
      <p:sp>
        <p:nvSpPr>
          <p:cNvPr id="140" name="Rounded Rectangle 11"/>
          <p:cNvSpPr/>
          <p:nvPr/>
        </p:nvSpPr>
        <p:spPr>
          <a:xfrm>
            <a:off x="647700" y="3028950"/>
            <a:ext cx="6019800" cy="6286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1" name="TextBox 12"/>
          <p:cNvSpPr txBox="1"/>
          <p:nvPr/>
        </p:nvSpPr>
        <p:spPr>
          <a:xfrm>
            <a:off x="762000" y="3143250"/>
            <a:ext cx="952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Consolas"/>
                <a:ea typeface="微软雅黑"/>
              </a:rPr>
              <a:t>自纠</a:t>
            </a:r>
            <a:endParaRPr/>
          </a:p>
        </p:txBody>
      </p:sp>
      <p:sp>
        <p:nvSpPr>
          <p:cNvPr id="142" name="TextBox 13"/>
          <p:cNvSpPr txBox="1"/>
          <p:nvPr/>
        </p:nvSpPr>
        <p:spPr>
          <a:xfrm>
            <a:off x="1809750" y="3133725"/>
            <a:ext cx="4724400" cy="476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第一次猜了 </a:t>
            </a: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campus_carbon.txt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，工具返回「不存在，可用文件：article_sample.txt」，它</a:t>
            </a:r>
            <a:r>
              <a:rPr sz="1090" b="1">
                <a:solidFill>
                  <a:srgbClr val="25324A"/>
                </a:solidFill>
                <a:latin typeface="微软雅黑"/>
                <a:ea typeface="微软雅黑"/>
              </a:rPr>
              <a:t>自己改参数重试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——报错比静默兜底有用</a:t>
            </a:r>
            <a:endParaRPr/>
          </a:p>
        </p:txBody>
      </p:sp>
      <p:sp>
        <p:nvSpPr>
          <p:cNvPr id="143" name="Rounded Rectangle 14"/>
          <p:cNvSpPr/>
          <p:nvPr/>
        </p:nvSpPr>
        <p:spPr>
          <a:xfrm>
            <a:off x="647700" y="3714750"/>
            <a:ext cx="6019800" cy="590550"/>
          </a:xfrm>
          <a:prstGeom prst="roundRect">
            <a:avLst>
              <a:gd name="adj" fmla="val 14516"/>
            </a:avLst>
          </a:prstGeom>
          <a:solidFill>
            <a:srgbClr val="F4F8FF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TextBox 15"/>
          <p:cNvSpPr txBox="1"/>
          <p:nvPr/>
        </p:nvSpPr>
        <p:spPr>
          <a:xfrm>
            <a:off x="762000" y="3829050"/>
            <a:ext cx="952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Consolas"/>
                <a:ea typeface="微软雅黑"/>
              </a:rPr>
              <a:t>循环 ×8</a:t>
            </a:r>
            <a:endParaRPr/>
          </a:p>
        </p:txBody>
      </p:sp>
      <p:sp>
        <p:nvSpPr>
          <p:cNvPr id="145" name="TextBox 16"/>
          <p:cNvSpPr txBox="1"/>
          <p:nvPr/>
        </p:nvSpPr>
        <p:spPr>
          <a:xfrm>
            <a:off x="1809750" y="3819525"/>
            <a:ext cx="47244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lookup_word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　baseline / structural / trivial / cumulative / framework / allocate / enforceable / scrutiny</a:t>
            </a:r>
            <a:endParaRPr/>
          </a:p>
        </p:txBody>
      </p:sp>
      <p:sp>
        <p:nvSpPr>
          <p:cNvPr id="146" name="Rounded Rectangle 17"/>
          <p:cNvSpPr/>
          <p:nvPr/>
        </p:nvSpPr>
        <p:spPr>
          <a:xfrm>
            <a:off x="647700" y="4362450"/>
            <a:ext cx="6019800" cy="571500"/>
          </a:xfrm>
          <a:prstGeom prst="roundRect">
            <a:avLst>
              <a:gd name="adj" fmla="val 15000"/>
            </a:avLst>
          </a:prstGeom>
          <a:solidFill>
            <a:srgbClr val="E3F6F3"/>
          </a:solidFill>
          <a:ln w="15240">
            <a:solidFill>
              <a:srgbClr val="B8E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7" name="TextBox 18"/>
          <p:cNvSpPr txBox="1"/>
          <p:nvPr/>
        </p:nvSpPr>
        <p:spPr>
          <a:xfrm>
            <a:off x="762000" y="4476750"/>
            <a:ext cx="952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Consolas"/>
                <a:ea typeface="微软雅黑"/>
              </a:rPr>
              <a:t>汇总</a:t>
            </a:r>
            <a:endParaRPr/>
          </a:p>
        </p:txBody>
      </p:sp>
      <p:sp>
        <p:nvSpPr>
          <p:cNvPr id="148" name="TextBox 19"/>
          <p:cNvSpPr txBox="1"/>
          <p:nvPr/>
        </p:nvSpPr>
        <p:spPr>
          <a:xfrm>
            <a:off x="1809750" y="4467225"/>
            <a:ext cx="47244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make_wordlist_csv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　→ </a:t>
            </a: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…wordlist.csv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 </a:t>
            </a:r>
            <a:r>
              <a:rPr sz="1090" b="1">
                <a:solidFill>
                  <a:srgbClr val="25324A"/>
                </a:solidFill>
                <a:latin typeface="微软雅黑"/>
                <a:ea typeface="微软雅黑"/>
              </a:rPr>
              <a:t>+ 同名 .docx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（逐词分块的笔记，同一步落盘）</a:t>
            </a:r>
            <a:endParaRPr/>
          </a:p>
        </p:txBody>
      </p:sp>
      <p:sp>
        <p:nvSpPr>
          <p:cNvPr id="149" name="Rounded Rectangle 20"/>
          <p:cNvSpPr/>
          <p:nvPr/>
        </p:nvSpPr>
        <p:spPr>
          <a:xfrm>
            <a:off x="647700" y="4991100"/>
            <a:ext cx="6019800" cy="419100"/>
          </a:xfrm>
          <a:prstGeom prst="roundRect">
            <a:avLst>
              <a:gd name="adj" fmla="val 20454"/>
            </a:avLst>
          </a:prstGeom>
          <a:solidFill>
            <a:srgbClr val="E3F6F3"/>
          </a:solidFill>
          <a:ln w="15240">
            <a:solidFill>
              <a:srgbClr val="B8E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TextBox 21"/>
          <p:cNvSpPr txBox="1"/>
          <p:nvPr/>
        </p:nvSpPr>
        <p:spPr>
          <a:xfrm>
            <a:off x="762000" y="5105400"/>
            <a:ext cx="952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Consolas"/>
                <a:ea typeface="微软雅黑"/>
              </a:rPr>
              <a:t>汇总</a:t>
            </a:r>
            <a:endParaRPr/>
          </a:p>
        </p:txBody>
      </p:sp>
      <p:sp>
        <p:nvSpPr>
          <p:cNvPr id="151" name="TextBox 22"/>
          <p:cNvSpPr txBox="1"/>
          <p:nvPr/>
        </p:nvSpPr>
        <p:spPr>
          <a:xfrm>
            <a:off x="1809750" y="5095875"/>
            <a:ext cx="47244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build_worksheet_html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　→ </a:t>
            </a: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outputs/campus_carbon_worksheet.html</a:t>
            </a:r>
            <a:endParaRPr/>
          </a:p>
        </p:txBody>
      </p:sp>
      <p:sp>
        <p:nvSpPr>
          <p:cNvPr id="152" name="Rounded Rectangle 23"/>
          <p:cNvSpPr/>
          <p:nvPr/>
        </p:nvSpPr>
        <p:spPr>
          <a:xfrm>
            <a:off x="647700" y="5467350"/>
            <a:ext cx="6019800" cy="419100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" name="TextBox 24"/>
          <p:cNvSpPr txBox="1"/>
          <p:nvPr/>
        </p:nvSpPr>
        <p:spPr>
          <a:xfrm>
            <a:off x="762000" y="5581650"/>
            <a:ext cx="952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Consolas"/>
                <a:ea typeface="微软雅黑"/>
              </a:rPr>
              <a:t>end</a:t>
            </a:r>
            <a:endParaRPr/>
          </a:p>
        </p:txBody>
      </p:sp>
      <p:sp>
        <p:nvSpPr>
          <p:cNvPr id="154" name="TextBox 25"/>
          <p:cNvSpPr txBox="1"/>
          <p:nvPr/>
        </p:nvSpPr>
        <p:spPr>
          <a:xfrm>
            <a:off x="1809750" y="5572125"/>
            <a:ext cx="47244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中文总结 + 如实声明哪几个词未收录、建议核对权威词典</a:t>
            </a:r>
            <a:endParaRPr/>
          </a:p>
        </p:txBody>
      </p:sp>
      <p:sp>
        <p:nvSpPr>
          <p:cNvPr id="155" name="Rounded Rectangle 26"/>
          <p:cNvSpPr/>
          <p:nvPr/>
        </p:nvSpPr>
        <p:spPr>
          <a:xfrm>
            <a:off x="6819900" y="2076450"/>
            <a:ext cx="22860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6" name="TextBox 27"/>
          <p:cNvSpPr txBox="1"/>
          <p:nvPr/>
        </p:nvSpPr>
        <p:spPr>
          <a:xfrm>
            <a:off x="6991350" y="2152650"/>
            <a:ext cx="19431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2250" b="1">
                <a:solidFill>
                  <a:srgbClr val="0F172A"/>
                </a:solidFill>
                <a:latin typeface="微软雅黑"/>
                <a:ea typeface="微软雅黑"/>
              </a:rPr>
              <a:t>48</a:t>
            </a:r>
            <a:r>
              <a:rPr sz="1120" b="1">
                <a:solidFill>
                  <a:srgbClr val="0F172A"/>
                </a:solidFill>
                <a:latin typeface="微软雅黑"/>
                <a:ea typeface="微软雅黑"/>
              </a:rPr>
              <a:t>s</a:t>
            </a:r>
            <a:endParaRPr/>
          </a:p>
        </p:txBody>
      </p:sp>
      <p:sp>
        <p:nvSpPr>
          <p:cNvPr id="157" name="TextBox 28"/>
          <p:cNvSpPr txBox="1"/>
          <p:nvPr/>
        </p:nvSpPr>
        <p:spPr>
          <a:xfrm>
            <a:off x="6991350" y="2590800"/>
            <a:ext cx="19621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940" b="0">
                <a:solidFill>
                  <a:srgbClr val="5B6B84"/>
                </a:solidFill>
                <a:latin typeface="微软雅黑"/>
                <a:ea typeface="微软雅黑"/>
              </a:rPr>
              <a:t>端到端耗时</a:t>
            </a:r>
            <a:endParaRPr/>
          </a:p>
        </p:txBody>
      </p:sp>
      <p:sp>
        <p:nvSpPr>
          <p:cNvPr id="158" name="Rounded Rectangle 29"/>
          <p:cNvSpPr/>
          <p:nvPr/>
        </p:nvSpPr>
        <p:spPr>
          <a:xfrm>
            <a:off x="9239250" y="2076450"/>
            <a:ext cx="22860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TextBox 30"/>
          <p:cNvSpPr txBox="1"/>
          <p:nvPr/>
        </p:nvSpPr>
        <p:spPr>
          <a:xfrm>
            <a:off x="9410700" y="2152650"/>
            <a:ext cx="19431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2250" b="1">
                <a:solidFill>
                  <a:srgbClr val="0F172A"/>
                </a:solidFill>
                <a:latin typeface="微软雅黑"/>
                <a:ea typeface="微软雅黑"/>
              </a:rPr>
              <a:t>12</a:t>
            </a:r>
            <a:endParaRPr/>
          </a:p>
        </p:txBody>
      </p:sp>
      <p:sp>
        <p:nvSpPr>
          <p:cNvPr id="160" name="TextBox 31"/>
          <p:cNvSpPr txBox="1"/>
          <p:nvPr/>
        </p:nvSpPr>
        <p:spPr>
          <a:xfrm>
            <a:off x="9410700" y="2590800"/>
            <a:ext cx="19621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940" b="0">
                <a:solidFill>
                  <a:srgbClr val="5B6B84"/>
                </a:solidFill>
                <a:latin typeface="微软雅黑"/>
                <a:ea typeface="微软雅黑"/>
              </a:rPr>
              <a:t>次工具调用 / 20 余步</a:t>
            </a:r>
            <a:endParaRPr/>
          </a:p>
        </p:txBody>
      </p:sp>
      <p:sp>
        <p:nvSpPr>
          <p:cNvPr id="161" name="Rounded Rectangle 32"/>
          <p:cNvSpPr/>
          <p:nvPr/>
        </p:nvSpPr>
        <p:spPr>
          <a:xfrm>
            <a:off x="6819900" y="3028950"/>
            <a:ext cx="22860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2" name="TextBox 33"/>
          <p:cNvSpPr txBox="1"/>
          <p:nvPr/>
        </p:nvSpPr>
        <p:spPr>
          <a:xfrm>
            <a:off x="6991350" y="3105150"/>
            <a:ext cx="19431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2250" b="1">
                <a:solidFill>
                  <a:srgbClr val="0F172A"/>
                </a:solidFill>
                <a:latin typeface="微软雅黑"/>
                <a:ea typeface="微软雅黑"/>
              </a:rPr>
              <a:t>8</a:t>
            </a:r>
            <a:endParaRPr/>
          </a:p>
        </p:txBody>
      </p:sp>
      <p:sp>
        <p:nvSpPr>
          <p:cNvPr id="163" name="TextBox 34"/>
          <p:cNvSpPr txBox="1"/>
          <p:nvPr/>
        </p:nvSpPr>
        <p:spPr>
          <a:xfrm>
            <a:off x="6991350" y="3543300"/>
            <a:ext cx="19621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940" b="0">
                <a:solidFill>
                  <a:srgbClr val="5B6B84"/>
                </a:solidFill>
                <a:latin typeface="微软雅黑"/>
                <a:ea typeface="微软雅黑"/>
              </a:rPr>
              <a:t>处自动挖空</a:t>
            </a:r>
            <a:endParaRPr/>
          </a:p>
        </p:txBody>
      </p:sp>
      <p:sp>
        <p:nvSpPr>
          <p:cNvPr id="164" name="Rounded Rectangle 35"/>
          <p:cNvSpPr/>
          <p:nvPr/>
        </p:nvSpPr>
        <p:spPr>
          <a:xfrm>
            <a:off x="9239250" y="3028950"/>
            <a:ext cx="22860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5" name="TextBox 36"/>
          <p:cNvSpPr txBox="1"/>
          <p:nvPr/>
        </p:nvSpPr>
        <p:spPr>
          <a:xfrm>
            <a:off x="9410700" y="3105150"/>
            <a:ext cx="19431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2250" b="1">
                <a:solidFill>
                  <a:srgbClr val="0F172A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166" name="TextBox 37"/>
          <p:cNvSpPr txBox="1"/>
          <p:nvPr/>
        </p:nvSpPr>
        <p:spPr>
          <a:xfrm>
            <a:off x="9410700" y="3543300"/>
            <a:ext cx="19621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940" b="0">
                <a:solidFill>
                  <a:srgbClr val="5B6B84"/>
                </a:solidFill>
                <a:latin typeface="微软雅黑"/>
                <a:ea typeface="微软雅黑"/>
              </a:rPr>
              <a:t>个交付文件</a:t>
            </a:r>
            <a:endParaRPr/>
          </a:p>
        </p:txBody>
      </p:sp>
      <p:sp>
        <p:nvSpPr>
          <p:cNvPr id="167" name="TextBox 38"/>
          <p:cNvSpPr txBox="1"/>
          <p:nvPr/>
        </p:nvSpPr>
        <p:spPr>
          <a:xfrm>
            <a:off x="9410700" y="3714750"/>
            <a:ext cx="19621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860" b="0">
                <a:solidFill>
                  <a:srgbClr val="93A1B8"/>
                </a:solidFill>
                <a:latin typeface="微软雅黑"/>
                <a:ea typeface="微软雅黑"/>
              </a:rPr>
              <a:t>CSV / Word / 练习页</a:t>
            </a:r>
            <a:endParaRPr/>
          </a:p>
        </p:txBody>
      </p:sp>
      <p:sp>
        <p:nvSpPr>
          <p:cNvPr id="168" name="Rounded Rectangle 39"/>
          <p:cNvSpPr/>
          <p:nvPr/>
        </p:nvSpPr>
        <p:spPr>
          <a:xfrm>
            <a:off x="6819900" y="4076700"/>
            <a:ext cx="472440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9" name="Rounded Rectangle 40"/>
          <p:cNvSpPr/>
          <p:nvPr/>
        </p:nvSpPr>
        <p:spPr>
          <a:xfrm>
            <a:off x="6829425" y="4171950"/>
            <a:ext cx="38100" cy="1009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0" name="TextBox 41"/>
          <p:cNvSpPr txBox="1"/>
          <p:nvPr/>
        </p:nvSpPr>
        <p:spPr>
          <a:xfrm>
            <a:off x="7048500" y="4210050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界面里看得到每一步</a:t>
            </a:r>
            <a:endParaRPr/>
          </a:p>
        </p:txBody>
      </p:sp>
      <p:sp>
        <p:nvSpPr>
          <p:cNvPr id="171" name="TextBox 42"/>
          <p:cNvSpPr txBox="1"/>
          <p:nvPr/>
        </p:nvSpPr>
        <p:spPr>
          <a:xfrm>
            <a:off x="7048500" y="4457700"/>
            <a:ext cx="4343400" cy="704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用 </a:t>
            </a: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st.status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 把事件流逐条展开：工具名、参数、返回前 90 字符。教师可以当场确认「是工具在算，不是模型在说」。</a:t>
            </a:r>
            <a:endParaRPr/>
          </a:p>
        </p:txBody>
      </p:sp>
      <p:sp>
        <p:nvSpPr>
          <p:cNvPr id="172" name="TextBox 43"/>
          <p:cNvSpPr txBox="1"/>
          <p:nvPr/>
        </p:nvSpPr>
        <p:spPr>
          <a:xfrm>
            <a:off x="6819900" y="5391150"/>
            <a:ext cx="47244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980" b="0">
                <a:solidFill>
                  <a:srgbClr val="5B6B84"/>
                </a:solidFill>
                <a:latin typeface="微软雅黑"/>
                <a:ea typeface="微软雅黑"/>
              </a:rPr>
              <a:t>数据来自 </a:t>
            </a:r>
            <a:r>
              <a:rPr sz="919" b="0">
                <a:solidFill>
                  <a:srgbClr val="1E3A8A"/>
                </a:solidFill>
                <a:latin typeface="微软雅黑"/>
                <a:ea typeface="微软雅黑"/>
              </a:rPr>
              <a:t>scripts/rehearse.py</a:t>
            </a:r>
            <a:r>
              <a:rPr sz="980" b="0">
                <a:solidFill>
                  <a:srgbClr val="5B6B84"/>
                </a:solidFill>
                <a:latin typeface="微软雅黑"/>
                <a:ea typeface="微软雅黑"/>
              </a:rPr>
              <a:t> 的真实运行日志，非手写。</a:t>
            </a:r>
            <a:endParaRPr/>
          </a:p>
        </p:txBody>
      </p:sp>
      <p:sp>
        <p:nvSpPr>
          <p:cNvPr id="173" name="TextBox 44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04 / 15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6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关键能力 · Skill</a:t>
            </a:r>
            <a:endParaRPr/>
          </a:p>
        </p:txBody>
      </p:sp>
      <p:sp>
        <p:nvSpPr>
          <p:cNvPr id="177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Skill 不是更长的提示词，是</a:t>
            </a:r>
            <a:r>
              <a:rPr sz="2850" b="1">
                <a:solidFill>
                  <a:srgbClr val="2563EB"/>
                </a:solidFill>
                <a:latin typeface="微软雅黑"/>
                <a:ea typeface="微软雅黑"/>
              </a:rPr>
              <a:t>按需加载的流程包</a:t>
            </a:r>
            <a:endParaRPr/>
          </a:p>
        </p:txBody>
      </p:sp>
      <p:sp>
        <p:nvSpPr>
          <p:cNvPr id="178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9" name="Rounded Rectangle 5"/>
          <p:cNvSpPr/>
          <p:nvPr/>
        </p:nvSpPr>
        <p:spPr>
          <a:xfrm>
            <a:off x="647700" y="2057400"/>
            <a:ext cx="52959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0" name="Rounded Rectangle 6"/>
          <p:cNvSpPr/>
          <p:nvPr/>
        </p:nvSpPr>
        <p:spPr>
          <a:xfrm>
            <a:off x="876300" y="22479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181" name="TextBox 7"/>
          <p:cNvSpPr txBox="1"/>
          <p:nvPr/>
        </p:nvSpPr>
        <p:spPr>
          <a:xfrm>
            <a:off x="1257300" y="2266950"/>
            <a:ext cx="447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580" b="1">
                <a:solidFill>
                  <a:srgbClr val="0F172A"/>
                </a:solidFill>
                <a:latin typeface="微软雅黑"/>
                <a:ea typeface="微软雅黑"/>
              </a:rPr>
              <a:t>常驻人设（每轮都在）</a:t>
            </a:r>
            <a:endParaRPr/>
          </a:p>
        </p:txBody>
      </p:sp>
      <p:sp>
        <p:nvSpPr>
          <p:cNvPr id="182" name="TextBox 8"/>
          <p:cNvSpPr txBox="1"/>
          <p:nvPr/>
        </p:nvSpPr>
        <p:spPr>
          <a:xfrm>
            <a:off x="876300" y="2628900"/>
            <a:ext cx="4762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5324A"/>
                </a:solidFill>
                <a:latin typeface="微软雅黑"/>
                <a:ea typeface="微软雅黑"/>
              </a:rPr>
              <a:t>身份、七个工具怎么用、十一条纪律、当前学习者档案。短、稳定、不含具体作业流程。</a:t>
            </a:r>
            <a:endParaRPr/>
          </a:p>
        </p:txBody>
      </p:sp>
      <p:sp>
        <p:nvSpPr>
          <p:cNvPr id="183" name="Rounded Rectangle 9"/>
          <p:cNvSpPr/>
          <p:nvPr/>
        </p:nvSpPr>
        <p:spPr>
          <a:xfrm>
            <a:off x="647700" y="3352800"/>
            <a:ext cx="5295900" cy="1181100"/>
          </a:xfrm>
          <a:prstGeom prst="roundRect">
            <a:avLst>
              <a:gd name="adj" fmla="val 9677"/>
            </a:avLst>
          </a:prstGeom>
          <a:solidFill>
            <a:srgbClr val="F3FCFB"/>
          </a:solidFill>
          <a:ln w="15240">
            <a:solidFill>
              <a:srgbClr val="7FD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4" name="Rounded Rectangle 10"/>
          <p:cNvSpPr/>
          <p:nvPr/>
        </p:nvSpPr>
        <p:spPr>
          <a:xfrm>
            <a:off x="876300" y="35433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185" name="TextBox 11"/>
          <p:cNvSpPr txBox="1"/>
          <p:nvPr/>
        </p:nvSpPr>
        <p:spPr>
          <a:xfrm>
            <a:off x="1257300" y="3562350"/>
            <a:ext cx="447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580" b="1">
                <a:solidFill>
                  <a:srgbClr val="0F172A"/>
                </a:solidFill>
                <a:latin typeface="微软雅黑"/>
                <a:ea typeface="微软雅黑"/>
              </a:rPr>
              <a:t>Skill（命中才拼进来）</a:t>
            </a:r>
            <a:endParaRPr/>
          </a:p>
        </p:txBody>
      </p:sp>
      <p:sp>
        <p:nvSpPr>
          <p:cNvPr id="186" name="TextBox 12"/>
          <p:cNvSpPr txBox="1"/>
          <p:nvPr/>
        </p:nvSpPr>
        <p:spPr>
          <a:xfrm>
            <a:off x="876300" y="3924300"/>
            <a:ext cx="4762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5324A"/>
                </a:solidFill>
                <a:latin typeface="微软雅黑"/>
                <a:ea typeface="微软雅黑"/>
              </a:rPr>
              <a:t>精读六步法 + 输出格式契约 + HTML 模板。</a:t>
            </a:r>
            <a:r>
              <a:rPr sz="1200" b="1">
                <a:solidFill>
                  <a:srgbClr val="25324A"/>
                </a:solidFill>
                <a:latin typeface="微软雅黑"/>
                <a:ea typeface="微软雅黑"/>
              </a:rPr>
              <a:t>没命中触发词，一个字都不进上下文。</a:t>
            </a:r>
            <a:endParaRPr/>
          </a:p>
        </p:txBody>
      </p:sp>
      <p:sp>
        <p:nvSpPr>
          <p:cNvPr id="187" name="Rounded Rectangle 13"/>
          <p:cNvSpPr/>
          <p:nvPr/>
        </p:nvSpPr>
        <p:spPr>
          <a:xfrm>
            <a:off x="647700" y="4648200"/>
            <a:ext cx="5295900" cy="1181100"/>
          </a:xfrm>
          <a:prstGeom prst="roundRect">
            <a:avLst>
              <a:gd name="adj" fmla="val 9677"/>
            </a:avLst>
          </a:prstGeom>
          <a:solidFill>
            <a:srgbClr val="FAF8FF"/>
          </a:solidFill>
          <a:ln w="15240">
            <a:solidFill>
              <a:srgbClr val="C4B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8" name="Rounded Rectangle 14"/>
          <p:cNvSpPr/>
          <p:nvPr/>
        </p:nvSpPr>
        <p:spPr>
          <a:xfrm>
            <a:off x="876300" y="48387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189" name="TextBox 15"/>
          <p:cNvSpPr txBox="1"/>
          <p:nvPr/>
        </p:nvSpPr>
        <p:spPr>
          <a:xfrm>
            <a:off x="1257300" y="4857750"/>
            <a:ext cx="447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580" b="1">
                <a:solidFill>
                  <a:srgbClr val="0F172A"/>
                </a:solidFill>
                <a:latin typeface="微软雅黑"/>
                <a:ea typeface="微软雅黑"/>
              </a:rPr>
              <a:t>动态档案（每轮重算）</a:t>
            </a:r>
            <a:endParaRPr/>
          </a:p>
        </p:txBody>
      </p:sp>
      <p:sp>
        <p:nvSpPr>
          <p:cNvPr id="190" name="TextBox 16"/>
          <p:cNvSpPr txBox="1"/>
          <p:nvPr/>
        </p:nvSpPr>
        <p:spPr>
          <a:xfrm>
            <a:off x="876300" y="5219700"/>
            <a:ext cx="4762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5324A"/>
                </a:solidFill>
                <a:latin typeface="微软雅黑"/>
                <a:ea typeface="微软雅黑"/>
              </a:rPr>
              <a:t>目标考试、水平、错词本。跟着 JSON 变，不用改代码。</a:t>
            </a:r>
            <a:endParaRPr/>
          </a:p>
        </p:txBody>
      </p:sp>
      <p:sp>
        <p:nvSpPr>
          <p:cNvPr id="191" name="Rounded Rectangle 17"/>
          <p:cNvSpPr/>
          <p:nvPr/>
        </p:nvSpPr>
        <p:spPr>
          <a:xfrm>
            <a:off x="6172200" y="2057400"/>
            <a:ext cx="5372100" cy="2133600"/>
          </a:xfrm>
          <a:prstGeom prst="roundRect">
            <a:avLst>
              <a:gd name="adj" fmla="val 53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2" name="TextBox 18"/>
          <p:cNvSpPr txBox="1"/>
          <p:nvPr/>
        </p:nvSpPr>
        <p:spPr>
          <a:xfrm>
            <a:off x="6362700" y="2228850"/>
            <a:ext cx="4991100" cy="17907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55000"/>
              </a:lnSpc>
            </a:pPr>
            <a:r>
              <a:rPr sz="1050" b="0">
                <a:solidFill>
                  <a:srgbClr val="8FA3C4"/>
                </a:solidFill>
                <a:latin typeface="Consolas"/>
                <a:ea typeface="微软雅黑"/>
              </a:rPr>
              <a:t># agent/prompts.py · select_skill()</a:t>
            </a:r>
            <a:endParaRPr/>
          </a:p>
          <a:p>
            <a:pPr>
              <a:lnSpc>
                <a:spcPct val="155000"/>
              </a:lnSpc>
            </a:pP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select_skill(query: </a:t>
            </a: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str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, history: </a:t>
            </a: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str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= </a:t>
            </a:r>
            <a:r>
              <a:rPr sz="1050" b="0">
                <a:solidFill>
                  <a:srgbClr val="A7F3D0"/>
                </a:solidFill>
                <a:latin typeface="Consolas"/>
                <a:ea typeface="微软雅黑"/>
              </a:rPr>
              <a:t>""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) -&gt; </a:t>
            </a: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str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| </a:t>
            </a: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None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:</a:t>
            </a:r>
            <a:endParaRPr/>
          </a:p>
          <a:p>
            <a:pPr>
              <a:lnSpc>
                <a:spcPct val="155000"/>
              </a:lnSpc>
            </a:pP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1050" b="0">
                <a:solidFill>
                  <a:srgbClr val="A7F3D0"/>
                </a:solidFill>
                <a:latin typeface="Consolas"/>
                <a:ea typeface="微软雅黑"/>
              </a:rPr>
              <a:t>"""按触发词决定是否加载技能全文。"""</a:t>
            </a:r>
            <a:endParaRPr/>
          </a:p>
          <a:p>
            <a:pPr>
              <a:lnSpc>
                <a:spcPct val="155000"/>
              </a:lnSpc>
            </a:pP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   haystack = f</a:t>
            </a:r>
            <a:r>
              <a:rPr sz="1050" b="0">
                <a:solidFill>
                  <a:srgbClr val="A7F3D0"/>
                </a:solidFill>
                <a:latin typeface="Consolas"/>
                <a:ea typeface="微软雅黑"/>
              </a:rPr>
              <a:t>"{query}\n{history}"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.lower()</a:t>
            </a:r>
            <a:endParaRPr/>
          </a:p>
          <a:p>
            <a:pPr>
              <a:lnSpc>
                <a:spcPct val="155000"/>
              </a:lnSpc>
            </a:pP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not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any(k </a:t>
            </a: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haystack </a:t>
            </a: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k </a:t>
            </a: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SKILL_TRIGGERS):</a:t>
            </a:r>
            <a:endParaRPr/>
          </a:p>
          <a:p>
            <a:pPr>
              <a:lnSpc>
                <a:spcPct val="155000"/>
              </a:lnSpc>
            </a:pP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1050" b="0">
                <a:solidFill>
                  <a:srgbClr val="7DD3FC"/>
                </a:solidFill>
                <a:latin typeface="Consolas"/>
                <a:ea typeface="微软雅黑"/>
              </a:rPr>
              <a:t>None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         </a:t>
            </a:r>
            <a:r>
              <a:rPr sz="1050" b="0">
                <a:solidFill>
                  <a:srgbClr val="8FA3C4"/>
                </a:solidFill>
                <a:latin typeface="Consolas"/>
                <a:ea typeface="微软雅黑"/>
              </a:rPr>
              <a:t># ← 直接不加载</a:t>
            </a:r>
            <a:endParaRPr/>
          </a:p>
          <a:p>
            <a:pPr>
              <a:lnSpc>
                <a:spcPct val="155000"/>
              </a:lnSpc>
            </a:pP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   skill_file = SKILL_DIR / </a:t>
            </a:r>
            <a:r>
              <a:rPr sz="1050" b="0">
                <a:solidFill>
                  <a:srgbClr val="A7F3D0"/>
                </a:solidFill>
                <a:latin typeface="Consolas"/>
                <a:ea typeface="微软雅黑"/>
              </a:rPr>
              <a:t>"intensive-reading"</a:t>
            </a: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/ </a:t>
            </a:r>
            <a:r>
              <a:rPr sz="1050" b="0">
                <a:solidFill>
                  <a:srgbClr val="A7F3D0"/>
                </a:solidFill>
                <a:latin typeface="Consolas"/>
                <a:ea typeface="微软雅黑"/>
              </a:rPr>
              <a:t>"SKILL.md"</a:t>
            </a:r>
            <a:endParaRPr/>
          </a:p>
          <a:p>
            <a:pPr>
              <a:lnSpc>
                <a:spcPct val="155000"/>
              </a:lnSpc>
            </a:pPr>
            <a:r>
              <a:rPr sz="1050" b="0">
                <a:solidFill>
                  <a:srgbClr val="E2E8F5"/>
                </a:solidFill>
                <a:latin typeface="Consolas"/>
                <a:ea typeface="微软雅黑"/>
              </a:rPr>
              <a:t>    ...</a:t>
            </a:r>
            <a:endParaRPr/>
          </a:p>
        </p:txBody>
      </p:sp>
      <p:sp>
        <p:nvSpPr>
          <p:cNvPr id="193" name="Rounded Rectangle 19"/>
          <p:cNvSpPr/>
          <p:nvPr/>
        </p:nvSpPr>
        <p:spPr>
          <a:xfrm>
            <a:off x="6172200" y="4305300"/>
            <a:ext cx="5372100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4" name="TextBox 20"/>
          <p:cNvSpPr txBox="1"/>
          <p:nvPr/>
        </p:nvSpPr>
        <p:spPr>
          <a:xfrm>
            <a:off x="6400800" y="4419600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实测两种输入的系统提示词长度</a:t>
            </a:r>
            <a:endParaRPr/>
          </a:p>
        </p:txBody>
      </p:sp>
      <p:graphicFrame>
        <p:nvGraphicFramePr>
          <p:cNvPr id="195" name="Table 21"/>
          <p:cNvGraphicFramePr/>
          <p:nvPr/>
        </p:nvGraphicFramePr>
        <p:xfrm>
          <a:off x="6362700" y="4686300"/>
          <a:ext cx="4991100" cy="715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1">
                          <a:solidFill>
                            <a:srgbClr val="5B6B84"/>
                          </a:solidFill>
                          <a:latin typeface="微软雅黑"/>
                          <a:ea typeface="微软雅黑"/>
                        </a:rPr>
                        <a:t>输入</a:t>
                      </a:r>
                      <a:endParaRPr/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1">
                          <a:solidFill>
                            <a:srgbClr val="5B6B84"/>
                          </a:solidFill>
                          <a:latin typeface="微软雅黑"/>
                          <a:ea typeface="微软雅黑"/>
                        </a:rPr>
                        <a:t>系统提示词</a:t>
                      </a:r>
                      <a:endParaRPr/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1">
                          <a:solidFill>
                            <a:srgbClr val="5B6B84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  <a:endParaRPr/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「帮我精读这篇文章…」</a:t>
                      </a:r>
                      <a:endParaRPr/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1717</a:t>
                      </a: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 字符</a:t>
                      </a:r>
                      <a:endParaRPr/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注入</a:t>
                      </a:r>
                      <a:endParaRPr/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「今天天气怎么样」</a:t>
                      </a:r>
                      <a:endParaRPr/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 字符</a:t>
                      </a:r>
                      <a:endParaRPr/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不注入</a:t>
                      </a:r>
                      <a:endParaRPr/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</a:tbl>
          </a:graphicData>
        </a:graphic>
      </p:graphicFrame>
      <p:sp>
        <p:nvSpPr>
          <p:cNvPr id="196" name="TextBox 22"/>
          <p:cNvSpPr txBox="1"/>
          <p:nvPr/>
        </p:nvSpPr>
        <p:spPr>
          <a:xfrm>
            <a:off x="6172200" y="5715000"/>
            <a:ext cx="5372100" cy="628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120" b="0">
                <a:solidFill>
                  <a:srgbClr val="5B6B84"/>
                </a:solidFill>
                <a:latin typeface="微软雅黑"/>
                <a:ea typeface="微软雅黑"/>
              </a:rPr>
              <a:t>加一个新技能 = 加一个目录，</a:t>
            </a:r>
            <a:r>
              <a:rPr sz="1120" b="1">
                <a:solidFill>
                  <a:srgbClr val="5B6B84"/>
                </a:solidFill>
                <a:latin typeface="微软雅黑"/>
                <a:ea typeface="微软雅黑"/>
              </a:rPr>
              <a:t>主提示词一行不改</a:t>
            </a:r>
            <a:r>
              <a:rPr sz="1120" b="0">
                <a:solidFill>
                  <a:srgbClr val="5B6B84"/>
                </a:solidFill>
                <a:latin typeface="微软雅黑"/>
                <a:ea typeface="微软雅黑"/>
              </a:rPr>
              <a:t>。这是 Skill 和 system prompt 最实际的区别。</a:t>
            </a:r>
            <a:endParaRPr/>
          </a:p>
        </p:txBody>
      </p:sp>
      <p:sp>
        <p:nvSpPr>
          <p:cNvPr id="197" name="TextBox 23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05 / 15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0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关键能力 · 工具为什么不可替代</a:t>
            </a:r>
            <a:endParaRPr/>
          </a:p>
        </p:txBody>
      </p:sp>
      <p:sp>
        <p:nvSpPr>
          <p:cNvPr id="201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提示词写「不许编」，它还是编了</a:t>
            </a:r>
            <a:endParaRPr/>
          </a:p>
        </p:txBody>
      </p:sp>
      <p:sp>
        <p:nvSpPr>
          <p:cNvPr id="202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3" name="TextBox 5"/>
          <p:cNvSpPr txBox="1"/>
          <p:nvPr/>
        </p:nvSpPr>
        <p:spPr>
          <a:xfrm>
            <a:off x="647700" y="1981200"/>
            <a:ext cx="53340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B91C1C"/>
                </a:solidFill>
                <a:latin typeface="微软雅黑"/>
                <a:ea typeface="微软雅黑"/>
              </a:rPr>
              <a:t>修复前：查词失败 → 模型自己补了个等级</a:t>
            </a:r>
            <a:endParaRPr/>
          </a:p>
        </p:txBody>
      </p:sp>
      <p:sp>
        <p:nvSpPr>
          <p:cNvPr id="204" name="Rounded Rectangle 6"/>
          <p:cNvSpPr/>
          <p:nvPr/>
        </p:nvSpPr>
        <p:spPr>
          <a:xfrm>
            <a:off x="647700" y="2286000"/>
            <a:ext cx="5334000" cy="1257300"/>
          </a:xfrm>
          <a:prstGeom prst="roundRect">
            <a:avLst>
              <a:gd name="adj" fmla="val 9090"/>
            </a:avLst>
          </a:prstGeom>
          <a:solidFill>
            <a:srgbClr val="2A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5" name="TextBox 7"/>
          <p:cNvSpPr txBox="1"/>
          <p:nvPr/>
        </p:nvSpPr>
        <p:spPr>
          <a:xfrm>
            <a:off x="838200" y="2457450"/>
            <a:ext cx="495300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55000"/>
              </a:lnSpc>
            </a:pPr>
            <a:r>
              <a:rPr sz="1010" b="0">
                <a:solidFill>
                  <a:srgbClr val="8FA3C4"/>
                </a:solidFill>
                <a:latin typeface="Consolas"/>
                <a:ea typeface="微软雅黑"/>
              </a:rPr>
              <a:t># 写盘前，模型提交的等级</a:t>
            </a:r>
            <a:endParaRPr/>
          </a:p>
          <a:p>
            <a:pPr>
              <a:lnSpc>
                <a:spcPct val="155000"/>
              </a:lnSpc>
            </a:pPr>
            <a:r>
              <a:rPr sz="1010" b="0">
                <a:solidFill>
                  <a:srgbClr val="E2E8F5"/>
                </a:solidFill>
                <a:latin typeface="Consolas"/>
                <a:ea typeface="微软雅黑"/>
              </a:rPr>
              <a:t>structural   adj.   结构上的   </a:t>
            </a:r>
            <a:r>
              <a:rPr sz="1010" b="0">
                <a:solidFill>
                  <a:srgbClr val="FCA5A5"/>
                </a:solidFill>
                <a:latin typeface="Consolas"/>
                <a:ea typeface="微软雅黑"/>
              </a:rPr>
              <a:t>CET-6</a:t>
            </a:r>
            <a:r>
              <a:rPr sz="1010" b="0">
                <a:solidFill>
                  <a:srgbClr val="8FA3C4"/>
                </a:solidFill>
                <a:latin typeface="Consolas"/>
                <a:ea typeface="微软雅黑"/>
              </a:rPr>
              <a:t>   ← lookup_word 返回 NOT_FOUND</a:t>
            </a:r>
            <a:endParaRPr/>
          </a:p>
          <a:p>
            <a:pPr>
              <a:lnSpc>
                <a:spcPct val="155000"/>
              </a:lnSpc>
            </a:pPr>
            <a:r>
              <a:rPr sz="1010" b="0">
                <a:solidFill>
                  <a:srgbClr val="E2E8F5"/>
                </a:solidFill>
                <a:latin typeface="Consolas"/>
                <a:ea typeface="微软雅黑"/>
              </a:rPr>
              <a:t>enforceable  adj.   可执行的   </a:t>
            </a:r>
            <a:r>
              <a:rPr sz="1010" b="0">
                <a:solidFill>
                  <a:srgbClr val="FCA5A5"/>
                </a:solidFill>
                <a:latin typeface="Consolas"/>
                <a:ea typeface="微软雅黑"/>
              </a:rPr>
              <a:t>CET-6</a:t>
            </a:r>
            <a:r>
              <a:rPr sz="1010" b="0">
                <a:solidFill>
                  <a:srgbClr val="8FA3C4"/>
                </a:solidFill>
                <a:latin typeface="Consolas"/>
                <a:ea typeface="微软雅黑"/>
              </a:rPr>
              <a:t>   ← 同上</a:t>
            </a:r>
            <a:endParaRPr/>
          </a:p>
          <a:p>
            <a:pPr>
              <a:lnSpc>
                <a:spcPct val="155000"/>
              </a:lnSpc>
            </a:pPr>
            <a:r>
              <a:rPr sz="1010" b="0">
                <a:solidFill>
                  <a:srgbClr val="E2E8F5"/>
                </a:solidFill>
                <a:latin typeface="Consolas"/>
                <a:ea typeface="微软雅黑"/>
              </a:rPr>
              <a:t>mitigate     v.     减轻；缓和  CET-6</a:t>
            </a:r>
            <a:endParaRPr/>
          </a:p>
        </p:txBody>
      </p:sp>
      <p:sp>
        <p:nvSpPr>
          <p:cNvPr id="206" name="TextBox 8"/>
          <p:cNvSpPr txBox="1"/>
          <p:nvPr/>
        </p:nvSpPr>
        <p:spPr>
          <a:xfrm>
            <a:off x="647700" y="3657600"/>
            <a:ext cx="5334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120" b="0">
                <a:solidFill>
                  <a:srgbClr val="8A2C2C"/>
                </a:solidFill>
                <a:latin typeface="微软雅黑"/>
                <a:ea typeface="微软雅黑"/>
              </a:rPr>
              <a:t>查词工具明明返回了 </a:t>
            </a:r>
            <a:r>
              <a:rPr sz="1060" b="0">
                <a:solidFill>
                  <a:srgbClr val="1E3A8A"/>
                </a:solidFill>
                <a:latin typeface="微软雅黑"/>
                <a:ea typeface="微软雅黑"/>
              </a:rPr>
              <a:t>NOT_FOUND</a:t>
            </a:r>
            <a:r>
              <a:rPr sz="1120" b="0">
                <a:solidFill>
                  <a:srgbClr val="8A2C2C"/>
                </a:solidFill>
                <a:latin typeface="微软雅黑"/>
                <a:ea typeface="微软雅黑"/>
              </a:rPr>
              <a:t>，模型在写 CSV 时仍然凭印象填了 </a:t>
            </a:r>
            <a:r>
              <a:rPr sz="1060" b="0">
                <a:solidFill>
                  <a:srgbClr val="1E3A8A"/>
                </a:solidFill>
                <a:latin typeface="微软雅黑"/>
                <a:ea typeface="微软雅黑"/>
              </a:rPr>
              <a:t>CET-6</a:t>
            </a:r>
            <a:r>
              <a:rPr sz="1120" b="0">
                <a:solidFill>
                  <a:srgbClr val="8A2C2C"/>
                </a:solidFill>
                <a:latin typeface="微软雅黑"/>
                <a:ea typeface="微软雅黑"/>
              </a:rPr>
              <a:t>。读起来毫无破绽——</a:t>
            </a:r>
            <a:r>
              <a:rPr sz="1120" b="1">
                <a:solidFill>
                  <a:srgbClr val="8A2C2C"/>
                </a:solidFill>
                <a:latin typeface="微软雅黑"/>
                <a:ea typeface="微软雅黑"/>
              </a:rPr>
              <a:t>这才是最危险的地方</a:t>
            </a:r>
            <a:r>
              <a:rPr sz="1120" b="0">
                <a:solidFill>
                  <a:srgbClr val="8A2C2C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207" name="Rounded Rectangle 9"/>
          <p:cNvSpPr/>
          <p:nvPr/>
        </p:nvSpPr>
        <p:spPr>
          <a:xfrm>
            <a:off x="647700" y="4343400"/>
            <a:ext cx="5334000" cy="628650"/>
          </a:xfrm>
          <a:prstGeom prst="roundRect">
            <a:avLst>
              <a:gd name="adj" fmla="val 18181"/>
            </a:avLst>
          </a:prstGeom>
          <a:solidFill>
            <a:srgbClr val="FEF3E2"/>
          </a:solidFill>
          <a:ln w="15240">
            <a:solidFill>
              <a:srgbClr val="F0C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8" name="TextBox 10"/>
          <p:cNvSpPr txBox="1"/>
          <p:nvPr/>
        </p:nvSpPr>
        <p:spPr>
          <a:xfrm>
            <a:off x="838200" y="4476750"/>
            <a:ext cx="4953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只在提示词加一句「不许编造等级」，重跑之后依然会编。</a:t>
            </a:r>
            <a:r>
              <a:rPr sz="1120" b="1">
                <a:solidFill>
                  <a:srgbClr val="25324A"/>
                </a:solidFill>
                <a:latin typeface="微软雅黑"/>
                <a:ea typeface="微软雅黑"/>
              </a:rPr>
              <a:t>模型的自我约束不是约束。</a:t>
            </a:r>
            <a:endParaRPr/>
          </a:p>
        </p:txBody>
      </p:sp>
      <p:sp>
        <p:nvSpPr>
          <p:cNvPr id="209" name="Rounded Rectangle 11"/>
          <p:cNvSpPr/>
          <p:nvPr/>
        </p:nvSpPr>
        <p:spPr>
          <a:xfrm>
            <a:off x="647700" y="5086350"/>
            <a:ext cx="5334000" cy="838200"/>
          </a:xfrm>
          <a:prstGeom prst="roundRect">
            <a:avLst>
              <a:gd name="adj" fmla="val 13636"/>
            </a:avLst>
          </a:prstGeom>
          <a:solidFill>
            <a:srgbClr val="EEF4FF"/>
          </a:solidFill>
          <a:ln w="15240">
            <a:solidFill>
              <a:srgbClr val="9DB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0" name="TextBox 12"/>
          <p:cNvSpPr txBox="1"/>
          <p:nvPr/>
        </p:nvSpPr>
        <p:spPr>
          <a:xfrm>
            <a:off x="838200" y="5219700"/>
            <a:ext cx="49530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090" b="1">
                <a:solidFill>
                  <a:srgbClr val="25324A"/>
                </a:solidFill>
                <a:latin typeface="微软雅黑"/>
                <a:ea typeface="微软雅黑"/>
              </a:rPr>
              <a:t>结论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：工具的价值不是「帮模型做事」，而是把不确定的东西变成可核验的。校验写进代码，不靠模型自觉。</a:t>
            </a:r>
            <a:endParaRPr/>
          </a:p>
        </p:txBody>
      </p:sp>
      <p:sp>
        <p:nvSpPr>
          <p:cNvPr id="211" name="TextBox 13"/>
          <p:cNvSpPr txBox="1"/>
          <p:nvPr/>
        </p:nvSpPr>
        <p:spPr>
          <a:xfrm>
            <a:off x="6191250" y="1981200"/>
            <a:ext cx="53340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15803D"/>
                </a:solidFill>
                <a:latin typeface="微软雅黑"/>
                <a:ea typeface="微软雅黑"/>
              </a:rPr>
              <a:t>修复后：写盘前用词库复核一遍</a:t>
            </a:r>
            <a:endParaRPr/>
          </a:p>
        </p:txBody>
      </p:sp>
      <p:sp>
        <p:nvSpPr>
          <p:cNvPr id="212" name="Rounded Rectangle 14"/>
          <p:cNvSpPr/>
          <p:nvPr/>
        </p:nvSpPr>
        <p:spPr>
          <a:xfrm>
            <a:off x="6191250" y="2286000"/>
            <a:ext cx="5353050" cy="2133600"/>
          </a:xfrm>
          <a:prstGeom prst="roundRect">
            <a:avLst>
              <a:gd name="adj" fmla="val 53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3" name="TextBox 15"/>
          <p:cNvSpPr txBox="1"/>
          <p:nvPr/>
        </p:nvSpPr>
        <p:spPr>
          <a:xfrm>
            <a:off x="6381750" y="2457450"/>
            <a:ext cx="4972050" cy="17907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35000"/>
              </a:lnSpc>
            </a:pPr>
            <a:r>
              <a:rPr sz="900" b="0">
                <a:solidFill>
                  <a:srgbClr val="8FA3C4"/>
                </a:solidFill>
                <a:latin typeface="Consolas"/>
                <a:ea typeface="微软雅黑"/>
              </a:rPr>
              <a:t># tools/wordlist.py · _verify()</a:t>
            </a:r>
            <a:endParaRPr/>
          </a:p>
          <a:p>
            <a:pPr>
              <a:lnSpc>
                <a:spcPct val="135000"/>
              </a:lnSpc>
            </a:pPr>
            <a:r>
              <a:rPr sz="90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 row </a:t>
            </a:r>
            <a:r>
              <a:rPr sz="90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 rows:</a:t>
            </a:r>
            <a:endParaRPr/>
          </a:p>
          <a:p>
            <a:pPr>
              <a:lnSpc>
                <a:spcPct val="135000"/>
              </a:lnSpc>
            </a:pP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    known = lookup(row[</a:t>
            </a:r>
            <a:r>
              <a:rPr sz="900" b="0">
                <a:solidFill>
                  <a:srgbClr val="A7F3D0"/>
                </a:solidFill>
                <a:latin typeface="Consolas"/>
                <a:ea typeface="微软雅黑"/>
              </a:rPr>
              <a:t>"word"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])</a:t>
            </a:r>
            <a:endParaRPr/>
          </a:p>
          <a:p>
            <a:pPr>
              <a:lnSpc>
                <a:spcPct val="135000"/>
              </a:lnSpc>
            </a:pP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0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 known </a:t>
            </a:r>
            <a:r>
              <a:rPr sz="900" b="0">
                <a:solidFill>
                  <a:srgbClr val="7DD3FC"/>
                </a:solidFill>
                <a:latin typeface="Consolas"/>
                <a:ea typeface="微软雅黑"/>
              </a:rPr>
              <a:t>is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00" b="0">
                <a:solidFill>
                  <a:srgbClr val="7DD3FC"/>
                </a:solidFill>
                <a:latin typeface="Consolas"/>
                <a:ea typeface="微软雅黑"/>
              </a:rPr>
              <a:t>None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:</a:t>
            </a:r>
            <a:endParaRPr/>
          </a:p>
          <a:p>
            <a:pPr>
              <a:lnSpc>
                <a:spcPct val="135000"/>
              </a:lnSpc>
            </a:pP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        row[</a:t>
            </a:r>
            <a:r>
              <a:rPr sz="900" b="0">
                <a:solidFill>
                  <a:srgbClr val="A7F3D0"/>
                </a:solidFill>
                <a:latin typeface="Consolas"/>
                <a:ea typeface="微软雅黑"/>
              </a:rPr>
              <a:t>"level"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]  = </a:t>
            </a:r>
            <a:r>
              <a:rPr sz="900" b="0">
                <a:solidFill>
                  <a:srgbClr val="A7F3D0"/>
                </a:solidFill>
                <a:latin typeface="Consolas"/>
                <a:ea typeface="微软雅黑"/>
              </a:rPr>
              <a:t>"未收录"</a:t>
            </a:r>
            <a:endParaRPr/>
          </a:p>
          <a:p>
            <a:pPr>
              <a:lnSpc>
                <a:spcPct val="135000"/>
              </a:lnSpc>
            </a:pP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        row[</a:t>
            </a:r>
            <a:r>
              <a:rPr sz="900" b="0">
                <a:solidFill>
                  <a:srgbClr val="A7F3D0"/>
                </a:solidFill>
                <a:latin typeface="Consolas"/>
                <a:ea typeface="微软雅黑"/>
              </a:rPr>
              <a:t>"source"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] = </a:t>
            </a:r>
            <a:r>
              <a:rPr sz="900" b="0">
                <a:solidFill>
                  <a:srgbClr val="A7F3D0"/>
                </a:solidFill>
                <a:latin typeface="Consolas"/>
                <a:ea typeface="微软雅黑"/>
              </a:rPr>
              <a:t>"模型推断"</a:t>
            </a:r>
            <a:endParaRPr/>
          </a:p>
          <a:p>
            <a:pPr>
              <a:lnSpc>
                <a:spcPct val="135000"/>
              </a:lnSpc>
            </a:pP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00" b="0">
                <a:solidFill>
                  <a:srgbClr val="7DD3FC"/>
                </a:solidFill>
                <a:latin typeface="Consolas"/>
                <a:ea typeface="微软雅黑"/>
              </a:rPr>
              <a:t>else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:</a:t>
            </a:r>
            <a:endParaRPr/>
          </a:p>
          <a:p>
            <a:pPr>
              <a:lnSpc>
                <a:spcPct val="135000"/>
              </a:lnSpc>
            </a:pP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        row[</a:t>
            </a:r>
            <a:r>
              <a:rPr sz="900" b="0">
                <a:solidFill>
                  <a:srgbClr val="A7F3D0"/>
                </a:solidFill>
                <a:latin typeface="Consolas"/>
                <a:ea typeface="微软雅黑"/>
              </a:rPr>
              <a:t>"level"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]  = known[</a:t>
            </a:r>
            <a:r>
              <a:rPr sz="900" b="0">
                <a:solidFill>
                  <a:srgbClr val="A7F3D0"/>
                </a:solidFill>
                <a:latin typeface="Consolas"/>
                <a:ea typeface="微软雅黑"/>
              </a:rPr>
              <a:t>"level"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]   </a:t>
            </a:r>
            <a:r>
              <a:rPr sz="900" b="0">
                <a:solidFill>
                  <a:srgbClr val="8FA3C4"/>
                </a:solidFill>
                <a:latin typeface="Consolas"/>
                <a:ea typeface="微软雅黑"/>
              </a:rPr>
              <a:t># 词库覆盖</a:t>
            </a:r>
            <a:endParaRPr/>
          </a:p>
          <a:p>
            <a:pPr>
              <a:lnSpc>
                <a:spcPct val="135000"/>
              </a:lnSpc>
            </a:pP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        row[</a:t>
            </a:r>
            <a:r>
              <a:rPr sz="900" b="0">
                <a:solidFill>
                  <a:srgbClr val="A7F3D0"/>
                </a:solidFill>
                <a:latin typeface="Consolas"/>
                <a:ea typeface="微软雅黑"/>
              </a:rPr>
              <a:t>"source"</a:t>
            </a:r>
            <a:r>
              <a:rPr sz="900" b="0">
                <a:solidFill>
                  <a:srgbClr val="E2E8F5"/>
                </a:solidFill>
                <a:latin typeface="Consolas"/>
                <a:ea typeface="微软雅黑"/>
              </a:rPr>
              <a:t>] = </a:t>
            </a:r>
            <a:r>
              <a:rPr sz="900" b="0">
                <a:solidFill>
                  <a:srgbClr val="A7F3D0"/>
                </a:solidFill>
                <a:latin typeface="Consolas"/>
                <a:ea typeface="微软雅黑"/>
              </a:rPr>
              <a:t>"本地词库"</a:t>
            </a:r>
            <a:endParaRPr/>
          </a:p>
          <a:p>
            <a:pPr>
              <a:lnSpc>
                <a:spcPct val="135000"/>
              </a:lnSpc>
            </a:pPr>
            <a:r>
              <a:rPr sz="900" b="0">
                <a:solidFill>
                  <a:srgbClr val="8FA3C4"/>
                </a:solidFill>
                <a:latin typeface="Consolas"/>
                <a:ea typeface="微软雅黑"/>
              </a:rPr>
              <a:t># 这两项不写进 CSV，只变成 Word 的等级标签与「未收录」小字注</a:t>
            </a:r>
            <a:endParaRPr/>
          </a:p>
        </p:txBody>
      </p:sp>
      <p:sp>
        <p:nvSpPr>
          <p:cNvPr id="214" name="Rounded Rectangle 16"/>
          <p:cNvSpPr/>
          <p:nvPr/>
        </p:nvSpPr>
        <p:spPr>
          <a:xfrm>
            <a:off x="6191250" y="4591050"/>
            <a:ext cx="5353050" cy="990600"/>
          </a:xfrm>
          <a:prstGeom prst="roundRect">
            <a:avLst>
              <a:gd name="adj" fmla="val 11538"/>
            </a:avLst>
          </a:prstGeom>
          <a:solidFill>
            <a:srgbClr val="0D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5" name="TextBox 17"/>
          <p:cNvSpPr txBox="1"/>
          <p:nvPr/>
        </p:nvSpPr>
        <p:spPr>
          <a:xfrm>
            <a:off x="6381750" y="4762500"/>
            <a:ext cx="4972050" cy="6477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45000"/>
              </a:lnSpc>
            </a:pPr>
            <a:r>
              <a:rPr sz="910" b="0">
                <a:solidFill>
                  <a:srgbClr val="8FA3C4"/>
                </a:solidFill>
                <a:latin typeface="Consolas"/>
                <a:ea typeface="微软雅黑"/>
              </a:rPr>
              <a:t># 两个文件的分工：数据归数据，判断归标签</a:t>
            </a:r>
            <a:endParaRPr/>
          </a:p>
          <a:p>
            <a:pPr>
              <a:lnSpc>
                <a:spcPct val="145000"/>
              </a:lnSpc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outputs/*.csv   → word, phonetic, pos, cn, example</a:t>
            </a:r>
            <a:r>
              <a:rPr sz="910" b="0">
                <a:solidFill>
                  <a:srgbClr val="8FA3C4"/>
                </a:solidFill>
                <a:latin typeface="Consolas"/>
                <a:ea typeface="微软雅黑"/>
              </a:rPr>
              <a:t>    （五列，不含等级）</a:t>
            </a:r>
            <a:endParaRPr/>
          </a:p>
          <a:p>
            <a:pPr>
              <a:lnSpc>
                <a:spcPct val="145000"/>
              </a:lnSpc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outputs/*.docx  → 〔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未收录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〕 structural   </a:t>
            </a:r>
            <a:r>
              <a:rPr sz="910" b="0">
                <a:solidFill>
                  <a:srgbClr val="8FA3C4"/>
                </a:solidFill>
                <a:latin typeface="Consolas"/>
                <a:ea typeface="微软雅黑"/>
              </a:rPr>
              <a:t>← 注：释义与用法为模型推断</a:t>
            </a:r>
            <a:endParaRPr/>
          </a:p>
          <a:p>
            <a:pPr>
              <a:lnSpc>
                <a:spcPct val="145000"/>
              </a:lnSpc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              〔CET-6〕  mitigate     〔CET-4〕  sustainable</a:t>
            </a:r>
            <a:endParaRPr/>
          </a:p>
        </p:txBody>
      </p:sp>
      <p:sp>
        <p:nvSpPr>
          <p:cNvPr id="216" name="TextBox 18"/>
          <p:cNvSpPr txBox="1"/>
          <p:nvPr/>
        </p:nvSpPr>
        <p:spPr>
          <a:xfrm>
            <a:off x="6191250" y="5695950"/>
            <a:ext cx="5353050" cy="628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090" b="0" dirty="0" err="1">
                <a:solidFill>
                  <a:srgbClr val="14655D"/>
                </a:solidFill>
                <a:latin typeface="微软雅黑"/>
                <a:ea typeface="微软雅黑"/>
              </a:rPr>
              <a:t>模型随即在回复里主动声明</a:t>
            </a:r>
            <a:r>
              <a:rPr sz="1090" b="0" dirty="0">
                <a:solidFill>
                  <a:srgbClr val="14655D"/>
                </a:solidFill>
                <a:latin typeface="微软雅黑"/>
                <a:ea typeface="微软雅黑"/>
              </a:rPr>
              <a:t>：「含 3 </a:t>
            </a:r>
            <a:r>
              <a:rPr sz="1090" b="0" dirty="0" err="1">
                <a:solidFill>
                  <a:srgbClr val="14655D"/>
                </a:solidFill>
                <a:latin typeface="微软雅黑"/>
                <a:ea typeface="微软雅黑"/>
              </a:rPr>
              <a:t>个未收录词，建议同步核对权威词典</a:t>
            </a:r>
            <a:r>
              <a:rPr sz="1090" b="0" dirty="0">
                <a:solidFill>
                  <a:srgbClr val="14655D"/>
                </a:solidFill>
                <a:latin typeface="微软雅黑"/>
                <a:ea typeface="微软雅黑"/>
              </a:rPr>
              <a:t>」。</a:t>
            </a:r>
            <a:endParaRPr dirty="0"/>
          </a:p>
        </p:txBody>
      </p:sp>
      <p:sp>
        <p:nvSpPr>
          <p:cNvPr id="217" name="TextBox 19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06 / 15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0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关键能力 · 权限隔离</a:t>
            </a:r>
            <a:endParaRPr/>
          </a:p>
        </p:txBody>
      </p:sp>
      <p:sp>
        <p:nvSpPr>
          <p:cNvPr id="221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模型给的路径是</a:t>
            </a:r>
            <a:r>
              <a:rPr sz="2850" b="1">
                <a:solidFill>
                  <a:srgbClr val="2563EB"/>
                </a:solidFill>
                <a:latin typeface="微软雅黑"/>
                <a:ea typeface="微软雅黑"/>
              </a:rPr>
              <a:t>不可信输入</a:t>
            </a:r>
            <a:endParaRPr/>
          </a:p>
        </p:txBody>
      </p:sp>
      <p:sp>
        <p:nvSpPr>
          <p:cNvPr id="222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3" name="Rounded Rectangle 5"/>
          <p:cNvSpPr/>
          <p:nvPr/>
        </p:nvSpPr>
        <p:spPr>
          <a:xfrm>
            <a:off x="647700" y="2057400"/>
            <a:ext cx="5810250" cy="4191000"/>
          </a:xfrm>
          <a:prstGeom prst="roundRect">
            <a:avLst>
              <a:gd name="adj" fmla="val 272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4" name="TextBox 6"/>
          <p:cNvSpPr txBox="1"/>
          <p:nvPr/>
        </p:nvSpPr>
        <p:spPr>
          <a:xfrm>
            <a:off x="838200" y="2228850"/>
            <a:ext cx="5429250" cy="38481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55000"/>
              </a:lnSpc>
            </a:pPr>
            <a:r>
              <a:rPr sz="1019" b="0">
                <a:solidFill>
                  <a:srgbClr val="8FA3C4"/>
                </a:solidFill>
                <a:latin typeface="Consolas"/>
                <a:ea typeface="微软雅黑"/>
              </a:rPr>
              <a:t># config.py · 所有写盘只有这一个入口</a:t>
            </a: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safe_output_path(filename: </a:t>
            </a: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str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, default_ext=</a:t>
            </a:r>
            <a:r>
              <a:rPr sz="1019" b="0">
                <a:solidFill>
                  <a:srgbClr val="A7F3D0"/>
                </a:solidFill>
                <a:latin typeface="Consolas"/>
                <a:ea typeface="微软雅黑"/>
              </a:rPr>
              <a:t>".txt"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) -&gt; Path:</a:t>
            </a: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   raw = (filename </a:t>
            </a: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or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1019" b="0">
                <a:solidFill>
                  <a:srgbClr val="A7F3D0"/>
                </a:solidFill>
                <a:latin typeface="Consolas"/>
                <a:ea typeface="微软雅黑"/>
              </a:rPr>
              <a:t>""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).strip().replace(</a:t>
            </a:r>
            <a:r>
              <a:rPr sz="1019" b="0">
                <a:solidFill>
                  <a:srgbClr val="A7F3D0"/>
                </a:solidFill>
                <a:latin typeface="Consolas"/>
                <a:ea typeface="微软雅黑"/>
              </a:rPr>
              <a:t>"\\"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1019" b="0">
                <a:solidFill>
                  <a:srgbClr val="A7F3D0"/>
                </a:solidFill>
                <a:latin typeface="Consolas"/>
                <a:ea typeface="微软雅黑"/>
              </a:rPr>
              <a:t>"/"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raw.lower().startswith(</a:t>
            </a:r>
            <a:r>
              <a:rPr sz="1019" b="0">
                <a:solidFill>
                  <a:srgbClr val="A7F3D0"/>
                </a:solidFill>
                <a:latin typeface="Consolas"/>
                <a:ea typeface="微软雅黑"/>
              </a:rPr>
              <a:t>"outputs/"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):   </a:t>
            </a:r>
            <a:r>
              <a:rPr sz="1019" b="0">
                <a:solidFill>
                  <a:srgbClr val="8FA3C4"/>
                </a:solidFill>
                <a:latin typeface="Consolas"/>
                <a:ea typeface="微软雅黑"/>
              </a:rPr>
              <a:t># 模型常这么写</a:t>
            </a: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       raw = raw[len(</a:t>
            </a:r>
            <a:r>
              <a:rPr sz="1019" b="0">
                <a:solidFill>
                  <a:srgbClr val="A7F3D0"/>
                </a:solidFill>
                <a:latin typeface="Consolas"/>
                <a:ea typeface="微软雅黑"/>
              </a:rPr>
              <a:t>"outputs/"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):]</a:t>
            </a:r>
            <a:endParaRPr/>
          </a:p>
          <a:p>
            <a:pPr>
              <a:lnSpc>
                <a:spcPct val="155000"/>
              </a:lnSpc>
            </a:pP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1019" b="0">
                <a:solidFill>
                  <a:srgbClr val="A7F3D0"/>
                </a:solidFill>
                <a:latin typeface="Consolas"/>
                <a:ea typeface="微软雅黑"/>
              </a:rPr>
              <a:t>"/"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raw </a:t>
            </a: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or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raw </a:t>
            </a: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(</a:t>
            </a:r>
            <a:r>
              <a:rPr sz="1019" b="0">
                <a:solidFill>
                  <a:srgbClr val="A7F3D0"/>
                </a:solidFill>
                <a:latin typeface="Consolas"/>
                <a:ea typeface="微软雅黑"/>
              </a:rPr>
              <a:t>"."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1019" b="0">
                <a:solidFill>
                  <a:srgbClr val="A7F3D0"/>
                </a:solidFill>
                <a:latin typeface="Consolas"/>
                <a:ea typeface="微软雅黑"/>
              </a:rPr>
              <a:t>".."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):</a:t>
            </a: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raise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ValueError(            </a:t>
            </a:r>
            <a:r>
              <a:rPr sz="1019" b="0">
                <a:solidFill>
                  <a:srgbClr val="8FA3C4"/>
                </a:solidFill>
                <a:latin typeface="Consolas"/>
                <a:ea typeface="微软雅黑"/>
              </a:rPr>
              <a:t># ← 明确失败，不静默改写</a:t>
            </a: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           f</a:t>
            </a:r>
            <a:r>
              <a:rPr sz="1019" b="0">
                <a:solidFill>
                  <a:srgbClr val="A7F3D0"/>
                </a:solidFill>
                <a:latin typeface="Consolas"/>
                <a:ea typeface="微软雅黑"/>
              </a:rPr>
              <a:t>"拒绝写入 outputs 之外的路径：{filename}"</a:t>
            </a: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           </a:t>
            </a:r>
            <a:r>
              <a:rPr sz="1019" b="0">
                <a:solidFill>
                  <a:srgbClr val="A7F3D0"/>
                </a:solidFill>
                <a:latin typeface="Consolas"/>
                <a:ea typeface="微软雅黑"/>
              </a:rPr>
              <a:t>"（filename 只接受纯文件名）"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  <a:endParaRPr/>
          </a:p>
          <a:p>
            <a:pPr>
              <a:lnSpc>
                <a:spcPct val="155000"/>
              </a:lnSpc>
            </a:pP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   target = (OUTPUT_DIR / name).resolve()</a:t>
            </a: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target.parent != OUTPUT_DIR.resolve():</a:t>
            </a: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raise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ValueError(...)         </a:t>
            </a:r>
            <a:r>
              <a:rPr sz="1019" b="0">
                <a:solidFill>
                  <a:srgbClr val="8FA3C4"/>
                </a:solidFill>
                <a:latin typeface="Consolas"/>
                <a:ea typeface="微软雅黑"/>
              </a:rPr>
              <a:t># 兜底：符号链接也拦住</a:t>
            </a:r>
            <a:endParaRPr/>
          </a:p>
          <a:p>
            <a:pPr>
              <a:lnSpc>
                <a:spcPct val="155000"/>
              </a:lnSpc>
            </a:pP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1019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1019" b="0">
                <a:solidFill>
                  <a:srgbClr val="E2E8F5"/>
                </a:solidFill>
                <a:latin typeface="Consolas"/>
                <a:ea typeface="微软雅黑"/>
              </a:rPr>
              <a:t> target</a:t>
            </a:r>
            <a:endParaRPr/>
          </a:p>
        </p:txBody>
      </p:sp>
      <p:sp>
        <p:nvSpPr>
          <p:cNvPr id="225" name="Rounded Rectangle 7"/>
          <p:cNvSpPr/>
          <p:nvPr/>
        </p:nvSpPr>
        <p:spPr>
          <a:xfrm>
            <a:off x="6705600" y="2057400"/>
            <a:ext cx="483870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6" name="Rounded Rectangle 8"/>
          <p:cNvSpPr/>
          <p:nvPr/>
        </p:nvSpPr>
        <p:spPr>
          <a:xfrm>
            <a:off x="6715125" y="2152650"/>
            <a:ext cx="38100" cy="1619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7" name="TextBox 9"/>
          <p:cNvSpPr txBox="1"/>
          <p:nvPr/>
        </p:nvSpPr>
        <p:spPr>
          <a:xfrm>
            <a:off x="6934200" y="2209800"/>
            <a:ext cx="44196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为什么是「报错」而不是「悄悄改名」</a:t>
            </a:r>
            <a:endParaRPr/>
          </a:p>
        </p:txBody>
      </p:sp>
      <p:sp>
        <p:nvSpPr>
          <p:cNvPr id="228" name="TextBox 10"/>
          <p:cNvSpPr txBox="1"/>
          <p:nvPr/>
        </p:nvSpPr>
        <p:spPr>
          <a:xfrm>
            <a:off x="6934200" y="2514600"/>
            <a:ext cx="4419600" cy="1238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初版用 </a:t>
            </a:r>
            <a:r>
              <a:rPr sz="1060" b="0">
                <a:solidFill>
                  <a:srgbClr val="1E3A8A"/>
                </a:solidFill>
                <a:latin typeface="微软雅黑"/>
                <a:ea typeface="微软雅黑"/>
              </a:rPr>
              <a:t>os.path.basename()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 把 </a:t>
            </a:r>
            <a:r>
              <a:rPr sz="1060" b="0">
                <a:solidFill>
                  <a:srgbClr val="1E3A8A"/>
                </a:solidFill>
                <a:latin typeface="微软雅黑"/>
                <a:ea typeface="微软雅黑"/>
              </a:rPr>
              <a:t>../evil.txt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 截成 </a:t>
            </a:r>
            <a:r>
              <a:rPr sz="1060" b="0">
                <a:solidFill>
                  <a:srgbClr val="1E3A8A"/>
                </a:solidFill>
                <a:latin typeface="微软雅黑"/>
                <a:ea typeface="微软雅黑"/>
              </a:rPr>
              <a:t>evil.txt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——文件确实安全了，但模型以为自己写到了别处，</a:t>
            </a:r>
            <a:r>
              <a:rPr sz="1120" b="1">
                <a:solidFill>
                  <a:srgbClr val="25324A"/>
                </a:solidFill>
                <a:latin typeface="微软雅黑"/>
                <a:ea typeface="微软雅黑"/>
              </a:rPr>
              <a:t>汇报的路径就是错的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。
改成抛错之后，模型能从报错里读到正确用法，自己改参数重试。</a:t>
            </a:r>
            <a:r>
              <a:rPr sz="1120" b="1">
                <a:solidFill>
                  <a:srgbClr val="25324A"/>
                </a:solidFill>
                <a:latin typeface="微软雅黑"/>
                <a:ea typeface="微软雅黑"/>
              </a:rPr>
              <a:t>失败可解释，比默默成功更有用。</a:t>
            </a:r>
            <a:endParaRPr/>
          </a:p>
        </p:txBody>
      </p:sp>
      <p:sp>
        <p:nvSpPr>
          <p:cNvPr id="229" name="Rounded Rectangle 11"/>
          <p:cNvSpPr/>
          <p:nvPr/>
        </p:nvSpPr>
        <p:spPr>
          <a:xfrm>
            <a:off x="6705600" y="4000500"/>
            <a:ext cx="4838700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0" name="Rounded Rectangle 12"/>
          <p:cNvSpPr/>
          <p:nvPr/>
        </p:nvSpPr>
        <p:spPr>
          <a:xfrm>
            <a:off x="6715125" y="4095750"/>
            <a:ext cx="38100" cy="1047750"/>
          </a:xfrm>
          <a:prstGeom prst="roundRect">
            <a:avLst>
              <a:gd name="adj" fmla="val 50000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1" name="TextBox 13"/>
          <p:cNvSpPr txBox="1"/>
          <p:nvPr/>
        </p:nvSpPr>
        <p:spPr>
          <a:xfrm>
            <a:off x="6934200" y="4152900"/>
            <a:ext cx="44196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读侧对称</a:t>
            </a:r>
            <a:endParaRPr/>
          </a:p>
        </p:txBody>
      </p:sp>
      <p:sp>
        <p:nvSpPr>
          <p:cNvPr id="232" name="TextBox 14"/>
          <p:cNvSpPr txBox="1"/>
          <p:nvPr/>
        </p:nvSpPr>
        <p:spPr>
          <a:xfrm>
            <a:off x="6934200" y="4457700"/>
            <a:ext cx="4419600" cy="666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060" b="0">
                <a:solidFill>
                  <a:srgbClr val="1E3A8A"/>
                </a:solidFill>
                <a:latin typeface="微软雅黑"/>
                <a:ea typeface="微软雅黑"/>
              </a:rPr>
              <a:t>read_article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 只允许读 </a:t>
            </a:r>
            <a:r>
              <a:rPr sz="1060" b="0">
                <a:solidFill>
                  <a:srgbClr val="1E3A8A"/>
                </a:solidFill>
                <a:latin typeface="微软雅黑"/>
                <a:ea typeface="微软雅黑"/>
              </a:rPr>
              <a:t>demo/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。否则模型顺着 </a:t>
            </a:r>
            <a:r>
              <a:rPr sz="1060" b="0">
                <a:solidFill>
                  <a:srgbClr val="1E3A8A"/>
                </a:solidFill>
                <a:latin typeface="微软雅黑"/>
                <a:ea typeface="微软雅黑"/>
              </a:rPr>
              <a:t>../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 就能把 </a:t>
            </a:r>
            <a:r>
              <a:rPr sz="1060" b="0">
                <a:solidFill>
                  <a:srgbClr val="1E3A8A"/>
                </a:solidFill>
                <a:latin typeface="微软雅黑"/>
                <a:ea typeface="微软雅黑"/>
              </a:rPr>
              <a:t>.env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 读出来，贴进对话。</a:t>
            </a:r>
            <a:endParaRPr/>
          </a:p>
        </p:txBody>
      </p:sp>
      <p:sp>
        <p:nvSpPr>
          <p:cNvPr id="233" name="Rounded Rectangle 15"/>
          <p:cNvSpPr/>
          <p:nvPr/>
        </p:nvSpPr>
        <p:spPr>
          <a:xfrm>
            <a:off x="6705600" y="5372100"/>
            <a:ext cx="48387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4" name="TextBox 16"/>
          <p:cNvSpPr txBox="1"/>
          <p:nvPr/>
        </p:nvSpPr>
        <p:spPr>
          <a:xfrm>
            <a:off x="6934200" y="5524500"/>
            <a:ext cx="44196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自检里就有这两条</a:t>
            </a:r>
            <a:endParaRPr/>
          </a:p>
        </p:txBody>
      </p:sp>
      <p:sp>
        <p:nvSpPr>
          <p:cNvPr id="235" name="TextBox 17"/>
          <p:cNvSpPr txBox="1"/>
          <p:nvPr/>
        </p:nvSpPr>
        <p:spPr>
          <a:xfrm>
            <a:off x="6934200" y="5829300"/>
            <a:ext cx="4419600" cy="3609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060" b="0" dirty="0">
                <a:solidFill>
                  <a:srgbClr val="1E3A8A"/>
                </a:solidFill>
                <a:latin typeface="微软雅黑"/>
                <a:ea typeface="微软雅黑"/>
              </a:rPr>
              <a:t>selftest.py</a:t>
            </a:r>
            <a:r>
              <a:rPr sz="1120" b="0" dirty="0">
                <a:solidFill>
                  <a:srgbClr val="25324A"/>
                </a:solidFill>
                <a:latin typeface="微软雅黑"/>
                <a:ea typeface="微软雅黑"/>
              </a:rPr>
              <a:t> 18 </a:t>
            </a:r>
            <a:r>
              <a:rPr sz="1120" b="0" dirty="0" err="1">
                <a:solidFill>
                  <a:srgbClr val="25324A"/>
                </a:solidFill>
                <a:latin typeface="微软雅黑"/>
                <a:ea typeface="微软雅黑"/>
              </a:rPr>
              <a:t>项检查中包含「越权读拦截</a:t>
            </a:r>
            <a:r>
              <a:rPr sz="1120" b="0" dirty="0">
                <a:solidFill>
                  <a:srgbClr val="25324A"/>
                </a:solidFill>
                <a:latin typeface="微软雅黑"/>
                <a:ea typeface="微软雅黑"/>
              </a:rPr>
              <a:t>」「</a:t>
            </a:r>
            <a:r>
              <a:rPr sz="1120" b="0" dirty="0" err="1">
                <a:solidFill>
                  <a:srgbClr val="25324A"/>
                </a:solidFill>
                <a:latin typeface="微软雅黑"/>
                <a:ea typeface="微软雅黑"/>
              </a:rPr>
              <a:t>越权写拦截</a:t>
            </a:r>
            <a:r>
              <a:rPr lang="en-US" sz="1120" dirty="0">
                <a:solidFill>
                  <a:srgbClr val="25324A"/>
                </a:solidFill>
                <a:latin typeface="微软雅黑"/>
                <a:ea typeface="微软雅黑"/>
              </a:rPr>
              <a:t>]</a:t>
            </a:r>
            <a:endParaRPr dirty="0"/>
          </a:p>
        </p:txBody>
      </p:sp>
      <p:sp>
        <p:nvSpPr>
          <p:cNvPr id="236" name="TextBox 18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07 / 15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9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与课堂实验的关系</a:t>
            </a:r>
            <a:endParaRPr/>
          </a:p>
        </p:txBody>
      </p:sp>
      <p:sp>
        <p:nvSpPr>
          <p:cNvPr id="240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用了 demo_1～demo_5 的哪些块，自己加了什么</a:t>
            </a:r>
            <a:endParaRPr/>
          </a:p>
        </p:txBody>
      </p:sp>
      <p:sp>
        <p:nvSpPr>
          <p:cNvPr id="241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242" name="Table 5"/>
          <p:cNvGraphicFramePr/>
          <p:nvPr/>
        </p:nvGraphicFramePr>
        <p:xfrm>
          <a:off x="647700" y="2057400"/>
          <a:ext cx="108966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5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641985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10" b="1">
                          <a:solidFill>
                            <a:srgbClr val="5B6B84"/>
                          </a:solidFill>
                          <a:latin typeface="微软雅黑"/>
                          <a:ea typeface="微软雅黑"/>
                        </a:rPr>
                        <a:t>课堂 demo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10" b="1">
                          <a:solidFill>
                            <a:srgbClr val="5B6B84"/>
                          </a:solidFill>
                          <a:latin typeface="微软雅黑"/>
                          <a:ea typeface="微软雅黑"/>
                        </a:rPr>
                        <a:t>用到的能力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10" b="1">
                          <a:solidFill>
                            <a:srgbClr val="5B6B84"/>
                          </a:solidFill>
                          <a:latin typeface="微软雅黑"/>
                          <a:ea typeface="微软雅黑"/>
                        </a:rPr>
                        <a:t>本项目的做法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6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demo_1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Streamlit 界面、本地知识库思路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保留 Streamlit；</a:t>
                      </a:r>
                      <a:r>
                        <a:rPr sz="116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界面层零业务逻辑</a:t>
                      </a: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，只负责渲染事件流与文件下载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6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demo_2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OpenAI 兼容接口、Tool Calling、流式输出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全部用上；流式做的是</a:t>
                      </a:r>
                      <a:r>
                        <a:rPr sz="116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工具调用事件流</a:t>
                      </a: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（逐步展开），未做 token 级打字机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6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demo_3 / 4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云端模型调用、密钥与环境变量管理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90" b="0">
                          <a:solidFill>
                            <a:srgbClr val="1E3A8A"/>
                          </a:solidFill>
                          <a:latin typeface="微软雅黑"/>
                          <a:ea typeface="微软雅黑"/>
                        </a:rPr>
                        <a:t>.env</a:t>
                      </a: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 + </a:t>
                      </a:r>
                      <a:r>
                        <a:rPr sz="1090" b="0">
                          <a:solidFill>
                            <a:srgbClr val="1E3A8A"/>
                          </a:solidFill>
                          <a:latin typeface="微软雅黑"/>
                          <a:ea typeface="微软雅黑"/>
                        </a:rPr>
                        <a:t>.env.example</a:t>
                      </a: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；启动时检测 Key 缺失并给出可照做的指引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6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demo_5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Agent 框架、Skills、长期记忆、WebUI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框架换成 </a:t>
                      </a:r>
                      <a:r>
                        <a:rPr sz="116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LangGraph</a:t>
                      </a:r>
                      <a:r>
                        <a:rPr sz="116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；Skill 自建；记忆落成可读 JSON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243" name="Rounded Rectangle 6"/>
          <p:cNvSpPr/>
          <p:nvPr/>
        </p:nvSpPr>
        <p:spPr>
          <a:xfrm>
            <a:off x="647700" y="4762500"/>
            <a:ext cx="10896600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4" name="TextBox 7"/>
          <p:cNvSpPr txBox="1"/>
          <p:nvPr/>
        </p:nvSpPr>
        <p:spPr>
          <a:xfrm>
            <a:off x="876300" y="489585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相对课堂代码的增量</a:t>
            </a:r>
            <a:endParaRPr/>
          </a:p>
        </p:txBody>
      </p:sp>
      <p:sp>
        <p:nvSpPr>
          <p:cNvPr id="245" name="Rounded Rectangle 8"/>
          <p:cNvSpPr/>
          <p:nvPr/>
        </p:nvSpPr>
        <p:spPr>
          <a:xfrm>
            <a:off x="876300" y="52006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246" name="TextBox 9"/>
          <p:cNvSpPr txBox="1"/>
          <p:nvPr/>
        </p:nvSpPr>
        <p:spPr>
          <a:xfrm>
            <a:off x="1219200" y="5229225"/>
            <a:ext cx="3200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7 个工具全部自写，课堂无对应实现</a:t>
            </a:r>
            <a:endParaRPr/>
          </a:p>
        </p:txBody>
      </p:sp>
      <p:sp>
        <p:nvSpPr>
          <p:cNvPr id="247" name="Rounded Rectangle 10"/>
          <p:cNvSpPr/>
          <p:nvPr/>
        </p:nvSpPr>
        <p:spPr>
          <a:xfrm>
            <a:off x="4362450" y="52006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248" name="TextBox 11"/>
          <p:cNvSpPr txBox="1"/>
          <p:nvPr/>
        </p:nvSpPr>
        <p:spPr>
          <a:xfrm>
            <a:off x="4705350" y="5229225"/>
            <a:ext cx="3200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自建 Skill 目录，流程与版式都和代码解耦</a:t>
            </a:r>
            <a:endParaRPr/>
          </a:p>
        </p:txBody>
      </p:sp>
      <p:sp>
        <p:nvSpPr>
          <p:cNvPr id="249" name="Rounded Rectangle 12"/>
          <p:cNvSpPr/>
          <p:nvPr/>
        </p:nvSpPr>
        <p:spPr>
          <a:xfrm>
            <a:off x="7848600" y="52006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250" name="TextBox 13"/>
          <p:cNvSpPr txBox="1"/>
          <p:nvPr/>
        </p:nvSpPr>
        <p:spPr>
          <a:xfrm>
            <a:off x="8191500" y="5229225"/>
            <a:ext cx="3200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写盘 / 读盘双向权限隔离</a:t>
            </a:r>
            <a:endParaRPr/>
          </a:p>
        </p:txBody>
      </p:sp>
      <p:sp>
        <p:nvSpPr>
          <p:cNvPr id="251" name="Rounded Rectangle 14"/>
          <p:cNvSpPr/>
          <p:nvPr/>
        </p:nvSpPr>
        <p:spPr>
          <a:xfrm>
            <a:off x="876300" y="55435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252" name="TextBox 15"/>
          <p:cNvSpPr txBox="1"/>
          <p:nvPr/>
        </p:nvSpPr>
        <p:spPr>
          <a:xfrm>
            <a:off x="1219200" y="5572125"/>
            <a:ext cx="3200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挖空算法：词形变体匹配，不是字符串替换</a:t>
            </a:r>
            <a:endParaRPr/>
          </a:p>
        </p:txBody>
      </p:sp>
      <p:sp>
        <p:nvSpPr>
          <p:cNvPr id="253" name="Rounded Rectangle 16"/>
          <p:cNvSpPr/>
          <p:nvPr/>
        </p:nvSpPr>
        <p:spPr>
          <a:xfrm>
            <a:off x="4362450" y="55435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254" name="TextBox 17"/>
          <p:cNvSpPr txBox="1"/>
          <p:nvPr/>
        </p:nvSpPr>
        <p:spPr>
          <a:xfrm>
            <a:off x="4705350" y="5572125"/>
            <a:ext cx="3200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三层提示词组装，加技能不动主提示词</a:t>
            </a:r>
            <a:endParaRPr/>
          </a:p>
        </p:txBody>
      </p:sp>
      <p:sp>
        <p:nvSpPr>
          <p:cNvPr id="255" name="Rounded Rectangle 18"/>
          <p:cNvSpPr/>
          <p:nvPr/>
        </p:nvSpPr>
        <p:spPr>
          <a:xfrm>
            <a:off x="7848600" y="55435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  <a:endParaRPr/>
          </a:p>
        </p:txBody>
      </p:sp>
      <p:sp>
        <p:nvSpPr>
          <p:cNvPr id="256" name="TextBox 19"/>
          <p:cNvSpPr txBox="1"/>
          <p:nvPr/>
        </p:nvSpPr>
        <p:spPr>
          <a:xfrm>
            <a:off x="8191500" y="5572125"/>
            <a:ext cx="32004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工具回传事实（列名 / 次数），拦下编造的等级与列</a:t>
            </a:r>
            <a:endParaRPr/>
          </a:p>
        </p:txBody>
      </p:sp>
      <p:sp>
        <p:nvSpPr>
          <p:cNvPr id="257" name="TextBox 20"/>
          <p:cNvSpPr txBox="1"/>
          <p:nvPr/>
        </p:nvSpPr>
        <p:spPr>
          <a:xfrm>
            <a:off x="647700" y="6172200"/>
            <a:ext cx="108966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endParaRPr dirty="0"/>
          </a:p>
        </p:txBody>
      </p:sp>
      <p:sp>
        <p:nvSpPr>
          <p:cNvPr id="258" name="TextBox 21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11 / 15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1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思政与合规</a:t>
            </a:r>
            <a:endParaRPr/>
          </a:p>
        </p:txBody>
      </p:sp>
      <p:sp>
        <p:nvSpPr>
          <p:cNvPr id="262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落在「学习」上，不越到「代劳」上</a:t>
            </a:r>
            <a:endParaRPr/>
          </a:p>
        </p:txBody>
      </p:sp>
      <p:sp>
        <p:nvSpPr>
          <p:cNvPr id="263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4" name="Rounded Rectangle 5"/>
          <p:cNvSpPr/>
          <p:nvPr/>
        </p:nvSpPr>
        <p:spPr>
          <a:xfrm>
            <a:off x="647700" y="2114550"/>
            <a:ext cx="5295900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5" name="Rounded Rectangle 6"/>
          <p:cNvSpPr/>
          <p:nvPr/>
        </p:nvSpPr>
        <p:spPr>
          <a:xfrm>
            <a:off x="657225" y="2209800"/>
            <a:ext cx="38100" cy="1047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6" name="TextBox 7"/>
          <p:cNvSpPr txBox="1"/>
          <p:nvPr/>
        </p:nvSpPr>
        <p:spPr>
          <a:xfrm>
            <a:off x="876300" y="2247900"/>
            <a:ext cx="4857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选题正当性</a:t>
            </a:r>
            <a:endParaRPr/>
          </a:p>
        </p:txBody>
      </p:sp>
      <p:sp>
        <p:nvSpPr>
          <p:cNvPr id="267" name="TextBox 8"/>
          <p:cNvSpPr txBox="1"/>
          <p:nvPr/>
        </p:nvSpPr>
        <p:spPr>
          <a:xfrm>
            <a:off x="876300" y="2552700"/>
            <a:ext cx="4914900" cy="704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110" b="0">
                <a:solidFill>
                  <a:srgbClr val="25324A"/>
                </a:solidFill>
                <a:latin typeface="微软雅黑"/>
                <a:ea typeface="微软雅黑"/>
              </a:rPr>
              <a:t>服务对象是备考学生本人的</a:t>
            </a:r>
            <a:r>
              <a:rPr sz="1110" b="1">
                <a:solidFill>
                  <a:srgbClr val="25324A"/>
                </a:solidFill>
                <a:latin typeface="微软雅黑"/>
                <a:ea typeface="微软雅黑"/>
              </a:rPr>
              <a:t>学习方法</a:t>
            </a:r>
            <a:r>
              <a:rPr sz="1110" b="0">
                <a:solidFill>
                  <a:srgbClr val="25324A"/>
                </a:solidFill>
                <a:latin typeface="微软雅黑"/>
                <a:ea typeface="微软雅黑"/>
              </a:rPr>
              <a:t>：分级词汇、精读练习、错词复盘。不产出可提交的作业成品，只产出练习材料。</a:t>
            </a:r>
            <a:endParaRPr/>
          </a:p>
        </p:txBody>
      </p:sp>
      <p:sp>
        <p:nvSpPr>
          <p:cNvPr id="268" name="Rounded Rectangle 9"/>
          <p:cNvSpPr/>
          <p:nvPr/>
        </p:nvSpPr>
        <p:spPr>
          <a:xfrm>
            <a:off x="647700" y="3486150"/>
            <a:ext cx="5295900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9" name="Rounded Rectangle 10"/>
          <p:cNvSpPr/>
          <p:nvPr/>
        </p:nvSpPr>
        <p:spPr>
          <a:xfrm>
            <a:off x="657225" y="3581400"/>
            <a:ext cx="38100" cy="1047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0" name="TextBox 11"/>
          <p:cNvSpPr txBox="1"/>
          <p:nvPr/>
        </p:nvSpPr>
        <p:spPr>
          <a:xfrm>
            <a:off x="876300" y="3619500"/>
            <a:ext cx="4857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数据边界</a:t>
            </a:r>
            <a:endParaRPr/>
          </a:p>
        </p:txBody>
      </p:sp>
      <p:sp>
        <p:nvSpPr>
          <p:cNvPr id="271" name="TextBox 12"/>
          <p:cNvSpPr txBox="1"/>
          <p:nvPr/>
        </p:nvSpPr>
        <p:spPr>
          <a:xfrm>
            <a:off x="876300" y="3924300"/>
            <a:ext cx="4914900" cy="704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110" b="0">
                <a:solidFill>
                  <a:srgbClr val="25324A"/>
                </a:solidFill>
                <a:latin typeface="微软雅黑"/>
                <a:ea typeface="微软雅黑"/>
              </a:rPr>
              <a:t>学习者档案是</a:t>
            </a:r>
            <a:r>
              <a:rPr sz="1110" b="1">
                <a:solidFill>
                  <a:srgbClr val="25324A"/>
                </a:solidFill>
                <a:latin typeface="微软雅黑"/>
                <a:ea typeface="微软雅黑"/>
              </a:rPr>
              <a:t>虚构样例</a:t>
            </a:r>
            <a:r>
              <a:rPr sz="1110" b="0">
                <a:solidFill>
                  <a:srgbClr val="25324A"/>
                </a:solidFill>
                <a:latin typeface="微软雅黑"/>
                <a:ea typeface="微软雅黑"/>
              </a:rPr>
              <a:t>（「样例同学」），无真实学号、手机号、成绩。词库为教学整理，例句自写，非词典原文。</a:t>
            </a:r>
            <a:endParaRPr/>
          </a:p>
        </p:txBody>
      </p:sp>
      <p:sp>
        <p:nvSpPr>
          <p:cNvPr id="272" name="Rounded Rectangle 13"/>
          <p:cNvSpPr/>
          <p:nvPr/>
        </p:nvSpPr>
        <p:spPr>
          <a:xfrm>
            <a:off x="647700" y="4857750"/>
            <a:ext cx="52959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3" name="Rounded Rectangle 14"/>
          <p:cNvSpPr/>
          <p:nvPr/>
        </p:nvSpPr>
        <p:spPr>
          <a:xfrm>
            <a:off x="657225" y="4953000"/>
            <a:ext cx="38100" cy="9334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4" name="TextBox 15"/>
          <p:cNvSpPr txBox="1"/>
          <p:nvPr/>
        </p:nvSpPr>
        <p:spPr>
          <a:xfrm>
            <a:off x="876300" y="4991100"/>
            <a:ext cx="4857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密钥管理</a:t>
            </a:r>
            <a:endParaRPr/>
          </a:p>
        </p:txBody>
      </p:sp>
      <p:sp>
        <p:nvSpPr>
          <p:cNvPr id="275" name="TextBox 16"/>
          <p:cNvSpPr txBox="1"/>
          <p:nvPr/>
        </p:nvSpPr>
        <p:spPr>
          <a:xfrm>
            <a:off x="876300" y="5295900"/>
            <a:ext cx="491490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040" b="0">
                <a:solidFill>
                  <a:srgbClr val="1E3A8A"/>
                </a:solidFill>
                <a:latin typeface="微软雅黑"/>
                <a:ea typeface="微软雅黑"/>
              </a:rPr>
              <a:t>.env</a:t>
            </a:r>
            <a:r>
              <a:rPr sz="1110" b="0">
                <a:solidFill>
                  <a:srgbClr val="25324A"/>
                </a:solidFill>
                <a:latin typeface="微软雅黑"/>
                <a:ea typeface="微软雅黑"/>
              </a:rPr>
              <a:t> 在 </a:t>
            </a:r>
            <a:r>
              <a:rPr sz="1040" b="0">
                <a:solidFill>
                  <a:srgbClr val="1E3A8A"/>
                </a:solidFill>
                <a:latin typeface="微软雅黑"/>
                <a:ea typeface="微软雅黑"/>
              </a:rPr>
              <a:t>.gitignore</a:t>
            </a:r>
            <a:r>
              <a:rPr sz="1110" b="0">
                <a:solidFill>
                  <a:srgbClr val="25324A"/>
                </a:solidFill>
                <a:latin typeface="微软雅黑"/>
                <a:ea typeface="微软雅黑"/>
              </a:rPr>
              <a:t> 中，仓库里只有占位符；</a:t>
            </a:r>
            <a:r>
              <a:rPr sz="1040" b="0">
                <a:solidFill>
                  <a:srgbClr val="1E3A8A"/>
                </a:solidFill>
                <a:latin typeface="微软雅黑"/>
                <a:ea typeface="微软雅黑"/>
              </a:rPr>
              <a:t>git ls-files</a:t>
            </a:r>
            <a:r>
              <a:rPr sz="1110" b="0">
                <a:solidFill>
                  <a:srgbClr val="25324A"/>
                </a:solidFill>
                <a:latin typeface="微软雅黑"/>
                <a:ea typeface="微软雅黑"/>
              </a:rPr>
              <a:t> 可当场验证没有真 Key</a:t>
            </a:r>
            <a:endParaRPr/>
          </a:p>
        </p:txBody>
      </p:sp>
      <p:sp>
        <p:nvSpPr>
          <p:cNvPr id="276" name="Rounded Rectangle 17"/>
          <p:cNvSpPr/>
          <p:nvPr/>
        </p:nvSpPr>
        <p:spPr>
          <a:xfrm>
            <a:off x="6191250" y="2114550"/>
            <a:ext cx="5353050" cy="2343150"/>
          </a:xfrm>
          <a:prstGeom prst="roundRect">
            <a:avLst>
              <a:gd name="adj" fmla="val 4878"/>
            </a:avLst>
          </a:prstGeom>
          <a:solidFill>
            <a:srgbClr val="F9FBFE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7" name="TextBox 18"/>
          <p:cNvSpPr txBox="1"/>
          <p:nvPr/>
        </p:nvSpPr>
        <p:spPr>
          <a:xfrm>
            <a:off x="6419850" y="2266950"/>
            <a:ext cx="49149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拒绝代写 —— 实测记录（话术 5）</a:t>
            </a:r>
            <a:endParaRPr/>
          </a:p>
        </p:txBody>
      </p:sp>
      <p:sp>
        <p:nvSpPr>
          <p:cNvPr id="278" name="Rounded Rectangle 19"/>
          <p:cNvSpPr/>
          <p:nvPr/>
        </p:nvSpPr>
        <p:spPr>
          <a:xfrm>
            <a:off x="6419850" y="2571750"/>
            <a:ext cx="4895850" cy="381000"/>
          </a:xfrm>
          <a:prstGeom prst="roundRect">
            <a:avLst>
              <a:gd name="adj" fmla="val 20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9" name="TextBox 20"/>
          <p:cNvSpPr txBox="1"/>
          <p:nvPr/>
        </p:nvSpPr>
        <p:spPr>
          <a:xfrm>
            <a:off x="6534150" y="2667000"/>
            <a:ext cx="47053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5324A"/>
                </a:solidFill>
                <a:latin typeface="Consolas"/>
                <a:ea typeface="微软雅黑"/>
              </a:rPr>
              <a:t>「帮我把这篇文章翻译成中文，我要抄到作业里交」</a:t>
            </a:r>
            <a:endParaRPr/>
          </a:p>
        </p:txBody>
      </p:sp>
      <p:sp>
        <p:nvSpPr>
          <p:cNvPr id="280" name="TextBox 21"/>
          <p:cNvSpPr txBox="1"/>
          <p:nvPr/>
        </p:nvSpPr>
        <p:spPr>
          <a:xfrm>
            <a:off x="6419850" y="3067050"/>
            <a:ext cx="4895850" cy="857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090" b="1">
                <a:solidFill>
                  <a:srgbClr val="25324A"/>
                </a:solidFill>
                <a:latin typeface="微软雅黑"/>
                <a:ea typeface="微软雅黑"/>
              </a:rPr>
              <a:t>Agent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：拒绝提供全文翻译供抄写。理由是这不符合学习目标，也无助于提升精读能力。改为提供三条替代路径：可打印的精读练习页 / 10 个高频词的释义与例句 / 可导入游戏的词表。</a:t>
            </a:r>
            <a:endParaRPr/>
          </a:p>
        </p:txBody>
      </p:sp>
      <p:sp>
        <p:nvSpPr>
          <p:cNvPr id="281" name="Rounded Rectangle 22"/>
          <p:cNvSpPr/>
          <p:nvPr/>
        </p:nvSpPr>
        <p:spPr>
          <a:xfrm>
            <a:off x="6419850" y="4038600"/>
            <a:ext cx="1850707" cy="247650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80" b="1">
                <a:solidFill>
                  <a:srgbClr val="15803D"/>
                </a:solidFill>
                <a:latin typeface="微软雅黑"/>
                <a:ea typeface="微软雅黑"/>
              </a:rPr>
              <a:t>1 步即拒绝，未调用任何工具</a:t>
            </a:r>
            <a:endParaRPr/>
          </a:p>
        </p:txBody>
      </p:sp>
      <p:sp>
        <p:nvSpPr>
          <p:cNvPr id="282" name="Rounded Rectangle 23"/>
          <p:cNvSpPr/>
          <p:nvPr/>
        </p:nvSpPr>
        <p:spPr>
          <a:xfrm>
            <a:off x="6191250" y="4610100"/>
            <a:ext cx="5353050" cy="1371600"/>
          </a:xfrm>
          <a:prstGeom prst="roundRect">
            <a:avLst>
              <a:gd name="adj" fmla="val 8333"/>
            </a:avLst>
          </a:prstGeom>
          <a:solidFill>
            <a:srgbClr val="FEF3E2"/>
          </a:solidFill>
          <a:ln w="15240">
            <a:solidFill>
              <a:srgbClr val="F0C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3" name="TextBox 24"/>
          <p:cNvSpPr txBox="1"/>
          <p:nvPr/>
        </p:nvSpPr>
        <p:spPr>
          <a:xfrm>
            <a:off x="6419850" y="4762500"/>
            <a:ext cx="49149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另一条被实测逼出来的边界</a:t>
            </a:r>
            <a:endParaRPr/>
          </a:p>
        </p:txBody>
      </p:sp>
      <p:sp>
        <p:nvSpPr>
          <p:cNvPr id="284" name="TextBox 25"/>
          <p:cNvSpPr txBox="1"/>
          <p:nvPr/>
        </p:nvSpPr>
        <p:spPr>
          <a:xfrm>
            <a:off x="6419850" y="5067300"/>
            <a:ext cx="4914900" cy="857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模型曾声称「已自动同步进错词本，打开 App 即可见」——本项目</a:t>
            </a:r>
            <a:r>
              <a:rPr sz="1120" b="1">
                <a:solidFill>
                  <a:srgbClr val="25324A"/>
                </a:solidFill>
                <a:latin typeface="微软雅黑"/>
                <a:ea typeface="微软雅黑"/>
              </a:rPr>
              <a:t>根本没接游戏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。已从两处封住：工具返回里写明「仅写本地 JSON」，提示词第 9 条禁止这类表述。</a:t>
            </a:r>
            <a:endParaRPr/>
          </a:p>
        </p:txBody>
      </p:sp>
      <p:sp>
        <p:nvSpPr>
          <p:cNvPr id="285" name="TextBox 26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12 / 15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186490" y="102269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19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现场演示</a:t>
            </a:r>
            <a:endParaRPr/>
          </a:p>
        </p:txBody>
      </p:sp>
      <p:sp>
        <p:nvSpPr>
          <p:cNvPr id="20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五条话术，按这个顺序讲</a:t>
            </a:r>
            <a:endParaRPr/>
          </a:p>
        </p:txBody>
      </p:sp>
      <p:sp>
        <p:nvSpPr>
          <p:cNvPr id="21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5"/>
          <p:cNvSpPr/>
          <p:nvPr/>
        </p:nvSpPr>
        <p:spPr>
          <a:xfrm>
            <a:off x="647700" y="2038350"/>
            <a:ext cx="53340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6"/>
          <p:cNvSpPr/>
          <p:nvPr/>
        </p:nvSpPr>
        <p:spPr>
          <a:xfrm>
            <a:off x="800100" y="21621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24" name="TextBox 7"/>
          <p:cNvSpPr txBox="1"/>
          <p:nvPr/>
        </p:nvSpPr>
        <p:spPr>
          <a:xfrm>
            <a:off x="1162050" y="2171700"/>
            <a:ext cx="46672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60" b="1">
                <a:solidFill>
                  <a:srgbClr val="0F172A"/>
                </a:solidFill>
                <a:latin typeface="微软雅黑"/>
                <a:ea typeface="微软雅黑"/>
              </a:rPr>
              <a:t>主路径（约 50 秒）</a:t>
            </a:r>
            <a:endParaRPr/>
          </a:p>
        </p:txBody>
      </p:sp>
      <p:sp>
        <p:nvSpPr>
          <p:cNvPr id="25" name="Rounded Rectangle 8"/>
          <p:cNvSpPr/>
          <p:nvPr/>
        </p:nvSpPr>
        <p:spPr>
          <a:xfrm>
            <a:off x="800100" y="2457450"/>
            <a:ext cx="5029200" cy="304800"/>
          </a:xfrm>
          <a:prstGeom prst="roundRect">
            <a:avLst>
              <a:gd name="adj" fmla="val 21875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9"/>
          <p:cNvSpPr txBox="1"/>
          <p:nvPr/>
        </p:nvSpPr>
        <p:spPr>
          <a:xfrm>
            <a:off x="885825" y="2514600"/>
            <a:ext cx="4857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25324A"/>
                </a:solidFill>
                <a:latin typeface="Consolas"/>
                <a:ea typeface="微软雅黑"/>
              </a:rPr>
              <a:t>帮我精读 demo 里那篇校园碳排的文章，挑出 8 个 CET-6 生词</a:t>
            </a:r>
            <a:endParaRPr/>
          </a:p>
        </p:txBody>
      </p:sp>
      <p:sp>
        <p:nvSpPr>
          <p:cNvPr id="27" name="TextBox 10"/>
          <p:cNvSpPr txBox="1"/>
          <p:nvPr/>
        </p:nvSpPr>
        <p:spPr>
          <a:xfrm>
            <a:off x="800100" y="2819400"/>
            <a:ext cx="50292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25324A"/>
                </a:solidFill>
                <a:latin typeface="微软雅黑"/>
                <a:ea typeface="微软雅黑"/>
              </a:rPr>
              <a:t>看 </a:t>
            </a:r>
            <a:r>
              <a:rPr sz="919" b="0">
                <a:solidFill>
                  <a:srgbClr val="1E3A8A"/>
                </a:solidFill>
                <a:latin typeface="微软雅黑"/>
                <a:ea typeface="微软雅黑"/>
              </a:rPr>
              <a:t>st.status</a:t>
            </a:r>
            <a:r>
              <a:rPr sz="980" b="0">
                <a:solidFill>
                  <a:srgbClr val="25324A"/>
                </a:solidFill>
                <a:latin typeface="微软雅黑"/>
                <a:ea typeface="微软雅黑"/>
              </a:rPr>
              <a:t> 里 12 次工具调用滚过去，包括它猜错文件名后自己改参数那一下。</a:t>
            </a:r>
            <a:endParaRPr/>
          </a:p>
        </p:txBody>
      </p:sp>
      <p:sp>
        <p:nvSpPr>
          <p:cNvPr id="28" name="Rounded Rectangle 11"/>
          <p:cNvSpPr/>
          <p:nvPr/>
        </p:nvSpPr>
        <p:spPr>
          <a:xfrm>
            <a:off x="6191250" y="2038350"/>
            <a:ext cx="53530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12"/>
          <p:cNvSpPr/>
          <p:nvPr/>
        </p:nvSpPr>
        <p:spPr>
          <a:xfrm>
            <a:off x="6343650" y="21621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30" name="TextBox 13"/>
          <p:cNvSpPr txBox="1"/>
          <p:nvPr/>
        </p:nvSpPr>
        <p:spPr>
          <a:xfrm>
            <a:off x="6705600" y="2171700"/>
            <a:ext cx="46863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60" b="1">
                <a:solidFill>
                  <a:srgbClr val="0F172A"/>
                </a:solidFill>
                <a:latin typeface="微软雅黑"/>
                <a:ea typeface="微软雅黑"/>
              </a:rPr>
              <a:t>长期记忆 + 复习排期（约 25 秒）</a:t>
            </a:r>
            <a:endParaRPr/>
          </a:p>
        </p:txBody>
      </p:sp>
      <p:sp>
        <p:nvSpPr>
          <p:cNvPr id="31" name="Rounded Rectangle 14"/>
          <p:cNvSpPr/>
          <p:nvPr/>
        </p:nvSpPr>
        <p:spPr>
          <a:xfrm>
            <a:off x="6343650" y="2457450"/>
            <a:ext cx="5048250" cy="304800"/>
          </a:xfrm>
          <a:prstGeom prst="roundRect">
            <a:avLst>
              <a:gd name="adj" fmla="val 21875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15"/>
          <p:cNvSpPr txBox="1"/>
          <p:nvPr/>
        </p:nvSpPr>
        <p:spPr>
          <a:xfrm>
            <a:off x="6429375" y="2514600"/>
            <a:ext cx="48768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25324A"/>
                </a:solidFill>
                <a:latin typeface="Consolas"/>
                <a:ea typeface="微软雅黑"/>
              </a:rPr>
              <a:t>今天该复习哪几个词？我 mitigate 又记混了</a:t>
            </a:r>
            <a:endParaRPr/>
          </a:p>
        </p:txBody>
      </p:sp>
      <p:sp>
        <p:nvSpPr>
          <p:cNvPr id="33" name="TextBox 16"/>
          <p:cNvSpPr txBox="1"/>
          <p:nvPr/>
        </p:nvSpPr>
        <p:spPr>
          <a:xfrm>
            <a:off x="6343650" y="2819400"/>
            <a:ext cx="50482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25324A"/>
                </a:solidFill>
                <a:latin typeface="微软雅黑"/>
                <a:ea typeface="微软雅黑"/>
              </a:rPr>
              <a:t>调 </a:t>
            </a:r>
            <a:r>
              <a:rPr sz="919" b="0">
                <a:solidFill>
                  <a:srgbClr val="1E3A8A"/>
                </a:solidFill>
                <a:latin typeface="微软雅黑"/>
                <a:ea typeface="微软雅黑"/>
              </a:rPr>
              <a:t>record_mistakes</a:t>
            </a:r>
            <a:r>
              <a:rPr sz="980" b="0">
                <a:solidFill>
                  <a:srgbClr val="25324A"/>
                </a:solidFill>
                <a:latin typeface="微软雅黑"/>
                <a:ea typeface="微软雅黑"/>
              </a:rPr>
              <a:t>，返回的 </a:t>
            </a:r>
            <a:r>
              <a:rPr sz="919" b="0">
                <a:solidFill>
                  <a:srgbClr val="1E3A8A"/>
                </a:solidFill>
                <a:latin typeface="微软雅黑"/>
                <a:ea typeface="微软雅黑"/>
              </a:rPr>
              <a:t>due</a:t>
            </a:r>
            <a:r>
              <a:rPr sz="980" b="0">
                <a:solidFill>
                  <a:srgbClr val="25324A"/>
                </a:solidFill>
                <a:latin typeface="微软雅黑"/>
                <a:ea typeface="微软雅黑"/>
              </a:rPr>
              <a:t> 就是下次复习日——</a:t>
            </a:r>
            <a:r>
              <a:rPr sz="980" b="1">
                <a:solidFill>
                  <a:srgbClr val="25324A"/>
                </a:solidFill>
                <a:latin typeface="微软雅黑"/>
                <a:ea typeface="微软雅黑"/>
              </a:rPr>
              <a:t>日期是代码算的，模型只能抄</a:t>
            </a:r>
            <a:r>
              <a:rPr sz="980" b="0">
                <a:solidFill>
                  <a:srgbClr val="25324A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34" name="Rounded Rectangle 17"/>
          <p:cNvSpPr/>
          <p:nvPr/>
        </p:nvSpPr>
        <p:spPr>
          <a:xfrm>
            <a:off x="647700" y="3238500"/>
            <a:ext cx="10896600" cy="1066800"/>
          </a:xfrm>
          <a:prstGeom prst="roundRect">
            <a:avLst>
              <a:gd name="adj" fmla="val 10714"/>
            </a:avLst>
          </a:prstGeom>
          <a:solidFill>
            <a:srgbClr val="F3FCFB"/>
          </a:solidFill>
          <a:ln w="15240">
            <a:solidFill>
              <a:srgbClr val="7FD4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18"/>
          <p:cNvSpPr/>
          <p:nvPr/>
        </p:nvSpPr>
        <p:spPr>
          <a:xfrm>
            <a:off x="800100" y="336232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36" name="TextBox 19"/>
          <p:cNvSpPr txBox="1"/>
          <p:nvPr/>
        </p:nvSpPr>
        <p:spPr>
          <a:xfrm>
            <a:off x="1162050" y="3371850"/>
            <a:ext cx="102298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60" b="1">
                <a:solidFill>
                  <a:srgbClr val="0F172A"/>
                </a:solidFill>
                <a:latin typeface="微软雅黑"/>
                <a:ea typeface="微软雅黑"/>
              </a:rPr>
              <a:t>贴自己的文章（约 40 秒，压轴）</a:t>
            </a:r>
            <a:endParaRPr/>
          </a:p>
        </p:txBody>
      </p:sp>
      <p:sp>
        <p:nvSpPr>
          <p:cNvPr id="37" name="Rounded Rectangle 20"/>
          <p:cNvSpPr/>
          <p:nvPr/>
        </p:nvSpPr>
        <p:spPr>
          <a:xfrm>
            <a:off x="800100" y="3657600"/>
            <a:ext cx="10591800" cy="304800"/>
          </a:xfrm>
          <a:prstGeom prst="roundRect">
            <a:avLst>
              <a:gd name="adj" fmla="val 21875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21"/>
          <p:cNvSpPr txBox="1"/>
          <p:nvPr/>
        </p:nvSpPr>
        <p:spPr>
          <a:xfrm>
            <a:off x="885825" y="3714750"/>
            <a:ext cx="104203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25324A"/>
                </a:solidFill>
                <a:latin typeface="Consolas"/>
                <a:ea typeface="微软雅黑"/>
              </a:rPr>
              <a:t>粘贴框里事先放好一段别的题材的英文 → 点「用这篇开始精读」</a:t>
            </a:r>
            <a:endParaRPr/>
          </a:p>
        </p:txBody>
      </p:sp>
      <p:sp>
        <p:nvSpPr>
          <p:cNvPr id="39" name="TextBox 22"/>
          <p:cNvSpPr txBox="1"/>
          <p:nvPr/>
        </p:nvSpPr>
        <p:spPr>
          <a:xfrm>
            <a:off x="800100" y="4019550"/>
            <a:ext cx="1059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25324A"/>
                </a:solidFill>
                <a:latin typeface="微软雅黑"/>
                <a:ea typeface="微软雅黑"/>
              </a:rPr>
              <a:t>工具不读文件、只读粘贴槽 </a:t>
            </a:r>
            <a:r>
              <a:rPr sz="919" b="0">
                <a:solidFill>
                  <a:srgbClr val="1E3A8A"/>
                </a:solidFill>
                <a:latin typeface="微软雅黑"/>
                <a:ea typeface="微软雅黑"/>
              </a:rPr>
              <a:t>data/current_article.txt</a:t>
            </a:r>
            <a:r>
              <a:rPr sz="980" b="0">
                <a:solidFill>
                  <a:srgbClr val="25324A"/>
                </a:solidFill>
                <a:latin typeface="微软雅黑"/>
                <a:ea typeface="微软雅黑"/>
              </a:rPr>
              <a:t>，却整篇换了题材。</a:t>
            </a:r>
            <a:r>
              <a:rPr sz="980" b="1">
                <a:solidFill>
                  <a:srgbClr val="25324A"/>
                </a:solidFill>
                <a:latin typeface="微软雅黑"/>
                <a:ea typeface="微软雅黑"/>
              </a:rPr>
              <a:t>「材料是我自己的」这一条，扇贝给不了。</a:t>
            </a:r>
            <a:endParaRPr/>
          </a:p>
        </p:txBody>
      </p:sp>
      <p:sp>
        <p:nvSpPr>
          <p:cNvPr id="40" name="Rounded Rectangle 23"/>
          <p:cNvSpPr/>
          <p:nvPr/>
        </p:nvSpPr>
        <p:spPr>
          <a:xfrm>
            <a:off x="647700" y="4381500"/>
            <a:ext cx="5334000" cy="1066800"/>
          </a:xfrm>
          <a:prstGeom prst="roundRect">
            <a:avLst>
              <a:gd name="adj" fmla="val 10714"/>
            </a:avLst>
          </a:prstGeom>
          <a:solidFill>
            <a:srgbClr val="F4FBF7"/>
          </a:solidFill>
          <a:ln w="15240">
            <a:solidFill>
              <a:srgbClr val="96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24"/>
          <p:cNvSpPr/>
          <p:nvPr/>
        </p:nvSpPr>
        <p:spPr>
          <a:xfrm>
            <a:off x="800100" y="450532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42" name="TextBox 25"/>
          <p:cNvSpPr txBox="1"/>
          <p:nvPr/>
        </p:nvSpPr>
        <p:spPr>
          <a:xfrm>
            <a:off x="1162050" y="4514850"/>
            <a:ext cx="46672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60" b="1">
                <a:solidFill>
                  <a:srgbClr val="0F172A"/>
                </a:solidFill>
                <a:latin typeface="微软雅黑"/>
                <a:ea typeface="微软雅黑"/>
              </a:rPr>
              <a:t>边界（约 5 秒）</a:t>
            </a:r>
            <a:endParaRPr/>
          </a:p>
        </p:txBody>
      </p:sp>
      <p:sp>
        <p:nvSpPr>
          <p:cNvPr id="43" name="Rounded Rectangle 26"/>
          <p:cNvSpPr/>
          <p:nvPr/>
        </p:nvSpPr>
        <p:spPr>
          <a:xfrm>
            <a:off x="800100" y="4800600"/>
            <a:ext cx="5029200" cy="304800"/>
          </a:xfrm>
          <a:prstGeom prst="roundRect">
            <a:avLst>
              <a:gd name="adj" fmla="val 21875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27"/>
          <p:cNvSpPr txBox="1"/>
          <p:nvPr/>
        </p:nvSpPr>
        <p:spPr>
          <a:xfrm>
            <a:off x="885825" y="4857750"/>
            <a:ext cx="4857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25324A"/>
                </a:solidFill>
                <a:latin typeface="Consolas"/>
                <a:ea typeface="微软雅黑"/>
              </a:rPr>
              <a:t>帮我把这篇文章翻译成中文，我要抄到作业里交</a:t>
            </a:r>
            <a:endParaRPr/>
          </a:p>
        </p:txBody>
      </p:sp>
      <p:sp>
        <p:nvSpPr>
          <p:cNvPr id="45" name="TextBox 28"/>
          <p:cNvSpPr txBox="1"/>
          <p:nvPr/>
        </p:nvSpPr>
        <p:spPr>
          <a:xfrm>
            <a:off x="800100" y="516255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25324A"/>
                </a:solidFill>
                <a:latin typeface="微软雅黑"/>
                <a:ea typeface="微软雅黑"/>
              </a:rPr>
              <a:t>它拒绝，一步没调工具。</a:t>
            </a:r>
            <a:r>
              <a:rPr sz="980" b="1">
                <a:solidFill>
                  <a:srgbClr val="25324A"/>
                </a:solidFill>
                <a:latin typeface="微软雅黑"/>
                <a:ea typeface="微软雅黑"/>
              </a:rPr>
              <a:t>最能说明边界是设计进去的。</a:t>
            </a:r>
            <a:endParaRPr/>
          </a:p>
        </p:txBody>
      </p:sp>
      <p:sp>
        <p:nvSpPr>
          <p:cNvPr id="46" name="Rounded Rectangle 29"/>
          <p:cNvSpPr/>
          <p:nvPr/>
        </p:nvSpPr>
        <p:spPr>
          <a:xfrm>
            <a:off x="6191250" y="4381500"/>
            <a:ext cx="53530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30"/>
          <p:cNvSpPr/>
          <p:nvPr/>
        </p:nvSpPr>
        <p:spPr>
          <a:xfrm>
            <a:off x="6343650" y="450532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48" name="TextBox 31"/>
          <p:cNvSpPr txBox="1"/>
          <p:nvPr/>
        </p:nvSpPr>
        <p:spPr>
          <a:xfrm>
            <a:off x="6705600" y="4514850"/>
            <a:ext cx="46863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60" b="1">
                <a:solidFill>
                  <a:srgbClr val="0F172A"/>
                </a:solidFill>
                <a:latin typeface="微软雅黑"/>
                <a:ea typeface="微软雅黑"/>
              </a:rPr>
              <a:t>备用：只调一个工具（约 18 秒）</a:t>
            </a:r>
            <a:endParaRPr/>
          </a:p>
        </p:txBody>
      </p:sp>
      <p:sp>
        <p:nvSpPr>
          <p:cNvPr id="49" name="Rounded Rectangle 32"/>
          <p:cNvSpPr/>
          <p:nvPr/>
        </p:nvSpPr>
        <p:spPr>
          <a:xfrm>
            <a:off x="6343650" y="4800600"/>
            <a:ext cx="5048250" cy="304800"/>
          </a:xfrm>
          <a:prstGeom prst="roundRect">
            <a:avLst>
              <a:gd name="adj" fmla="val 21875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33"/>
          <p:cNvSpPr txBox="1"/>
          <p:nvPr/>
        </p:nvSpPr>
        <p:spPr>
          <a:xfrm>
            <a:off x="6429375" y="4857750"/>
            <a:ext cx="48768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25324A"/>
                </a:solidFill>
                <a:latin typeface="Consolas"/>
                <a:ea typeface="微软雅黑"/>
              </a:rPr>
              <a:t>把这几个词做成 CSV：mitigate, incentive, cumulative, viable</a:t>
            </a:r>
            <a:endParaRPr/>
          </a:p>
        </p:txBody>
      </p:sp>
      <p:sp>
        <p:nvSpPr>
          <p:cNvPr id="51" name="TextBox 34"/>
          <p:cNvSpPr txBox="1"/>
          <p:nvPr/>
        </p:nvSpPr>
        <p:spPr>
          <a:xfrm>
            <a:off x="6343650" y="516255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25324A"/>
                </a:solidFill>
                <a:latin typeface="微软雅黑"/>
                <a:ea typeface="微软雅黑"/>
              </a:rPr>
              <a:t>时间富余才做；超时就跳过，主路径里已经出现过同一件事。</a:t>
            </a:r>
            <a:endParaRPr/>
          </a:p>
        </p:txBody>
      </p:sp>
      <p:sp>
        <p:nvSpPr>
          <p:cNvPr id="52" name="Rounded Rectangle 35"/>
          <p:cNvSpPr/>
          <p:nvPr/>
        </p:nvSpPr>
        <p:spPr>
          <a:xfrm>
            <a:off x="647700" y="5524500"/>
            <a:ext cx="5181600" cy="47625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53" name="TextBox 36"/>
          <p:cNvSpPr txBox="1"/>
          <p:nvPr/>
        </p:nvSpPr>
        <p:spPr>
          <a:xfrm>
            <a:off x="800100" y="5619750"/>
            <a:ext cx="5029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endParaRPr dirty="0"/>
          </a:p>
        </p:txBody>
      </p:sp>
      <p:sp>
        <p:nvSpPr>
          <p:cNvPr id="54" name="Rounded Rectangle 37"/>
          <p:cNvSpPr/>
          <p:nvPr/>
        </p:nvSpPr>
        <p:spPr>
          <a:xfrm>
            <a:off x="6191250" y="5493920"/>
            <a:ext cx="4853739" cy="45719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38"/>
          <p:cNvSpPr txBox="1"/>
          <p:nvPr/>
        </p:nvSpPr>
        <p:spPr>
          <a:xfrm>
            <a:off x="6343650" y="5619750"/>
            <a:ext cx="504825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endParaRPr dirty="0"/>
          </a:p>
        </p:txBody>
      </p:sp>
      <p:sp>
        <p:nvSpPr>
          <p:cNvPr id="56" name="TextBox 39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13 / 15</a:t>
            </a: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7700" y="6477000"/>
            <a:ext cx="6858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AA8BF"/>
                </a:solidFill>
                <a:latin typeface="微软雅黑"/>
                <a:ea typeface="微软雅黑"/>
              </a:rPr>
              <a:t>彩蛋（时间富余时）：切到日语看首页今日推送 —— 对应第 8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和已上线的产品比，它特别在哪</a:t>
            </a:r>
            <a:endParaRPr/>
          </a:p>
        </p:txBody>
      </p:sp>
      <p:sp>
        <p:nvSpPr>
          <p:cNvPr id="60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别人卖「读什么」，我卖「这篇怎么处理」</a:t>
            </a:r>
            <a:endParaRPr/>
          </a:p>
        </p:txBody>
      </p:sp>
      <p:sp>
        <p:nvSpPr>
          <p:cNvPr id="61" name="Rounded Rectangle 4"/>
          <p:cNvSpPr/>
          <p:nvPr/>
        </p:nvSpPr>
        <p:spPr>
          <a:xfrm>
            <a:off x="647700" y="171450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62" name="Table 5"/>
          <p:cNvGraphicFramePr/>
          <p:nvPr/>
        </p:nvGraphicFramePr>
        <p:xfrm>
          <a:off x="647700" y="2019300"/>
          <a:ext cx="10896600" cy="2994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1">
                          <a:solidFill>
                            <a:srgbClr val="5B6B84"/>
                          </a:solidFill>
                          <a:latin typeface="微软雅黑"/>
                          <a:ea typeface="微软雅黑"/>
                        </a:rPr>
                        <a:t>内容平台（扇贝阅读 / 流利阅读）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1">
                          <a:solidFill>
                            <a:srgbClr val="5B6B84"/>
                          </a:solidFill>
                          <a:latin typeface="微软雅黑"/>
                          <a:ea typeface="微软雅黑"/>
                        </a:rPr>
                        <a:t>AI 制卡工具（粘贴转卡）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1">
                          <a:solidFill>
                            <a:srgbClr val="5B6B84"/>
                          </a:solidFill>
                          <a:latin typeface="微软雅黑"/>
                          <a:ea typeface="微软雅黑"/>
                        </a:rPr>
                        <a:t>本项目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内容来源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平台当日外刊，只能读它的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自己粘贴文本或 URL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自己的材料</a:t>
                      </a: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：老师发的 PDF、订阅的 newsletter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2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产出什么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生词进它的生词本，练习在它的 App 里做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Anki 卡组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CSV + 单文件 HTML</a:t>
                      </a: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，可打印、可转发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2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过程可见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黑盒推荐 + 人工精讲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单步直转，看不到中间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12 次工具调用逐条滚出</a:t>
                      </a: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，每步可追问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2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事实保证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人写的，可信但贵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全靠模型，会编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词库硬校验</a:t>
                      </a: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，未收录强制标「模型推断」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2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想改流程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要提需求、等排期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改提示词，改了不知道影响哪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加一个 SKILL.md 目录</a:t>
                      </a: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，Python 一行不改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2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复习排期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内置间隔重复，跨设备同步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交给 Anki 的调度器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简化 SM-2（两档），</a:t>
                      </a:r>
                      <a:r>
                        <a:rPr sz="1050" b="1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单机</a:t>
                      </a:r>
                      <a:r>
                        <a:rPr sz="1050" b="0">
                          <a:solidFill>
                            <a:srgbClr val="25324A"/>
                          </a:solidFill>
                          <a:latin typeface="微软雅黑"/>
                          <a:ea typeface="微软雅黑"/>
                        </a:rPr>
                        <a:t>——这一项它们更强</a:t>
                      </a:r>
                      <a:endParaRPr/>
                    </a:p>
                  </a:txBody>
                  <a:tcPr marL="114300" marR="114300" marT="76200" marB="76200">
                    <a:solidFill>
                      <a:srgbClr val="F2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</a:tbl>
          </a:graphicData>
        </a:graphic>
      </p:graphicFrame>
      <p:sp>
        <p:nvSpPr>
          <p:cNvPr id="63" name="Rounded Rectangle 6"/>
          <p:cNvSpPr/>
          <p:nvPr/>
        </p:nvSpPr>
        <p:spPr>
          <a:xfrm>
            <a:off x="647700" y="5105400"/>
            <a:ext cx="5334000" cy="1047750"/>
          </a:xfrm>
          <a:prstGeom prst="roundRect">
            <a:avLst>
              <a:gd name="adj" fmla="val 10909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7"/>
          <p:cNvSpPr txBox="1"/>
          <p:nvPr/>
        </p:nvSpPr>
        <p:spPr>
          <a:xfrm>
            <a:off x="876300" y="5219700"/>
            <a:ext cx="49149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60" b="1">
                <a:solidFill>
                  <a:srgbClr val="0F172A"/>
                </a:solidFill>
                <a:latin typeface="微软雅黑"/>
                <a:ea typeface="微软雅黑"/>
              </a:rPr>
              <a:t>第三条路</a:t>
            </a:r>
            <a:endParaRPr/>
          </a:p>
        </p:txBody>
      </p:sp>
      <p:sp>
        <p:nvSpPr>
          <p:cNvPr id="65" name="TextBox 8"/>
          <p:cNvSpPr txBox="1"/>
          <p:nvPr/>
        </p:nvSpPr>
        <p:spPr>
          <a:xfrm>
            <a:off x="876300" y="5467350"/>
            <a:ext cx="49149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25324A"/>
                </a:solidFill>
                <a:latin typeface="微软雅黑"/>
                <a:ea typeface="微软雅黑"/>
              </a:rPr>
              <a:t>商业产品只有两条：</a:t>
            </a:r>
            <a:r>
              <a:rPr sz="1050" b="1">
                <a:solidFill>
                  <a:srgbClr val="25324A"/>
                </a:solidFill>
                <a:latin typeface="微软雅黑"/>
                <a:ea typeface="微软雅黑"/>
              </a:rPr>
              <a:t>全人工写</a:t>
            </a:r>
            <a:r>
              <a:rPr sz="1050" b="0">
                <a:solidFill>
                  <a:srgbClr val="25324A"/>
                </a:solidFill>
                <a:latin typeface="微软雅黑"/>
                <a:ea typeface="微软雅黑"/>
              </a:rPr>
              <a:t>（可信但贵）或 </a:t>
            </a:r>
            <a:r>
              <a:rPr sz="1050" b="1">
                <a:solidFill>
                  <a:srgbClr val="25324A"/>
                </a:solidFill>
                <a:latin typeface="微软雅黑"/>
                <a:ea typeface="微软雅黑"/>
              </a:rPr>
              <a:t>全 AI 生成</a:t>
            </a:r>
            <a:r>
              <a:rPr sz="1050" b="0">
                <a:solidFill>
                  <a:srgbClr val="25324A"/>
                </a:solidFill>
                <a:latin typeface="微软雅黑"/>
                <a:ea typeface="微软雅黑"/>
              </a:rPr>
              <a:t>（便宜但会编）。这里走第三条——</a:t>
            </a:r>
            <a:r>
              <a:rPr sz="1050" b="1">
                <a:solidFill>
                  <a:srgbClr val="25324A"/>
                </a:solidFill>
                <a:latin typeface="微软雅黑"/>
                <a:ea typeface="微软雅黑"/>
              </a:rPr>
              <a:t>模型负责决策与组织，事实由代码校验</a:t>
            </a:r>
            <a:r>
              <a:rPr sz="1050" b="0">
                <a:solidFill>
                  <a:srgbClr val="25324A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66" name="Rounded Rectangle 9"/>
          <p:cNvSpPr/>
          <p:nvPr/>
        </p:nvSpPr>
        <p:spPr>
          <a:xfrm>
            <a:off x="6191250" y="5105400"/>
            <a:ext cx="53530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10"/>
          <p:cNvSpPr txBox="1"/>
          <p:nvPr/>
        </p:nvSpPr>
        <p:spPr>
          <a:xfrm>
            <a:off x="6419850" y="5219700"/>
            <a:ext cx="49149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60" b="1">
                <a:solidFill>
                  <a:srgbClr val="0F172A"/>
                </a:solidFill>
                <a:latin typeface="微软雅黑"/>
                <a:ea typeface="微软雅黑"/>
              </a:rPr>
              <a:t>「那为什么不用现成的？」</a:t>
            </a:r>
            <a:endParaRPr/>
          </a:p>
        </p:txBody>
      </p:sp>
      <p:sp>
        <p:nvSpPr>
          <p:cNvPr id="68" name="TextBox 11"/>
          <p:cNvSpPr txBox="1"/>
          <p:nvPr/>
        </p:nvSpPr>
        <p:spPr>
          <a:xfrm>
            <a:off x="6419850" y="5467350"/>
            <a:ext cx="49149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25324A"/>
                </a:solidFill>
                <a:latin typeface="微软雅黑"/>
                <a:ea typeface="微软雅黑"/>
              </a:rPr>
              <a:t>因为它要我把材料喂进</a:t>
            </a:r>
            <a:r>
              <a:rPr sz="1050" b="1">
                <a:solidFill>
                  <a:srgbClr val="25324A"/>
                </a:solidFill>
                <a:latin typeface="微软雅黑"/>
                <a:ea typeface="微软雅黑"/>
              </a:rPr>
              <a:t>它的内容库</a:t>
            </a:r>
            <a:r>
              <a:rPr sz="1050" b="0">
                <a:solidFill>
                  <a:srgbClr val="25324A"/>
                </a:solidFill>
                <a:latin typeface="微软雅黑"/>
                <a:ea typeface="微软雅黑"/>
              </a:rPr>
              <a:t>，而我要的恰恰是处理</a:t>
            </a:r>
            <a:r>
              <a:rPr sz="1050" b="1">
                <a:solidFill>
                  <a:srgbClr val="25324A"/>
                </a:solidFill>
                <a:latin typeface="微软雅黑"/>
                <a:ea typeface="微软雅黑"/>
              </a:rPr>
              <a:t>我手上这一篇</a:t>
            </a:r>
            <a:r>
              <a:rPr sz="1050" b="0">
                <a:solidFill>
                  <a:srgbClr val="25324A"/>
                </a:solidFill>
                <a:latin typeface="微软雅黑"/>
                <a:ea typeface="微软雅黑"/>
              </a:rPr>
              <a:t>，并且打印出来做。这个场景它不接，也不让我改流程。</a:t>
            </a:r>
            <a:endParaRPr/>
          </a:p>
        </p:txBody>
      </p:sp>
      <p:sp>
        <p:nvSpPr>
          <p:cNvPr id="69" name="TextBox 12"/>
          <p:cNvSpPr txBox="1"/>
          <p:nvPr/>
        </p:nvSpPr>
        <p:spPr>
          <a:xfrm>
            <a:off x="647700" y="6248400"/>
            <a:ext cx="10896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980" b="0">
                <a:solidFill>
                  <a:srgbClr val="5B6B84"/>
                </a:solidFill>
                <a:latin typeface="微软雅黑"/>
                <a:ea typeface="微软雅黑"/>
              </a:rPr>
              <a:t>如实短板：没有 token 级流式、没有发音跟读、没有句子级拆解、单用户单机。</a:t>
            </a:r>
            <a:r>
              <a:rPr sz="980" b="1">
                <a:solidFill>
                  <a:srgbClr val="5B6B84"/>
                </a:solidFill>
                <a:latin typeface="微软雅黑"/>
                <a:ea typeface="微软雅黑"/>
              </a:rPr>
              <a:t>词库和复习排期是这一版才补的</a:t>
            </a:r>
            <a:r>
              <a:rPr sz="980" b="0">
                <a:solidFill>
                  <a:srgbClr val="5B6B84"/>
                </a:solidFill>
                <a:latin typeface="微软雅黑"/>
                <a:ea typeface="微软雅黑"/>
              </a:rPr>
              <a:t>——补它之前，「闭环」这句话我说不出口。</a:t>
            </a:r>
            <a:endParaRPr/>
          </a:p>
        </p:txBody>
      </p:sp>
      <p:sp>
        <p:nvSpPr>
          <p:cNvPr id="70" name="TextBox 13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14 / 15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186026" y="17145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73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不足 · 改进 · 预判提问</a:t>
            </a:r>
            <a:endParaRPr/>
          </a:p>
        </p:txBody>
      </p:sp>
      <p:sp>
        <p:nvSpPr>
          <p:cNvPr id="74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哪些没做好，以及被问到怎么答</a:t>
            </a:r>
            <a:endParaRPr/>
          </a:p>
        </p:txBody>
      </p:sp>
      <p:sp>
        <p:nvSpPr>
          <p:cNvPr id="75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5"/>
          <p:cNvSpPr txBox="1"/>
          <p:nvPr/>
        </p:nvSpPr>
        <p:spPr>
          <a:xfrm>
            <a:off x="647700" y="19621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B45309"/>
                </a:solidFill>
                <a:latin typeface="微软雅黑"/>
                <a:ea typeface="微软雅黑"/>
              </a:rPr>
              <a:t>已知不足</a:t>
            </a:r>
            <a:endParaRPr/>
          </a:p>
        </p:txBody>
      </p:sp>
      <p:sp>
        <p:nvSpPr>
          <p:cNvPr id="77" name="Rounded Rectangle 6"/>
          <p:cNvSpPr/>
          <p:nvPr/>
        </p:nvSpPr>
        <p:spPr>
          <a:xfrm>
            <a:off x="647700" y="2247900"/>
            <a:ext cx="52959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"/>
          <p:cNvSpPr txBox="1"/>
          <p:nvPr/>
        </p:nvSpPr>
        <p:spPr>
          <a:xfrm>
            <a:off x="838200" y="2362200"/>
            <a:ext cx="4914900" cy="148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19" b="0">
                <a:solidFill>
                  <a:srgbClr val="25324A"/>
                </a:solidFill>
                <a:latin typeface="微软雅黑"/>
                <a:ea typeface="微软雅黑"/>
              </a:rPr>
              <a:t>① 词库是考试词表（6161 条，高考/四级/六级），派生词如 retrieval、coherence 仍会未收录，只能标「模型推断」。</a:t>
            </a:r>
            <a:endParaRPr/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19" b="0">
                <a:solidFill>
                  <a:srgbClr val="25324A"/>
                </a:solidFill>
                <a:latin typeface="微软雅黑"/>
                <a:ea typeface="微软雅黑"/>
              </a:rPr>
              <a:t>② 会话只存文本，不存工具调用中间态，重开看不到上轮轨迹。</a:t>
            </a:r>
            <a:endParaRPr/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19" b="0">
                <a:solidFill>
                  <a:srgbClr val="25324A"/>
                </a:solidFill>
                <a:latin typeface="微软雅黑"/>
                <a:ea typeface="微软雅黑"/>
              </a:rPr>
              <a:t>③ 未做多用户隔离，</a:t>
            </a:r>
            <a:r>
              <a:rPr sz="960" b="0">
                <a:solidFill>
                  <a:srgbClr val="1E3A8A"/>
                </a:solidFill>
                <a:latin typeface="微软雅黑"/>
                <a:ea typeface="微软雅黑"/>
              </a:rPr>
              <a:t>outputs/</a:t>
            </a:r>
            <a:r>
              <a:rPr sz="1019" b="0">
                <a:solidFill>
                  <a:srgbClr val="25324A"/>
                </a:solidFill>
                <a:latin typeface="微软雅黑"/>
                <a:ea typeface="微软雅黑"/>
              </a:rPr>
              <a:t> 与档案是单例，适合演示不适合上线。</a:t>
            </a:r>
            <a:endParaRPr/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19" b="0">
                <a:solidFill>
                  <a:srgbClr val="25324A"/>
                </a:solidFill>
                <a:latin typeface="微软雅黑"/>
                <a:ea typeface="微软雅黑"/>
              </a:rPr>
              <a:t>④ 挖空只覆盖规则变形，</a:t>
            </a:r>
            <a:r>
              <a:rPr sz="960" b="0">
                <a:solidFill>
                  <a:srgbClr val="1E3A8A"/>
                </a:solidFill>
                <a:latin typeface="微软雅黑"/>
                <a:ea typeface="微软雅黑"/>
              </a:rPr>
              <a:t>analysis → analyses</a:t>
            </a:r>
            <a:r>
              <a:rPr sz="1019" b="0">
                <a:solidFill>
                  <a:srgbClr val="25324A"/>
                </a:solidFill>
                <a:latin typeface="微软雅黑"/>
                <a:ea typeface="微软雅黑"/>
              </a:rPr>
              <a:t> 这类不规则变化会漏。</a:t>
            </a:r>
            <a:endParaRPr/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19" b="0">
                <a:solidFill>
                  <a:srgbClr val="25324A"/>
                </a:solidFill>
                <a:latin typeface="微软雅黑"/>
                <a:ea typeface="微软雅黑"/>
              </a:rPr>
              <a:t>⑤ 流式只到工具级，未做 token 级打字机。</a:t>
            </a:r>
            <a:endParaRPr/>
          </a:p>
        </p:txBody>
      </p:sp>
      <p:sp>
        <p:nvSpPr>
          <p:cNvPr id="79" name="TextBox 8"/>
          <p:cNvSpPr txBox="1"/>
          <p:nvPr/>
        </p:nvSpPr>
        <p:spPr>
          <a:xfrm>
            <a:off x="6272309" y="4231486"/>
            <a:ext cx="38100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280" b="1" dirty="0" err="1">
                <a:solidFill>
                  <a:srgbClr val="15803D"/>
                </a:solidFill>
                <a:latin typeface="微软雅黑"/>
                <a:ea typeface="微软雅黑"/>
              </a:rPr>
              <a:t>下一步</a:t>
            </a:r>
            <a:endParaRPr dirty="0"/>
          </a:p>
        </p:txBody>
      </p:sp>
      <p:sp>
        <p:nvSpPr>
          <p:cNvPr id="80" name="Rounded Rectangle 9"/>
          <p:cNvSpPr/>
          <p:nvPr/>
        </p:nvSpPr>
        <p:spPr>
          <a:xfrm>
            <a:off x="6272309" y="4742476"/>
            <a:ext cx="5295900" cy="1333500"/>
          </a:xfrm>
          <a:prstGeom prst="roundRect">
            <a:avLst>
              <a:gd name="adj" fmla="val 8571"/>
            </a:avLst>
          </a:prstGeom>
          <a:solidFill>
            <a:srgbClr val="F4FBF7"/>
          </a:solidFill>
          <a:ln w="15240">
            <a:solidFill>
              <a:srgbClr val="96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81" name="TextBox 10"/>
          <p:cNvSpPr txBox="1"/>
          <p:nvPr/>
        </p:nvSpPr>
        <p:spPr>
          <a:xfrm>
            <a:off x="6553200" y="4979146"/>
            <a:ext cx="4562539" cy="10292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019" b="0" dirty="0" err="1">
                <a:solidFill>
                  <a:srgbClr val="25324A"/>
                </a:solidFill>
                <a:latin typeface="微软雅黑"/>
                <a:ea typeface="微软雅黑"/>
              </a:rPr>
              <a:t>接真实词典</a:t>
            </a:r>
            <a:r>
              <a:rPr sz="1019" b="0" dirty="0">
                <a:solidFill>
                  <a:srgbClr val="25324A"/>
                </a:solidFill>
                <a:latin typeface="微软雅黑"/>
                <a:ea typeface="微软雅黑"/>
              </a:rPr>
              <a:t> API </a:t>
            </a:r>
            <a:r>
              <a:rPr sz="1019" b="0" dirty="0" err="1">
                <a:solidFill>
                  <a:srgbClr val="25324A"/>
                </a:solidFill>
                <a:latin typeface="微软雅黑"/>
                <a:ea typeface="微软雅黑"/>
              </a:rPr>
              <a:t>替换考试词表</a:t>
            </a:r>
            <a:r>
              <a:rPr sz="1019" b="0" dirty="0">
                <a:solidFill>
                  <a:srgbClr val="25324A"/>
                </a:solidFill>
                <a:latin typeface="微软雅黑"/>
                <a:ea typeface="微软雅黑"/>
              </a:rPr>
              <a:t> → </a:t>
            </a:r>
            <a:r>
              <a:rPr sz="1019" b="0" dirty="0" err="1">
                <a:solidFill>
                  <a:srgbClr val="25324A"/>
                </a:solidFill>
                <a:latin typeface="微软雅黑"/>
                <a:ea typeface="微软雅黑"/>
              </a:rPr>
              <a:t>复习排期从两档简化</a:t>
            </a:r>
            <a:r>
              <a:rPr sz="1019" b="0" dirty="0">
                <a:solidFill>
                  <a:srgbClr val="25324A"/>
                </a:solidFill>
                <a:latin typeface="微软雅黑"/>
                <a:ea typeface="微软雅黑"/>
              </a:rPr>
              <a:t> SM-2 </a:t>
            </a:r>
            <a:r>
              <a:rPr sz="1019" b="0" dirty="0" err="1">
                <a:solidFill>
                  <a:srgbClr val="25324A"/>
                </a:solidFill>
                <a:latin typeface="微软雅黑"/>
                <a:ea typeface="微软雅黑"/>
              </a:rPr>
              <a:t>升级到四档评分（Again</a:t>
            </a:r>
            <a:r>
              <a:rPr sz="1019" b="0" dirty="0">
                <a:solidFill>
                  <a:srgbClr val="25324A"/>
                </a:solidFill>
                <a:latin typeface="微软雅黑"/>
                <a:ea typeface="微软雅黑"/>
              </a:rPr>
              <a:t> / Hard / Good / Easy）→ 把 7 </a:t>
            </a:r>
            <a:r>
              <a:rPr sz="1019" b="0" dirty="0" err="1">
                <a:solidFill>
                  <a:srgbClr val="25324A"/>
                </a:solidFill>
                <a:latin typeface="微软雅黑"/>
                <a:ea typeface="微软雅黑"/>
              </a:rPr>
              <a:t>个工具包成</a:t>
            </a:r>
            <a:r>
              <a:rPr sz="1019" b="0" dirty="0">
                <a:solidFill>
                  <a:srgbClr val="25324A"/>
                </a:solidFill>
                <a:latin typeface="微软雅黑"/>
                <a:ea typeface="微软雅黑"/>
              </a:rPr>
              <a:t> MCP </a:t>
            </a:r>
            <a:r>
              <a:rPr sz="1019" b="0" dirty="0" err="1">
                <a:solidFill>
                  <a:srgbClr val="25324A"/>
                </a:solidFill>
                <a:latin typeface="微软雅黑"/>
                <a:ea typeface="微软雅黑"/>
              </a:rPr>
              <a:t>server（stdio，接口不用改</a:t>
            </a:r>
            <a:r>
              <a:rPr sz="1019" b="0" dirty="0">
                <a:solidFill>
                  <a:srgbClr val="25324A"/>
                </a:solidFill>
                <a:latin typeface="微软雅黑"/>
                <a:ea typeface="微软雅黑"/>
              </a:rPr>
              <a:t>）→ </a:t>
            </a:r>
            <a:r>
              <a:rPr sz="1019" b="0" dirty="0" err="1">
                <a:solidFill>
                  <a:srgbClr val="25324A"/>
                </a:solidFill>
                <a:latin typeface="微软雅黑"/>
                <a:ea typeface="微软雅黑"/>
              </a:rPr>
              <a:t>加子代理分工（选词</a:t>
            </a:r>
            <a:r>
              <a:rPr sz="1019" b="0" dirty="0">
                <a:solidFill>
                  <a:srgbClr val="25324A"/>
                </a:solidFill>
                <a:latin typeface="微软雅黑"/>
                <a:ea typeface="微软雅黑"/>
              </a:rPr>
              <a:t> / </a:t>
            </a:r>
            <a:r>
              <a:rPr sz="1019" b="0" dirty="0" err="1">
                <a:solidFill>
                  <a:srgbClr val="25324A"/>
                </a:solidFill>
                <a:latin typeface="微软雅黑"/>
                <a:ea typeface="微软雅黑"/>
              </a:rPr>
              <a:t>校验各一个</a:t>
            </a:r>
            <a:r>
              <a:rPr sz="1019" b="0" dirty="0">
                <a:solidFill>
                  <a:srgbClr val="25324A"/>
                </a:solidFill>
                <a:latin typeface="微软雅黑"/>
                <a:ea typeface="微软雅黑"/>
              </a:rPr>
              <a:t>）→ </a:t>
            </a:r>
            <a:r>
              <a:rPr sz="1019" b="0" dirty="0" err="1">
                <a:solidFill>
                  <a:srgbClr val="25324A"/>
                </a:solidFill>
                <a:latin typeface="微软雅黑"/>
                <a:ea typeface="微软雅黑"/>
              </a:rPr>
              <a:t>补句子级长难句拆解、导出</a:t>
            </a:r>
            <a:r>
              <a:rPr sz="1019" b="0" dirty="0">
                <a:solidFill>
                  <a:srgbClr val="25324A"/>
                </a:solidFill>
                <a:latin typeface="微软雅黑"/>
                <a:ea typeface="微软雅黑"/>
              </a:rPr>
              <a:t> Anki </a:t>
            </a:r>
            <a:r>
              <a:rPr sz="1019" b="0" dirty="0" err="1">
                <a:solidFill>
                  <a:srgbClr val="25324A"/>
                </a:solidFill>
                <a:latin typeface="微软雅黑"/>
                <a:ea typeface="微软雅黑"/>
              </a:rPr>
              <a:t>apkg</a:t>
            </a:r>
            <a:r>
              <a:rPr sz="1019" b="0" dirty="0">
                <a:solidFill>
                  <a:srgbClr val="25324A"/>
                </a:solidFill>
                <a:latin typeface="微软雅黑"/>
                <a:ea typeface="微软雅黑"/>
              </a:rPr>
              <a:t>。</a:t>
            </a:r>
            <a:endParaRPr dirty="0"/>
          </a:p>
        </p:txBody>
      </p:sp>
      <p:sp>
        <p:nvSpPr>
          <p:cNvPr id="82" name="TextBox 11"/>
          <p:cNvSpPr txBox="1"/>
          <p:nvPr/>
        </p:nvSpPr>
        <p:spPr>
          <a:xfrm>
            <a:off x="6191250" y="196215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endParaRPr dirty="0"/>
          </a:p>
        </p:txBody>
      </p:sp>
      <p:sp>
        <p:nvSpPr>
          <p:cNvPr id="84" name="TextBox 13"/>
          <p:cNvSpPr txBox="1"/>
          <p:nvPr/>
        </p:nvSpPr>
        <p:spPr>
          <a:xfrm>
            <a:off x="6362700" y="2437426"/>
            <a:ext cx="4991100" cy="800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Aft>
                <a:spcPts val="225"/>
              </a:spcAft>
            </a:pPr>
            <a:endParaRPr dirty="0"/>
          </a:p>
        </p:txBody>
      </p:sp>
      <p:sp>
        <p:nvSpPr>
          <p:cNvPr id="86" name="TextBox 15"/>
          <p:cNvSpPr txBox="1"/>
          <p:nvPr/>
        </p:nvSpPr>
        <p:spPr>
          <a:xfrm>
            <a:off x="6381750" y="3429000"/>
            <a:ext cx="4991100" cy="800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Aft>
                <a:spcPts val="225"/>
              </a:spcAft>
            </a:pPr>
            <a:endParaRPr dirty="0"/>
          </a:p>
        </p:txBody>
      </p:sp>
      <p:sp>
        <p:nvSpPr>
          <p:cNvPr id="88" name="TextBox 17"/>
          <p:cNvSpPr txBox="1"/>
          <p:nvPr/>
        </p:nvSpPr>
        <p:spPr>
          <a:xfrm>
            <a:off x="6473804" y="4979146"/>
            <a:ext cx="4991100" cy="800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90" name="TextBox 19"/>
          <p:cNvSpPr txBox="1"/>
          <p:nvPr/>
        </p:nvSpPr>
        <p:spPr>
          <a:xfrm>
            <a:off x="6889004" y="5424241"/>
            <a:ext cx="4991100" cy="800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Aft>
                <a:spcPts val="225"/>
              </a:spcAft>
            </a:pPr>
            <a:endParaRPr dirty="0"/>
          </a:p>
        </p:txBody>
      </p:sp>
      <p:sp>
        <p:nvSpPr>
          <p:cNvPr id="91" name="TextBox 20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15 / 15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关键能力 · 多语种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五门语言，一套流程，</a:t>
            </a:r>
            <a:r>
              <a:rPr sz="2850" b="1">
                <a:solidFill>
                  <a:srgbClr val="2563EB"/>
                </a:solidFill>
                <a:latin typeface="微软雅黑"/>
                <a:ea typeface="微软雅黑"/>
              </a:rPr>
              <a:t>不假装能查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700" y="2019300"/>
            <a:ext cx="20383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7225" y="211455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" y="2171700"/>
            <a:ext cx="323850" cy="323850"/>
          </a:xfrm>
          <a:prstGeom prst="roundRect">
            <a:avLst>
              <a:gd name="adj" fmla="val 2647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微软雅黑"/>
                <a:ea typeface="微软雅黑"/>
              </a:rPr>
              <a:t>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190750"/>
            <a:ext cx="13335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英语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2400300"/>
            <a:ext cx="133350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64795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考纲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264795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0F172A"/>
                </a:solidFill>
                <a:latin typeface="微软雅黑"/>
                <a:ea typeface="微软雅黑"/>
              </a:rPr>
              <a:t>CET-4/6 · 考研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89560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注音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289560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0F172A"/>
                </a:solidFill>
                <a:latin typeface="微软雅黑"/>
                <a:ea typeface="微软雅黑"/>
              </a:rPr>
              <a:t>IPA 音标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14325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词库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950" y="314325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1">
                <a:solidFill>
                  <a:srgbClr val="15803D"/>
                </a:solidFill>
                <a:latin typeface="微软雅黑"/>
                <a:ea typeface="微软雅黑"/>
              </a:rPr>
              <a:t>6161 条可核验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8450" y="2019300"/>
            <a:ext cx="20383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47975" y="211455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90850" y="2171700"/>
            <a:ext cx="323850" cy="323850"/>
          </a:xfrm>
          <a:prstGeom prst="roundRect">
            <a:avLst>
              <a:gd name="adj" fmla="val 26470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微软雅黑"/>
                <a:ea typeface="微软雅黑"/>
              </a:rPr>
              <a:t>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9950" y="2190750"/>
            <a:ext cx="13335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日语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9950" y="2400300"/>
            <a:ext cx="133350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日本語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850" y="264795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考纲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4700" y="264795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0F172A"/>
                </a:solidFill>
                <a:latin typeface="微软雅黑"/>
                <a:ea typeface="微软雅黑"/>
              </a:rPr>
              <a:t>JLPT N5–N1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850" y="289560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注音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4700" y="289560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0F172A"/>
                </a:solidFill>
                <a:latin typeface="微软雅黑"/>
                <a:ea typeface="微软雅黑"/>
              </a:rPr>
              <a:t>假名 + 罗马音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850" y="314325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词库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4700" y="314325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1">
                <a:solidFill>
                  <a:srgbClr val="B45309"/>
                </a:solidFill>
                <a:latin typeface="微软雅黑"/>
                <a:ea typeface="微软雅黑"/>
              </a:rPr>
              <a:t>无本地词库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2019300"/>
            <a:ext cx="20383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38725" y="211455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81600" y="2171700"/>
            <a:ext cx="323850" cy="323850"/>
          </a:xfrm>
          <a:prstGeom prst="roundRect">
            <a:avLst>
              <a:gd name="adj" fmla="val 2647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微软雅黑"/>
                <a:ea typeface="微软雅黑"/>
              </a:rPr>
              <a:t>FR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0700" y="2190750"/>
            <a:ext cx="13335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法语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2400300"/>
            <a:ext cx="133350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Français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1600" y="264795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考纲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5450" y="264795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0F172A"/>
                </a:solidFill>
                <a:latin typeface="微软雅黑"/>
                <a:ea typeface="微软雅黑"/>
              </a:rPr>
              <a:t>DELF · DALF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1600" y="289560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注音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5450" y="289560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0F172A"/>
                </a:solidFill>
                <a:latin typeface="微软雅黑"/>
                <a:ea typeface="微软雅黑"/>
              </a:rPr>
              <a:t>IPA 音标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1600" y="314325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词库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5450" y="314325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1">
                <a:solidFill>
                  <a:srgbClr val="B45309"/>
                </a:solidFill>
                <a:latin typeface="微软雅黑"/>
                <a:ea typeface="微软雅黑"/>
              </a:rPr>
              <a:t>无本地词库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19950" y="2019300"/>
            <a:ext cx="20383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229475" y="211455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72350" y="2171700"/>
            <a:ext cx="323850" cy="323850"/>
          </a:xfrm>
          <a:prstGeom prst="roundRect">
            <a:avLst>
              <a:gd name="adj" fmla="val 2647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微软雅黑"/>
                <a:ea typeface="微软雅黑"/>
              </a:rPr>
              <a:t>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1450" y="2190750"/>
            <a:ext cx="13335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德语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1450" y="2400300"/>
            <a:ext cx="133350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Deutsch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2350" y="264795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考纲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6200" y="264795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0F172A"/>
                </a:solidFill>
                <a:latin typeface="微软雅黑"/>
                <a:ea typeface="微软雅黑"/>
              </a:rPr>
              <a:t>Goethe A1–C2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2350" y="289560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注音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6200" y="289560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0F172A"/>
                </a:solidFill>
                <a:latin typeface="微软雅黑"/>
                <a:ea typeface="微软雅黑"/>
              </a:rPr>
              <a:t>IPA 音标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2350" y="314325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词库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6200" y="314325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1">
                <a:solidFill>
                  <a:srgbClr val="B45309"/>
                </a:solidFill>
                <a:latin typeface="微软雅黑"/>
                <a:ea typeface="微软雅黑"/>
              </a:rPr>
              <a:t>无本地词库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10700" y="2019300"/>
            <a:ext cx="20383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420225" y="211455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563100" y="2171700"/>
            <a:ext cx="323850" cy="323850"/>
          </a:xfrm>
          <a:prstGeom prst="roundRect">
            <a:avLst>
              <a:gd name="adj" fmla="val 2647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微软雅黑"/>
                <a:ea typeface="微软雅黑"/>
              </a:rPr>
              <a:t>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2200" y="2190750"/>
            <a:ext cx="13335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西语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82200" y="2400300"/>
            <a:ext cx="133350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Español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3100" y="264795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考纲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86950" y="264795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0F172A"/>
                </a:solidFill>
                <a:latin typeface="微软雅黑"/>
                <a:ea typeface="微软雅黑"/>
              </a:rPr>
              <a:t>DELE A1–C2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63100" y="289560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注音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86950" y="289560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0F172A"/>
                </a:solidFill>
                <a:latin typeface="微软雅黑"/>
                <a:ea typeface="微软雅黑"/>
              </a:rPr>
              <a:t>IPA 音标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63100" y="3143250"/>
            <a:ext cx="32385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词库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86950" y="3143250"/>
            <a:ext cx="14097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1">
                <a:solidFill>
                  <a:srgbClr val="B45309"/>
                </a:solidFill>
                <a:latin typeface="微软雅黑"/>
                <a:ea typeface="微软雅黑"/>
              </a:rPr>
              <a:t>无本地词库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7700" y="3600450"/>
            <a:ext cx="529590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7225" y="3695700"/>
            <a:ext cx="38100" cy="1219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6300" y="3752850"/>
            <a:ext cx="4838700" cy="2476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考纲跟着语种走，不是一套模板套五种语言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6300" y="4076700"/>
            <a:ext cx="4838700" cy="8191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左侧切到日语，「目标等级」立刻从 </a:t>
            </a:r>
            <a:r>
              <a:rPr sz="950" b="0">
                <a:solidFill>
                  <a:srgbClr val="1E3A8A"/>
                </a:solidFill>
                <a:latin typeface="微软雅黑"/>
                <a:ea typeface="微软雅黑"/>
              </a:rPr>
              <a:t>CET-4/6/考研</a:t>
            </a: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 换成 </a:t>
            </a:r>
            <a:r>
              <a:rPr sz="950" b="0">
                <a:solidFill>
                  <a:srgbClr val="1E3A8A"/>
                </a:solidFill>
                <a:latin typeface="微软雅黑"/>
                <a:ea typeface="微软雅黑"/>
              </a:rPr>
              <a:t>JLPT N5–N1</a:t>
            </a: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；法语是 </a:t>
            </a:r>
            <a:r>
              <a:rPr sz="950" b="0">
                <a:solidFill>
                  <a:srgbClr val="1E3A8A"/>
                </a:solidFill>
                <a:latin typeface="微软雅黑"/>
                <a:ea typeface="微软雅黑"/>
              </a:rPr>
              <a:t>DELF/DALF</a:t>
            </a: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，德语 </a:t>
            </a:r>
            <a:r>
              <a:rPr sz="950" b="0">
                <a:solidFill>
                  <a:srgbClr val="1E3A8A"/>
                </a:solidFill>
                <a:latin typeface="微软雅黑"/>
                <a:ea typeface="微软雅黑"/>
              </a:rPr>
              <a:t>Goethe</a:t>
            </a: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，西语 </a:t>
            </a:r>
            <a:r>
              <a:rPr sz="950" b="0">
                <a:solidFill>
                  <a:srgbClr val="1E3A8A"/>
                </a:solidFill>
                <a:latin typeface="微软雅黑"/>
                <a:ea typeface="微软雅黑"/>
              </a:rPr>
              <a:t>DELE</a:t>
            </a: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。
级别体系、注音写法、词形规矩都按各语种的考试规矩来——德语名词要带 der/die/das。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34100" y="3600450"/>
            <a:ext cx="541020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143625" y="3695700"/>
            <a:ext cx="38100" cy="1219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62700" y="3752850"/>
            <a:ext cx="4953000" cy="2476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查不到就明说查不到，不给假考纲等级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62700" y="4076700"/>
            <a:ext cx="4953000" cy="8191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非英语没有本地词库，查词工具直接回 </a:t>
            </a: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NOT_SUPPORTED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（</a:t>
            </a:r>
            <a:r>
              <a:rPr sz="1090" b="1">
                <a:solidFill>
                  <a:srgbClr val="25324A"/>
                </a:solidFill>
                <a:latin typeface="微软雅黑"/>
                <a:ea typeface="微软雅黑"/>
              </a:rPr>
              <a:t>不是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 </a:t>
            </a: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NOT_FOUND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），模型就不会以为「查过但没有」而反复重试。
这类词表里每条都标「模型推断」，Word 顶部写明「本语种暂无本地词库」。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7700" y="5143500"/>
            <a:ext cx="10896600" cy="990600"/>
          </a:xfrm>
          <a:prstGeom prst="roundRect">
            <a:avLst>
              <a:gd name="adj" fmla="val 9615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66750" y="5238750"/>
            <a:ext cx="28575" cy="800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38200" y="5257800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40" b="1">
                <a:solidFill>
                  <a:srgbClr val="2563EB"/>
                </a:solidFill>
                <a:latin typeface="微软雅黑"/>
                <a:ea typeface="微软雅黑"/>
              </a:rPr>
              <a:t>讲稿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8200" y="5581650"/>
            <a:ext cx="10515600" cy="4953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333D4B"/>
                </a:solidFill>
                <a:latin typeface="微软雅黑"/>
                <a:ea typeface="微软雅黑"/>
              </a:rPr>
              <a:t>这一页是我做完主路径之后最想说的一个升级：原来只能学英语，现在左侧选日语、法语、德语、西班牙语，等级列表会跟着换——切到日语就是 JLPT N5 到 N1，不是继续写六级。</a:t>
            </a:r>
          </a:p>
          <a:p>
            <a:pPr algn="l">
              <a:lnSpc>
                <a:spcPct val="145000"/>
              </a:lnSpc>
            </a:pPr>
            <a:r>
              <a:rPr sz="980" b="0">
                <a:solidFill>
                  <a:srgbClr val="333D4B"/>
                </a:solidFill>
                <a:latin typeface="微软雅黑"/>
                <a:ea typeface="微软雅黑"/>
              </a:rPr>
              <a:t>但边界我要讲清楚：非英语我没有做本地词库，所以查词工具会直接说「这个语种不支持」，词表里每条都标「模型推断」。我不给它编一个假的考纲等级，宁可让它说不行。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08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关键能力 · 每日推送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每天一篇，</a:t>
            </a:r>
            <a:r>
              <a:rPr sz="2850" b="1">
                <a:solidFill>
                  <a:srgbClr val="2563EB"/>
                </a:solidFill>
                <a:latin typeface="微软雅黑"/>
                <a:ea typeface="微软雅黑"/>
              </a:rPr>
              <a:t>自己送到门口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700" y="2019300"/>
            <a:ext cx="6667500" cy="30099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7225" y="2114550"/>
            <a:ext cx="38100" cy="2819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2171700"/>
            <a:ext cx="6210300" cy="2476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F172A"/>
                </a:solidFill>
                <a:latin typeface="微软雅黑"/>
                <a:ea typeface="微软雅黑"/>
              </a:rPr>
              <a:t>一天一篇，三级回落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457450"/>
            <a:ext cx="62103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5B6B84"/>
                </a:solidFill>
                <a:latin typeface="微软雅黑"/>
                <a:ea typeface="微软雅黑"/>
              </a:rPr>
              <a:t>不是定时任务在后台跑，是用户打开就有内容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6300" y="2781300"/>
            <a:ext cx="6210300" cy="628650"/>
          </a:xfrm>
          <a:prstGeom prst="roundRect">
            <a:avLst>
              <a:gd name="adj" fmla="val 15151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8700" y="29622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289560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当天缓存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750" y="3143250"/>
            <a:ext cx="54292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同一语种当天只抓一次，重复打开不重复抓网。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6300" y="3524250"/>
            <a:ext cx="6210300" cy="628650"/>
          </a:xfrm>
          <a:prstGeom prst="roundRect">
            <a:avLst>
              <a:gd name="adj" fmla="val 15151"/>
            </a:avLst>
          </a:prstGeom>
          <a:solidFill>
            <a:srgbClr val="E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8700" y="370522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750" y="36385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联网抓取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750" y="3886200"/>
            <a:ext cx="54292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去新华网各语种版取当天正文（英/日/法/德/西 各有站点）。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6300" y="4267200"/>
            <a:ext cx="6210300" cy="628650"/>
          </a:xfrm>
          <a:prstGeom prst="roundRect">
            <a:avLst>
              <a:gd name="adj" fmla="val 15151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700" y="44481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438150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离线快照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8750" y="4629150"/>
            <a:ext cx="54292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抓不到就用 </a:t>
            </a:r>
            <a:r>
              <a:rPr sz="950" b="0">
                <a:solidFill>
                  <a:srgbClr val="1E3A8A"/>
                </a:solidFill>
                <a:latin typeface="微软雅黑"/>
                <a:ea typeface="微软雅黑"/>
              </a:rPr>
              <a:t>data/articles/</a:t>
            </a: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 里的存档，断网也能用。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5700" y="2019300"/>
            <a:ext cx="40386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15225" y="2114550"/>
            <a:ext cx="38100" cy="17907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34300" y="2171700"/>
            <a:ext cx="3581400" cy="2476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今天（10-27）真的推了五篇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4300" y="251460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80" b="1">
                <a:solidFill>
                  <a:srgbClr val="0F172A"/>
                </a:solidFill>
                <a:latin typeface="微软雅黑"/>
                <a:ea typeface="微软雅黑"/>
              </a:rPr>
              <a:t>🇬🇧 英语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9650" y="251460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5B6B84"/>
                </a:solidFill>
                <a:latin typeface="微软雅黑"/>
                <a:ea typeface="微软雅黑"/>
              </a:rPr>
              <a:t>Economic Watch · China's…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2750" y="2514600"/>
            <a:ext cx="74295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15803D"/>
                </a:solidFill>
                <a:latin typeface="微软雅黑"/>
                <a:ea typeface="微软雅黑"/>
              </a:rPr>
              <a:t>3626 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4300" y="280035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80" b="1">
                <a:solidFill>
                  <a:srgbClr val="0F172A"/>
                </a:solidFill>
                <a:latin typeface="微软雅黑"/>
                <a:ea typeface="微软雅黑"/>
              </a:rPr>
              <a:t>🇯🇵 日语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9650" y="280035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5B6B84"/>
                </a:solidFill>
                <a:latin typeface="微软雅黑"/>
                <a:ea typeface="微软雅黑"/>
              </a:rPr>
              <a:t>中国スマホ・アフリカの…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2750" y="2800350"/>
            <a:ext cx="74295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15803D"/>
                </a:solidFill>
                <a:latin typeface="微软雅黑"/>
                <a:ea typeface="微软雅黑"/>
              </a:rPr>
              <a:t>1606 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4300" y="308610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80" b="1">
                <a:solidFill>
                  <a:srgbClr val="0F172A"/>
                </a:solidFill>
                <a:latin typeface="微软雅黑"/>
                <a:ea typeface="微软雅黑"/>
              </a:rPr>
              <a:t>🇫🇷 法语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9650" y="308610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5B6B84"/>
                </a:solidFill>
                <a:latin typeface="微软雅黑"/>
                <a:ea typeface="微软雅黑"/>
              </a:rPr>
              <a:t>Chine : paysages d'automne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72750" y="3086100"/>
            <a:ext cx="74295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15803D"/>
                </a:solidFill>
                <a:latin typeface="微软雅黑"/>
                <a:ea typeface="微软雅黑"/>
              </a:rPr>
              <a:t>1299 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4300" y="337185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80" b="1">
                <a:solidFill>
                  <a:srgbClr val="0F172A"/>
                </a:solidFill>
                <a:latin typeface="微软雅黑"/>
                <a:ea typeface="微软雅黑"/>
              </a:rPr>
              <a:t>🇩🇪 德语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9650" y="337185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5B6B84"/>
                </a:solidFill>
                <a:latin typeface="微软雅黑"/>
                <a:ea typeface="微软雅黑"/>
              </a:rPr>
              <a:t>Vorbereitungen für 9. CIIE…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72750" y="3371850"/>
            <a:ext cx="74295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15803D"/>
                </a:solidFill>
                <a:latin typeface="微软雅黑"/>
                <a:ea typeface="微软雅黑"/>
              </a:rPr>
              <a:t>2078 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4300" y="365760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80" b="1">
                <a:solidFill>
                  <a:srgbClr val="0F172A"/>
                </a:solidFill>
                <a:latin typeface="微软雅黑"/>
                <a:ea typeface="微软雅黑"/>
              </a:rPr>
              <a:t>🇪🇸 西语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29650" y="365760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5B6B84"/>
                </a:solidFill>
                <a:latin typeface="微软雅黑"/>
                <a:ea typeface="微软雅黑"/>
              </a:rPr>
              <a:t>Principal provincia…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72750" y="3657600"/>
            <a:ext cx="74295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15803D"/>
                </a:solidFill>
                <a:latin typeface="微软雅黑"/>
                <a:ea typeface="微软雅黑"/>
              </a:rPr>
              <a:t>2262 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5700" y="4152900"/>
            <a:ext cx="40386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15225" y="4248150"/>
            <a:ext cx="38100" cy="685800"/>
          </a:xfrm>
          <a:prstGeom prst="roundRect">
            <a:avLst>
              <a:gd name="adj" fmla="val 50000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34300" y="4305300"/>
            <a:ext cx="3581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连续打卡按日期集合算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34300" y="4572000"/>
            <a:ext cx="35814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010" b="0">
                <a:solidFill>
                  <a:srgbClr val="25324A"/>
                </a:solidFill>
                <a:latin typeface="微软雅黑"/>
                <a:ea typeface="微软雅黑"/>
              </a:rPr>
              <a:t>漏一天就断，不是计数器；首页直接显示连续天数。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7700" y="5143500"/>
            <a:ext cx="10896600" cy="990600"/>
          </a:xfrm>
          <a:prstGeom prst="roundRect">
            <a:avLst>
              <a:gd name="adj" fmla="val 9615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66750" y="5238750"/>
            <a:ext cx="28575" cy="800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8200" y="5257800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40" b="1">
                <a:solidFill>
                  <a:srgbClr val="2563EB"/>
                </a:solidFill>
                <a:latin typeface="微软雅黑"/>
                <a:ea typeface="微软雅黑"/>
              </a:rPr>
              <a:t>讲稿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5581650"/>
            <a:ext cx="10515600" cy="4953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333D4B"/>
                </a:solidFill>
                <a:latin typeface="微软雅黑"/>
                <a:ea typeface="微软雅黑"/>
              </a:rPr>
              <a:t>第二个亮点是每天推送。左边这三级回落是实际跑出来的：先看当天缓存，没有就联网去新华网各语种版抓，抓不到就用离线快照兜底，所以断网也有内容。</a:t>
            </a:r>
          </a:p>
          <a:p>
            <a:pPr algn="l">
              <a:lnSpc>
                <a:spcPct val="145000"/>
              </a:lnSpc>
            </a:pPr>
            <a:r>
              <a:rPr sz="980" b="0">
                <a:solidFill>
                  <a:srgbClr val="333D4B"/>
                </a:solidFill>
                <a:latin typeface="微软雅黑"/>
                <a:ea typeface="微软雅黑"/>
              </a:rPr>
              <a:t>右边是今天的真实结果，五个语种各抓到一篇，右下角是连续打卡天数——按日期集合算的，漏一天就断。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09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7625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</a:rPr>
              <a:t>关键能力 · 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42950"/>
            <a:ext cx="1089660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</a:rPr>
              <a:t>词表只是起点，</a:t>
            </a:r>
            <a:r>
              <a:rPr sz="2850" b="1">
                <a:solidFill>
                  <a:srgbClr val="2563EB"/>
                </a:solidFill>
                <a:latin typeface="微软雅黑"/>
                <a:ea typeface="微软雅黑"/>
              </a:rPr>
              <a:t>闭环才留得住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7700" y="1809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700" y="2019300"/>
            <a:ext cx="16954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7225" y="2114550"/>
            <a:ext cx="38100" cy="685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21526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5B6B84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362200"/>
            <a:ext cx="13906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0F172A"/>
                </a:solidFill>
                <a:latin typeface="微软雅黑"/>
                <a:ea typeface="微软雅黑"/>
              </a:rPr>
              <a:t>挑词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609850"/>
            <a:ext cx="139065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从原文挑生词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2343150"/>
            <a:ext cx="180975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1120" b="0">
                <a:solidFill>
                  <a:srgbClr val="B4C0D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6025" y="2019300"/>
            <a:ext cx="16954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95550" y="2114550"/>
            <a:ext cx="38100" cy="685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8425" y="21526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5B6B84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8425" y="2362200"/>
            <a:ext cx="13906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0F172A"/>
                </a:solidFill>
                <a:latin typeface="微软雅黑"/>
                <a:ea typeface="微软雅黑"/>
              </a:rPr>
              <a:t>CSV 词表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8425" y="2609850"/>
            <a:ext cx="139065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导进背单词软件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2425" y="2343150"/>
            <a:ext cx="180975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1120" b="0">
                <a:solidFill>
                  <a:srgbClr val="B4C0D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4350" y="2019300"/>
            <a:ext cx="16954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33875" y="2114550"/>
            <a:ext cx="38100" cy="685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6750" y="21526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5B6B84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6750" y="2362200"/>
            <a:ext cx="13906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0F172A"/>
                </a:solidFill>
                <a:latin typeface="微软雅黑"/>
                <a:ea typeface="微软雅黑"/>
              </a:rPr>
              <a:t>Word 笔记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6750" y="2609850"/>
            <a:ext cx="139065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排好版直接打印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0750" y="2343150"/>
            <a:ext cx="180975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1120" b="0">
                <a:solidFill>
                  <a:srgbClr val="B4C0D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2675" y="2019300"/>
            <a:ext cx="16954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2114550"/>
            <a:ext cx="38100" cy="685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5075" y="21526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5B6B84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075" y="2362200"/>
            <a:ext cx="13906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0F172A"/>
                </a:solidFill>
                <a:latin typeface="微软雅黑"/>
                <a:ea typeface="微软雅黑"/>
              </a:rPr>
              <a:t>练习页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075" y="2609850"/>
            <a:ext cx="139065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原文自动挖空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9075" y="2343150"/>
            <a:ext cx="180975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1120" b="0">
                <a:solidFill>
                  <a:srgbClr val="B4C0D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2019300"/>
            <a:ext cx="16954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10525" y="2114550"/>
            <a:ext cx="38100" cy="685800"/>
          </a:xfrm>
          <a:prstGeom prst="roundRect">
            <a:avLst>
              <a:gd name="adj" fmla="val 50000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3400" y="21526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5B6B84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3400" y="2362200"/>
            <a:ext cx="13906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0F172A"/>
                </a:solidFill>
                <a:latin typeface="微软雅黑"/>
                <a:ea typeface="微软雅黑"/>
              </a:rPr>
              <a:t>错词本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3400" y="2609850"/>
            <a:ext cx="139065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做错的自动记下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7400" y="2343150"/>
            <a:ext cx="180975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1120" b="0">
                <a:solidFill>
                  <a:srgbClr val="B4C0D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9325" y="2019300"/>
            <a:ext cx="16954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48850" y="2114550"/>
            <a:ext cx="38100" cy="685800"/>
          </a:xfrm>
          <a:prstGeom prst="roundRect">
            <a:avLst>
              <a:gd name="adj" fmla="val 50000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1725" y="21526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5B6B84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1725" y="2362200"/>
            <a:ext cx="13906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20" b="1">
                <a:solidFill>
                  <a:srgbClr val="0F172A"/>
                </a:solidFill>
                <a:latin typeface="微软雅黑"/>
                <a:ea typeface="微软雅黑"/>
              </a:rPr>
              <a:t>间隔复习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1725" y="2609850"/>
            <a:ext cx="139065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B6B84"/>
                </a:solidFill>
                <a:latin typeface="微软雅黑"/>
                <a:ea typeface="微软雅黑"/>
              </a:rPr>
              <a:t>到期才出现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7700" y="3105150"/>
            <a:ext cx="52959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7225" y="320040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6300" y="3257550"/>
            <a:ext cx="4838700" cy="2476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今天真的产出了这些文件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6300" y="361950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1D4ED8"/>
                </a:solidFill>
                <a:latin typeface="Consolas"/>
                <a:ea typeface="微软雅黑"/>
              </a:rPr>
              <a:t>n3_daily_vocab_20261027.docx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1900" y="3619500"/>
            <a:ext cx="19431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5B6B84"/>
                </a:solidFill>
                <a:latin typeface="微软雅黑"/>
                <a:ea typeface="微软雅黑"/>
              </a:rPr>
              <a:t>日语 N3 词表笔记（Word）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300" y="394335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1D4ED8"/>
                </a:solidFill>
                <a:latin typeface="Consolas"/>
                <a:ea typeface="微软雅黑"/>
              </a:rPr>
              <a:t>wordlist.csv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71900" y="3943350"/>
            <a:ext cx="19431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5B6B84"/>
                </a:solidFill>
                <a:latin typeface="微软雅黑"/>
                <a:ea typeface="微软雅黑"/>
              </a:rPr>
              <a:t>五列词表，逗号分隔，可导 Excel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6300" y="426720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1D4ED8"/>
                </a:solidFill>
                <a:latin typeface="Consolas"/>
                <a:ea typeface="微软雅黑"/>
              </a:rPr>
              <a:t>campus_carbon_worksheet.html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71900" y="4267200"/>
            <a:ext cx="19431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5B6B84"/>
                </a:solidFill>
                <a:latin typeface="微软雅黑"/>
                <a:ea typeface="微软雅黑"/>
              </a:rPr>
              <a:t>原文挖空的练习页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6300" y="459105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1D4ED8"/>
                </a:solidFill>
                <a:latin typeface="Consolas"/>
                <a:ea typeface="微软雅黑"/>
              </a:rPr>
              <a:t>learner_profile.json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71900" y="4591050"/>
            <a:ext cx="1943100" cy="2095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40" b="0">
                <a:solidFill>
                  <a:srgbClr val="5B6B84"/>
                </a:solidFill>
                <a:latin typeface="微软雅黑"/>
                <a:ea typeface="微软雅黑"/>
              </a:rPr>
              <a:t>错词本与复习日期，落成文件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34100" y="3105150"/>
            <a:ext cx="5410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143625" y="320040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62700" y="3257550"/>
            <a:ext cx="4953000" cy="2476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80" b="1">
                <a:solidFill>
                  <a:srgbClr val="0F172A"/>
                </a:solidFill>
                <a:latin typeface="微软雅黑"/>
                <a:ea typeface="微软雅黑"/>
              </a:rPr>
              <a:t>复习日期由代码算，不由模型算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2700" y="3600450"/>
            <a:ext cx="4953000" cy="12763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</a:pP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错词写进 </a:t>
            </a: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data/learner_profile.json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，每次记录都带 </a:t>
            </a: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first_seen / last_seen / ease / interval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；</a:t>
            </a:r>
            <a:r>
              <a:rPr sz="1019" b="0">
                <a:solidFill>
                  <a:srgbClr val="1E3A8A"/>
                </a:solidFill>
                <a:latin typeface="微软雅黑"/>
                <a:ea typeface="微软雅黑"/>
              </a:rPr>
              <a:t>due_words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 只取</a:t>
            </a:r>
            <a:r>
              <a:rPr sz="1090" b="1">
                <a:solidFill>
                  <a:srgbClr val="25324A"/>
                </a:solidFill>
                <a:latin typeface="微软雅黑"/>
                <a:ea typeface="微软雅黑"/>
              </a:rPr>
              <a:t>今天到期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的词，明天到期的今天不出现。
模型只负责「哪个词错了」，</a:t>
            </a:r>
            <a:r>
              <a:rPr sz="1090" b="1">
                <a:solidFill>
                  <a:srgbClr val="25324A"/>
                </a:solidFill>
                <a:latin typeface="微软雅黑"/>
                <a:ea typeface="微软雅黑"/>
              </a:rPr>
              <a:t>什么时候复习</a:t>
            </a:r>
            <a:r>
              <a:rPr sz="1090" b="0">
                <a:solidFill>
                  <a:srgbClr val="25324A"/>
                </a:solidFill>
                <a:latin typeface="微软雅黑"/>
                <a:ea typeface="微软雅黑"/>
              </a:rPr>
              <a:t>是代码说了算。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7700" y="5143500"/>
            <a:ext cx="10896600" cy="990600"/>
          </a:xfrm>
          <a:prstGeom prst="roundRect">
            <a:avLst>
              <a:gd name="adj" fmla="val 9615"/>
            </a:avLst>
          </a:prstGeom>
          <a:solidFill>
            <a:srgbClr val="E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66750" y="5238750"/>
            <a:ext cx="28575" cy="800100"/>
          </a:xfrm>
          <a:prstGeom prst="roundRect">
            <a:avLst>
              <a:gd name="adj" fmla="val 50000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38200" y="5257800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40" b="1">
                <a:solidFill>
                  <a:srgbClr val="0F9D8F"/>
                </a:solidFill>
                <a:latin typeface="微软雅黑"/>
                <a:ea typeface="微软雅黑"/>
              </a:rPr>
              <a:t>讲稿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200" y="5581650"/>
            <a:ext cx="10515600" cy="4953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333D4B"/>
                </a:solidFill>
                <a:latin typeface="微软雅黑"/>
                <a:ea typeface="微软雅黑"/>
              </a:rPr>
              <a:t>最后是闭环。词表不是终点：挑完词，CSV 给你导进背单词软件，Word 笔记是排好版能直接打印的，练习页把原文挖空，做错的词自动进错词本，复习日期由代码按间隔算。</a:t>
            </a:r>
          </a:p>
          <a:p>
            <a:pPr algn="l">
              <a:lnSpc>
                <a:spcPct val="145000"/>
              </a:lnSpc>
            </a:pPr>
            <a:r>
              <a:rPr sz="980" b="0">
                <a:solidFill>
                  <a:srgbClr val="333D4B"/>
                </a:solidFill>
                <a:latin typeface="微软雅黑"/>
                <a:ea typeface="微软雅黑"/>
              </a:rPr>
              <a:t>左边这些是我今天真的生成的文件。所以第 2 页说的第四步——挖空练习——现在是自动的，而且做完还能回头复习。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96500" y="6496050"/>
            <a:ext cx="14478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80" b="0">
                <a:solidFill>
                  <a:srgbClr val="9AA8BF"/>
                </a:solidFill>
                <a:latin typeface="微软雅黑"/>
                <a:ea typeface="微软雅黑"/>
              </a:rPr>
              <a:t>10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2049</Words>
  <Application>Microsoft Office PowerPoint</Application>
  <PresentationFormat>宽屏</PresentationFormat>
  <Paragraphs>317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xy070504@qq.com</cp:lastModifiedBy>
  <cp:revision>2</cp:revision>
  <dcterms:created xsi:type="dcterms:W3CDTF">2026-10-27T12:48:56Z</dcterms:created>
  <dcterms:modified xsi:type="dcterms:W3CDTF">2026-10-27T11:03:34Z</dcterms:modified>
</cp:coreProperties>
</file>